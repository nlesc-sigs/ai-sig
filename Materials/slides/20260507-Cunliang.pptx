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1127" r:id="rId5"/>
    <p:sldId id="1163" r:id="rId6"/>
    <p:sldId id="1160" r:id="rId7"/>
    <p:sldId id="380" r:id="rId8"/>
    <p:sldId id="1153" r:id="rId9"/>
    <p:sldId id="1175" r:id="rId10"/>
    <p:sldId id="1159" r:id="rId11"/>
    <p:sldId id="1165" r:id="rId12"/>
    <p:sldId id="1166" r:id="rId13"/>
    <p:sldId id="1155" r:id="rId14"/>
    <p:sldId id="1169" r:id="rId15"/>
    <p:sldId id="1177" r:id="rId16"/>
    <p:sldId id="1178" r:id="rId17"/>
    <p:sldId id="1156" r:id="rId18"/>
    <p:sldId id="1170" r:id="rId19"/>
    <p:sldId id="1171" r:id="rId20"/>
    <p:sldId id="1172" r:id="rId21"/>
    <p:sldId id="1157" r:id="rId22"/>
    <p:sldId id="1173" r:id="rId23"/>
    <p:sldId id="1176" r:id="rId24"/>
    <p:sldId id="114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A1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23"/>
    <p:restoredTop sz="97823"/>
  </p:normalViewPr>
  <p:slideViewPr>
    <p:cSldViewPr snapToGrid="0">
      <p:cViewPr varScale="1">
        <p:scale>
          <a:sx n="148" d="100"/>
          <a:sy n="148" d="100"/>
        </p:scale>
        <p:origin x="224" y="17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49" d="100"/>
        <a:sy n="14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488C6-8722-40A1-94CE-AFEAE69E409A}" type="datetimeFigureOut">
              <a:t>07/05/2026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6EF93-D77A-4CD2-9275-8E413F687880}" type="slidenum">
              <a:t>‹#›</a:t>
            </a:fld>
            <a:endParaRPr lang="en-US"/>
          </a:p>
        </p:txBody>
      </p:sp>
    </p:spTree>
    <p:extLst>
      <p:ext uri="{BB962C8B-B14F-4D97-AF65-F5344CB8AC3E}">
        <p14:creationId xmlns:p14="http://schemas.microsoft.com/office/powerpoint/2010/main" val="3279601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1EC6EF93-D77A-4CD2-9275-8E413F687880}" type="slidenum">
              <a:rPr lang="en-NL" smtClean="0"/>
              <a:t>1</a:t>
            </a:fld>
            <a:endParaRPr lang="en-NL"/>
          </a:p>
        </p:txBody>
      </p:sp>
    </p:spTree>
    <p:extLst>
      <p:ext uri="{BB962C8B-B14F-4D97-AF65-F5344CB8AC3E}">
        <p14:creationId xmlns:p14="http://schemas.microsoft.com/office/powerpoint/2010/main" val="2027262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B2F24-58F1-9AE4-4D60-4E0C9B263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8C828-030A-CC4D-A606-322BE3D32A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9F518-6A6C-294E-0BBE-465CDF43F037}"/>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MHC-peptide complexes are surface structures formed by </a:t>
            </a:r>
            <a:r>
              <a:rPr lang="en-GB" sz="1200" b="1" kern="1200" dirty="0">
                <a:solidFill>
                  <a:schemeClr val="tx1"/>
                </a:solidFill>
                <a:effectLst/>
                <a:latin typeface="+mn-lt"/>
                <a:ea typeface="+mn-ea"/>
                <a:cs typeface="+mn-cs"/>
              </a:rPr>
              <a:t>Major Histocompatibility Complex (MHC) molecules</a:t>
            </a:r>
            <a:r>
              <a:rPr lang="en-GB" sz="1200" kern="1200" dirty="0">
                <a:solidFill>
                  <a:schemeClr val="tx1"/>
                </a:solidFill>
                <a:effectLst/>
                <a:latin typeface="+mn-lt"/>
                <a:ea typeface="+mn-ea"/>
                <a:cs typeface="+mn-cs"/>
              </a:rPr>
              <a:t> binding short peptide fragments derived from self or foreign proteins. </a:t>
            </a:r>
            <a:endParaRPr lang="en-GB" dirty="0"/>
          </a:p>
          <a:p>
            <a:r>
              <a:rPr lang="en-GB" sz="1200" kern="1200" dirty="0">
                <a:solidFill>
                  <a:schemeClr val="tx1"/>
                </a:solidFill>
                <a:effectLst/>
                <a:latin typeface="+mn-lt"/>
                <a:ea typeface="+mn-ea"/>
                <a:cs typeface="+mn-cs"/>
              </a:rPr>
              <a:t>These complexes are displayed on cell surfaces to be recognized by T-cell receptors (TCRs), serving as the primary mechanism for immune surveillance to identify and initiate responses against pathogens, </a:t>
            </a:r>
            <a:r>
              <a:rPr lang="en-GB" sz="1200" kern="1200" dirty="0" err="1">
                <a:solidFill>
                  <a:schemeClr val="tx1"/>
                </a:solidFill>
                <a:effectLst/>
                <a:latin typeface="+mn-lt"/>
                <a:ea typeface="+mn-ea"/>
                <a:cs typeface="+mn-cs"/>
              </a:rPr>
              <a:t>tumor</a:t>
            </a:r>
            <a:r>
              <a:rPr lang="en-GB" sz="1200" kern="1200" dirty="0">
                <a:solidFill>
                  <a:schemeClr val="tx1"/>
                </a:solidFill>
                <a:effectLst/>
                <a:latin typeface="+mn-lt"/>
                <a:ea typeface="+mn-ea"/>
                <a:cs typeface="+mn-cs"/>
              </a:rPr>
              <a:t> cells, and foreign tissue.</a:t>
            </a:r>
            <a:endParaRPr lang="en-GB" dirty="0"/>
          </a:p>
        </p:txBody>
      </p:sp>
      <p:sp>
        <p:nvSpPr>
          <p:cNvPr id="4" name="Slide Number Placeholder 3">
            <a:extLst>
              <a:ext uri="{FF2B5EF4-FFF2-40B4-BE49-F238E27FC236}">
                <a16:creationId xmlns:a16="http://schemas.microsoft.com/office/drawing/2014/main" id="{D842E364-61BF-6A63-7579-E26ACBB311D9}"/>
              </a:ext>
            </a:extLst>
          </p:cNvPr>
          <p:cNvSpPr>
            <a:spLocks noGrp="1"/>
          </p:cNvSpPr>
          <p:nvPr>
            <p:ph type="sldNum" sz="quarter" idx="5"/>
          </p:nvPr>
        </p:nvSpPr>
        <p:spPr/>
        <p:txBody>
          <a:bodyPr/>
          <a:lstStyle/>
          <a:p>
            <a:fld id="{1EC6EF93-D77A-4CD2-9275-8E413F687880}" type="slidenum">
              <a:rPr lang="en-NL" smtClean="0"/>
              <a:t>3</a:t>
            </a:fld>
            <a:endParaRPr lang="en-NL"/>
          </a:p>
        </p:txBody>
      </p:sp>
    </p:spTree>
    <p:extLst>
      <p:ext uri="{BB962C8B-B14F-4D97-AF65-F5344CB8AC3E}">
        <p14:creationId xmlns:p14="http://schemas.microsoft.com/office/powerpoint/2010/main" val="222693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a:t>
            </a:r>
            <a:r>
              <a:rPr lang="en-NL"/>
              <a:t>ere we focus on the MHC-peptide interaction, this step determines whether a peptide is presented to TCR or not.</a:t>
            </a:r>
          </a:p>
        </p:txBody>
      </p:sp>
      <p:sp>
        <p:nvSpPr>
          <p:cNvPr id="4" name="Slide Number Placeholder 3"/>
          <p:cNvSpPr>
            <a:spLocks noGrp="1"/>
          </p:cNvSpPr>
          <p:nvPr>
            <p:ph type="sldNum" sz="quarter" idx="5"/>
          </p:nvPr>
        </p:nvSpPr>
        <p:spPr/>
        <p:txBody>
          <a:bodyPr/>
          <a:lstStyle/>
          <a:p>
            <a:fld id="{1EC6EF93-D77A-4CD2-9275-8E413F687880}" type="slidenum">
              <a:rPr lang="en-NL" smtClean="0"/>
              <a:t>4</a:t>
            </a:fld>
            <a:endParaRPr lang="en-NL"/>
          </a:p>
        </p:txBody>
      </p:sp>
    </p:spTree>
    <p:extLst>
      <p:ext uri="{BB962C8B-B14F-4D97-AF65-F5344CB8AC3E}">
        <p14:creationId xmlns:p14="http://schemas.microsoft.com/office/powerpoint/2010/main" val="2075906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B28D-41E9-BAAE-D063-919F5CA7E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70F52-B81C-D67A-A7B9-596EE7001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64762-6E11-8E01-803F-FF89CEA1A4A6}"/>
              </a:ext>
            </a:extLst>
          </p:cNvPr>
          <p:cNvSpPr>
            <a:spLocks noGrp="1"/>
          </p:cNvSpPr>
          <p:nvPr>
            <p:ph type="body" idx="1"/>
          </p:nvPr>
        </p:nvSpPr>
        <p:spPr/>
        <p:txBody>
          <a:bodyPr/>
          <a:lstStyle/>
          <a:p>
            <a:r>
              <a:rPr lang="en-NL" dirty="0"/>
              <a:t>SwiftMHC predicts the peptide structure and its affinity binding to the MHC.</a:t>
            </a:r>
          </a:p>
          <a:p>
            <a:r>
              <a:rPr lang="en-NL" dirty="0"/>
              <a:t>It use a transformer-based deep learning architecture.</a:t>
            </a:r>
          </a:p>
          <a:p>
            <a:endParaRPr lang="en-NL" dirty="0"/>
          </a:p>
          <a:p>
            <a:endParaRPr lang="en-NL" dirty="0"/>
          </a:p>
          <a:p>
            <a:r>
              <a:rPr lang="en-NL" dirty="0"/>
              <a:t>Codebase: </a:t>
            </a:r>
            <a:r>
              <a:rPr lang="en-GB" dirty="0"/>
              <a:t>https://</a:t>
            </a:r>
            <a:r>
              <a:rPr lang="en-GB" dirty="0" err="1"/>
              <a:t>github.com</a:t>
            </a:r>
            <a:r>
              <a:rPr lang="en-GB" dirty="0"/>
              <a:t>/X-lab-3D/</a:t>
            </a:r>
            <a:r>
              <a:rPr lang="en-GB" dirty="0" err="1"/>
              <a:t>swiftmhc</a:t>
            </a:r>
            <a:r>
              <a:rPr lang="en-GB" dirty="0"/>
              <a:t>-inference</a:t>
            </a:r>
          </a:p>
          <a:p>
            <a:r>
              <a:rPr lang="en-GB" dirty="0"/>
              <a:t>Paper: https://</a:t>
            </a:r>
            <a:r>
              <a:rPr lang="en-GB" dirty="0" err="1"/>
              <a:t>www.cell.com</a:t>
            </a:r>
            <a:r>
              <a:rPr lang="en-GB" dirty="0"/>
              <a:t>/cell-reports-methods/</a:t>
            </a:r>
            <a:r>
              <a:rPr lang="en-GB" dirty="0" err="1"/>
              <a:t>fulltext</a:t>
            </a:r>
            <a:r>
              <a:rPr lang="en-GB" dirty="0"/>
              <a:t>/S2667-2375(26)00064-0</a:t>
            </a:r>
          </a:p>
          <a:p>
            <a:r>
              <a:rPr lang="en-GB" dirty="0" err="1"/>
              <a:t>Colab</a:t>
            </a:r>
            <a:r>
              <a:rPr lang="en-GB" dirty="0"/>
              <a:t>: https://</a:t>
            </a:r>
            <a:r>
              <a:rPr lang="en-GB" dirty="0" err="1"/>
              <a:t>colab.research.google.com</a:t>
            </a:r>
            <a:r>
              <a:rPr lang="en-GB" dirty="0"/>
              <a:t>/</a:t>
            </a:r>
            <a:r>
              <a:rPr lang="en-GB" dirty="0" err="1"/>
              <a:t>github</a:t>
            </a:r>
            <a:r>
              <a:rPr lang="en-GB" dirty="0"/>
              <a:t>/X-lab-3D/</a:t>
            </a:r>
            <a:r>
              <a:rPr lang="en-GB" dirty="0" err="1"/>
              <a:t>swiftmhc</a:t>
            </a:r>
            <a:r>
              <a:rPr lang="en-GB" dirty="0"/>
              <a:t>-inference/blob/main/</a:t>
            </a:r>
            <a:r>
              <a:rPr lang="en-GB" dirty="0" err="1"/>
              <a:t>colab</a:t>
            </a:r>
            <a:r>
              <a:rPr lang="en-GB" dirty="0"/>
              <a:t>/</a:t>
            </a:r>
            <a:r>
              <a:rPr lang="en-GB" dirty="0" err="1"/>
              <a:t>SwiftMHC_colab.ipynb</a:t>
            </a:r>
            <a:endParaRPr lang="en-GB" dirty="0"/>
          </a:p>
          <a:p>
            <a:endParaRPr lang="en-NL" dirty="0"/>
          </a:p>
        </p:txBody>
      </p:sp>
      <p:sp>
        <p:nvSpPr>
          <p:cNvPr id="4" name="Slide Number Placeholder 3">
            <a:extLst>
              <a:ext uri="{FF2B5EF4-FFF2-40B4-BE49-F238E27FC236}">
                <a16:creationId xmlns:a16="http://schemas.microsoft.com/office/drawing/2014/main" id="{9E63CBD5-91FE-547C-49B8-8CD59B90A9BD}"/>
              </a:ext>
            </a:extLst>
          </p:cNvPr>
          <p:cNvSpPr>
            <a:spLocks noGrp="1"/>
          </p:cNvSpPr>
          <p:nvPr>
            <p:ph type="sldNum" sz="quarter" idx="5"/>
          </p:nvPr>
        </p:nvSpPr>
        <p:spPr/>
        <p:txBody>
          <a:bodyPr/>
          <a:lstStyle/>
          <a:p>
            <a:fld id="{1EC6EF93-D77A-4CD2-9275-8E413F687880}" type="slidenum">
              <a:rPr lang="en-NL" smtClean="0"/>
              <a:t>5</a:t>
            </a:fld>
            <a:endParaRPr lang="en-NL"/>
          </a:p>
        </p:txBody>
      </p:sp>
    </p:spTree>
    <p:extLst>
      <p:ext uri="{BB962C8B-B14F-4D97-AF65-F5344CB8AC3E}">
        <p14:creationId xmlns:p14="http://schemas.microsoft.com/office/powerpoint/2010/main" val="3019913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BEF1-1F5A-D659-F1A9-DD92DE108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53372-1B2F-361B-635F-D0936E0A61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59807-CA27-62C8-0EEB-4485DBE405F8}"/>
              </a:ext>
            </a:extLst>
          </p:cNvPr>
          <p:cNvSpPr>
            <a:spLocks noGrp="1"/>
          </p:cNvSpPr>
          <p:nvPr>
            <p:ph type="body" idx="1"/>
          </p:nvPr>
        </p:nvSpPr>
        <p:spPr/>
        <p:txBody>
          <a:bodyPr/>
          <a:lstStyle/>
          <a:p>
            <a:r>
              <a:rPr lang="en-NL" dirty="0"/>
              <a:t>SwiftMHC predicts the peptide structure and its affinity binding to the MHC.</a:t>
            </a:r>
          </a:p>
          <a:p>
            <a:r>
              <a:rPr lang="en-NL" dirty="0"/>
              <a:t>It use a transformer-based deep learning architecture.</a:t>
            </a:r>
          </a:p>
          <a:p>
            <a:endParaRPr lang="en-NL" dirty="0"/>
          </a:p>
          <a:p>
            <a:endParaRPr lang="en-NL" dirty="0"/>
          </a:p>
          <a:p>
            <a:r>
              <a:rPr lang="en-NL" dirty="0"/>
              <a:t>Codebase: </a:t>
            </a:r>
            <a:r>
              <a:rPr lang="en-GB" dirty="0"/>
              <a:t>https://</a:t>
            </a:r>
            <a:r>
              <a:rPr lang="en-GB" dirty="0" err="1"/>
              <a:t>github.com</a:t>
            </a:r>
            <a:r>
              <a:rPr lang="en-GB" dirty="0"/>
              <a:t>/X-lab-3D/</a:t>
            </a:r>
            <a:r>
              <a:rPr lang="en-GB" dirty="0" err="1"/>
              <a:t>swiftmhc</a:t>
            </a:r>
            <a:r>
              <a:rPr lang="en-GB" dirty="0"/>
              <a:t>-inference</a:t>
            </a:r>
          </a:p>
          <a:p>
            <a:r>
              <a:rPr lang="en-GB" dirty="0"/>
              <a:t>Paper: https://</a:t>
            </a:r>
            <a:r>
              <a:rPr lang="en-GB" dirty="0" err="1"/>
              <a:t>www.cell.com</a:t>
            </a:r>
            <a:r>
              <a:rPr lang="en-GB" dirty="0"/>
              <a:t>/cell-reports-methods/</a:t>
            </a:r>
            <a:r>
              <a:rPr lang="en-GB" dirty="0" err="1"/>
              <a:t>fulltext</a:t>
            </a:r>
            <a:r>
              <a:rPr lang="en-GB" dirty="0"/>
              <a:t>/S2667-2375(26)00064-0</a:t>
            </a:r>
          </a:p>
          <a:p>
            <a:r>
              <a:rPr lang="en-GB" dirty="0" err="1"/>
              <a:t>Colab</a:t>
            </a:r>
            <a:r>
              <a:rPr lang="en-GB" dirty="0"/>
              <a:t>: https://</a:t>
            </a:r>
            <a:r>
              <a:rPr lang="en-GB" dirty="0" err="1"/>
              <a:t>colab.research.google.com</a:t>
            </a:r>
            <a:r>
              <a:rPr lang="en-GB" dirty="0"/>
              <a:t>/</a:t>
            </a:r>
            <a:r>
              <a:rPr lang="en-GB" dirty="0" err="1"/>
              <a:t>github</a:t>
            </a:r>
            <a:r>
              <a:rPr lang="en-GB" dirty="0"/>
              <a:t>/X-lab-3D/</a:t>
            </a:r>
            <a:r>
              <a:rPr lang="en-GB" dirty="0" err="1"/>
              <a:t>swiftmhc</a:t>
            </a:r>
            <a:r>
              <a:rPr lang="en-GB" dirty="0"/>
              <a:t>-inference/blob/main/</a:t>
            </a:r>
            <a:r>
              <a:rPr lang="en-GB" dirty="0" err="1"/>
              <a:t>colab</a:t>
            </a:r>
            <a:r>
              <a:rPr lang="en-GB" dirty="0"/>
              <a:t>/</a:t>
            </a:r>
            <a:r>
              <a:rPr lang="en-GB" dirty="0" err="1"/>
              <a:t>SwiftMHC_colab.ipynb</a:t>
            </a:r>
            <a:endParaRPr lang="en-GB" dirty="0"/>
          </a:p>
          <a:p>
            <a:endParaRPr lang="en-GB" dirty="0"/>
          </a:p>
          <a:p>
            <a:endParaRPr lang="en-NL" dirty="0"/>
          </a:p>
        </p:txBody>
      </p:sp>
      <p:sp>
        <p:nvSpPr>
          <p:cNvPr id="4" name="Slide Number Placeholder 3">
            <a:extLst>
              <a:ext uri="{FF2B5EF4-FFF2-40B4-BE49-F238E27FC236}">
                <a16:creationId xmlns:a16="http://schemas.microsoft.com/office/drawing/2014/main" id="{4F26415D-4524-3A9C-5D09-4512F82CAD9B}"/>
              </a:ext>
            </a:extLst>
          </p:cNvPr>
          <p:cNvSpPr>
            <a:spLocks noGrp="1"/>
          </p:cNvSpPr>
          <p:nvPr>
            <p:ph type="sldNum" sz="quarter" idx="5"/>
          </p:nvPr>
        </p:nvSpPr>
        <p:spPr/>
        <p:txBody>
          <a:bodyPr/>
          <a:lstStyle/>
          <a:p>
            <a:fld id="{1EC6EF93-D77A-4CD2-9275-8E413F687880}" type="slidenum">
              <a:rPr lang="en-NL" smtClean="0"/>
              <a:t>6</a:t>
            </a:fld>
            <a:endParaRPr lang="en-NL"/>
          </a:p>
        </p:txBody>
      </p:sp>
    </p:spTree>
    <p:extLst>
      <p:ext uri="{BB962C8B-B14F-4D97-AF65-F5344CB8AC3E}">
        <p14:creationId xmlns:p14="http://schemas.microsoft.com/office/powerpoint/2010/main" val="3630574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a:t>A ML project lifecycle has 3 major stages: data stage, training stage, and deployment stage. Here we focus on the training stage.</a:t>
            </a:r>
          </a:p>
          <a:p>
            <a:endParaRPr lang="en-NL"/>
          </a:p>
          <a:p>
            <a:r>
              <a:rPr lang="en-NL"/>
              <a:t>IF the size of the training data set is incrased from 8K samples to 2M samples, the training time used is about 2000 days on a single A100 GPU, roughly 5.5 years.</a:t>
            </a:r>
          </a:p>
          <a:p>
            <a:endParaRPr lang="en-NL"/>
          </a:p>
          <a:p>
            <a:r>
              <a:rPr lang="en-NL"/>
              <a:t>Training is slow, why?</a:t>
            </a:r>
          </a:p>
          <a:p>
            <a:r>
              <a:rPr lang="en-NL"/>
              <a:t>The first misconception: training is just running model on GPUs. </a:t>
            </a:r>
            <a:r>
              <a:rPr lang="en-GB"/>
              <a:t>T</a:t>
            </a:r>
            <a:r>
              <a:rPr lang="en-NL"/>
              <a:t>raining is slow, so model is slow. Is that correct?</a:t>
            </a:r>
          </a:p>
        </p:txBody>
      </p:sp>
      <p:sp>
        <p:nvSpPr>
          <p:cNvPr id="4" name="Slide Number Placeholder 3"/>
          <p:cNvSpPr>
            <a:spLocks noGrp="1"/>
          </p:cNvSpPr>
          <p:nvPr>
            <p:ph type="sldNum" sz="quarter" idx="5"/>
          </p:nvPr>
        </p:nvSpPr>
        <p:spPr/>
        <p:txBody>
          <a:bodyPr/>
          <a:lstStyle/>
          <a:p>
            <a:fld id="{1EC6EF93-D77A-4CD2-9275-8E413F687880}" type="slidenum">
              <a:rPr lang="en-NL" smtClean="0"/>
              <a:t>7</a:t>
            </a:fld>
            <a:endParaRPr lang="en-NL"/>
          </a:p>
        </p:txBody>
      </p:sp>
    </p:spTree>
    <p:extLst>
      <p:ext uri="{BB962C8B-B14F-4D97-AF65-F5344CB8AC3E}">
        <p14:creationId xmlns:p14="http://schemas.microsoft.com/office/powerpoint/2010/main" val="3724269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 understand why training is slow, first we need to understand what happens during a training process.</a:t>
            </a:r>
          </a:p>
          <a:p>
            <a:endParaRPr lang="en-GB"/>
          </a:p>
          <a:p>
            <a:r>
              <a:rPr lang="en-GB"/>
              <a:t>Training a model is not just ”run the model on GPU”, it’s a pipeline, having multiple stages or steps.</a:t>
            </a:r>
          </a:p>
          <a:p>
            <a:endParaRPr lang="en-GB"/>
          </a:p>
          <a:p>
            <a:r>
              <a:rPr lang="en-GB"/>
              <a:t>[describe the training process in detail]</a:t>
            </a:r>
          </a:p>
          <a:p>
            <a:r>
              <a:rPr lang="en-GB"/>
              <a:t>The starting point is the training dataset, first one batch of data is sampled from it, then the data batch is loaded from the disk to memory (the data might be stored as a text file or in a HDF5 file on your disk),</a:t>
            </a:r>
          </a:p>
          <a:p>
            <a:r>
              <a:rPr lang="en-GB"/>
              <a:t>After loading, the data might be </a:t>
            </a:r>
            <a:r>
              <a:rPr lang="en-GB" err="1"/>
              <a:t>preprocessed</a:t>
            </a:r>
            <a:r>
              <a:rPr lang="en-GB"/>
              <a:t>, e.g. calculating some features required for the training, or transforming data to target format, etc</a:t>
            </a:r>
          </a:p>
          <a:p>
            <a:r>
              <a:rPr lang="en-GB"/>
              <a:t>Then, the training-ready data will be transferred to GPU devices, the training of the model will happen on the GPU devices</a:t>
            </a:r>
          </a:p>
          <a:p>
            <a:endParaRPr lang="en-GB"/>
          </a:p>
          <a:p>
            <a:r>
              <a:rPr lang="en-GB"/>
              <a:t>The yellow blocks are the actual training of the model, one batch of data forward pass the model, then compute the loss, then do the backward pass to compute the gradients, in the end, the optimizer updates the model parameters.</a:t>
            </a:r>
          </a:p>
          <a:p>
            <a:endParaRPr lang="en-GB"/>
          </a:p>
          <a:p>
            <a:r>
              <a:rPr lang="en-GB"/>
              <a:t>After the model is updated with one batch of data, you may checkpoint the current model and/or record some experiment logs, such as metrics performance, GPU usage, speed performance, etc</a:t>
            </a:r>
          </a:p>
          <a:p>
            <a:endParaRPr lang="en-GB"/>
          </a:p>
          <a:p>
            <a:endParaRPr lang="en-GB"/>
          </a:p>
          <a:p>
            <a:r>
              <a:rPr lang="en-GB"/>
              <a:t>This is a whole training process, and next batch of data will go through the same process.</a:t>
            </a:r>
          </a:p>
          <a:p>
            <a:endParaRPr lang="en-GB"/>
          </a:p>
          <a:p>
            <a:r>
              <a:rPr lang="en-GB"/>
              <a:t>So it is clear to see that if training is slow, any stage in this pipeline could be responsible. </a:t>
            </a:r>
          </a:p>
          <a:p>
            <a:endParaRPr lang="en-GB"/>
          </a:p>
        </p:txBody>
      </p:sp>
      <p:sp>
        <p:nvSpPr>
          <p:cNvPr id="4" name="Slide Number Placeholder 3"/>
          <p:cNvSpPr>
            <a:spLocks noGrp="1"/>
          </p:cNvSpPr>
          <p:nvPr>
            <p:ph type="sldNum" sz="quarter" idx="5"/>
          </p:nvPr>
        </p:nvSpPr>
        <p:spPr/>
        <p:txBody>
          <a:bodyPr/>
          <a:lstStyle/>
          <a:p>
            <a:fld id="{1EC6EF93-D77A-4CD2-9275-8E413F687880}" type="slidenum">
              <a:rPr lang="en-NL" smtClean="0"/>
              <a:t>8</a:t>
            </a:fld>
            <a:endParaRPr lang="en-NL"/>
          </a:p>
        </p:txBody>
      </p:sp>
    </p:spTree>
    <p:extLst>
      <p:ext uri="{BB962C8B-B14F-4D97-AF65-F5344CB8AC3E}">
        <p14:creationId xmlns:p14="http://schemas.microsoft.com/office/powerpoint/2010/main" val="350119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It is a pipeline across multiple hardware components.</a:t>
            </a:r>
          </a:p>
          <a:p>
            <a:r>
              <a:rPr lang="en-GB"/>
              <a:t>A bottleneck can appear at any stage, and on any component.</a:t>
            </a:r>
          </a:p>
          <a:p>
            <a:endParaRPr lang="en-GB"/>
          </a:p>
          <a:p>
            <a:r>
              <a:rPr lang="en-GB"/>
              <a:t>Since the bottleneck can be in different stages and different hardware components, guessing is unreliable.</a:t>
            </a:r>
            <a:br>
              <a:rPr lang="en-GB"/>
            </a:br>
            <a:r>
              <a:rPr lang="en-GB"/>
              <a:t>That is why we profile.</a:t>
            </a:r>
            <a:endParaRPr lang="en-NL"/>
          </a:p>
          <a:p>
            <a:endParaRPr lang="en-NL"/>
          </a:p>
        </p:txBody>
      </p:sp>
      <p:sp>
        <p:nvSpPr>
          <p:cNvPr id="4" name="Slide Number Placeholder 3"/>
          <p:cNvSpPr>
            <a:spLocks noGrp="1"/>
          </p:cNvSpPr>
          <p:nvPr>
            <p:ph type="sldNum" sz="quarter" idx="5"/>
          </p:nvPr>
        </p:nvSpPr>
        <p:spPr/>
        <p:txBody>
          <a:bodyPr/>
          <a:lstStyle/>
          <a:p>
            <a:fld id="{1EC6EF93-D77A-4CD2-9275-8E413F687880}" type="slidenum">
              <a:rPr lang="en-NL" smtClean="0"/>
              <a:t>9</a:t>
            </a:fld>
            <a:endParaRPr lang="en-NL"/>
          </a:p>
        </p:txBody>
      </p:sp>
    </p:spTree>
    <p:extLst>
      <p:ext uri="{BB962C8B-B14F-4D97-AF65-F5344CB8AC3E}">
        <p14:creationId xmlns:p14="http://schemas.microsoft.com/office/powerpoint/2010/main" val="1650069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a:t>Save profiler results as a compressed json file.</a:t>
            </a:r>
          </a:p>
        </p:txBody>
      </p:sp>
      <p:sp>
        <p:nvSpPr>
          <p:cNvPr id="4" name="Slide Number Placeholder 3"/>
          <p:cNvSpPr>
            <a:spLocks noGrp="1"/>
          </p:cNvSpPr>
          <p:nvPr>
            <p:ph type="sldNum" sz="quarter" idx="5"/>
          </p:nvPr>
        </p:nvSpPr>
        <p:spPr/>
        <p:txBody>
          <a:bodyPr/>
          <a:lstStyle/>
          <a:p>
            <a:fld id="{1EC6EF93-D77A-4CD2-9275-8E413F687880}" type="slidenum">
              <a:rPr lang="en-NL" smtClean="0"/>
              <a:t>10</a:t>
            </a:fld>
            <a:endParaRPr lang="en-NL"/>
          </a:p>
        </p:txBody>
      </p:sp>
    </p:spTree>
    <p:extLst>
      <p:ext uri="{BB962C8B-B14F-4D97-AF65-F5344CB8AC3E}">
        <p14:creationId xmlns:p14="http://schemas.microsoft.com/office/powerpoint/2010/main" val="564607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Here is a example for a simple NN.</a:t>
            </a:r>
          </a:p>
          <a:p>
            <a:endParaRPr lang="en-NL" dirty="0"/>
          </a:p>
          <a:p>
            <a:r>
              <a:rPr lang="en-GB" dirty="0"/>
              <a:t>D</a:t>
            </a:r>
            <a:r>
              <a:rPr lang="en-NL" dirty="0"/>
              <a:t>emo:</a:t>
            </a:r>
          </a:p>
          <a:p>
            <a:endParaRPr lang="en-NL" dirty="0"/>
          </a:p>
          <a:p>
            <a:r>
              <a:rPr lang="en-GB" dirty="0"/>
              <a:t>matmul_recordall.1757929075794531861.pt.trace.json.gz</a:t>
            </a:r>
          </a:p>
          <a:p>
            <a:r>
              <a:rPr lang="en-GB" dirty="0"/>
              <a:t>nn_r3_w0.1758007151387493600.pt.trace.json.gz</a:t>
            </a:r>
          </a:p>
          <a:p>
            <a:endParaRPr lang="en-NL" dirty="0"/>
          </a:p>
        </p:txBody>
      </p:sp>
      <p:sp>
        <p:nvSpPr>
          <p:cNvPr id="4" name="Slide Number Placeholder 3"/>
          <p:cNvSpPr>
            <a:spLocks noGrp="1"/>
          </p:cNvSpPr>
          <p:nvPr>
            <p:ph type="sldNum" sz="quarter" idx="5"/>
          </p:nvPr>
        </p:nvSpPr>
        <p:spPr/>
        <p:txBody>
          <a:bodyPr/>
          <a:lstStyle/>
          <a:p>
            <a:fld id="{1EC6EF93-D77A-4CD2-9275-8E413F687880}" type="slidenum">
              <a:rPr lang="en-NL" smtClean="0"/>
              <a:t>11</a:t>
            </a:fld>
            <a:endParaRPr lang="en-NL"/>
          </a:p>
        </p:txBody>
      </p:sp>
    </p:spTree>
    <p:extLst>
      <p:ext uri="{BB962C8B-B14F-4D97-AF65-F5344CB8AC3E}">
        <p14:creationId xmlns:p14="http://schemas.microsoft.com/office/powerpoint/2010/main" val="1596846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B2A6D-193D-843B-C2EA-388F32F86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08F87-6620-1042-6BB2-0F73C4578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96FC4-BCB8-A09E-897E-80EC42415D78}"/>
              </a:ext>
            </a:extLst>
          </p:cNvPr>
          <p:cNvSpPr>
            <a:spLocks noGrp="1"/>
          </p:cNvSpPr>
          <p:nvPr>
            <p:ph type="body" idx="1"/>
          </p:nvPr>
        </p:nvSpPr>
        <p:spPr/>
        <p:txBody>
          <a:bodyPr/>
          <a:lstStyle/>
          <a:p>
            <a:r>
              <a:rPr lang="en-GB" dirty="0"/>
              <a:t>https://</a:t>
            </a:r>
            <a:r>
              <a:rPr lang="en-GB" dirty="0" err="1"/>
              <a:t>hta.readthedocs.io</a:t>
            </a:r>
            <a:r>
              <a:rPr lang="en-GB" dirty="0"/>
              <a:t>/</a:t>
            </a:r>
            <a:r>
              <a:rPr lang="en-GB" dirty="0" err="1"/>
              <a:t>en</a:t>
            </a:r>
            <a:r>
              <a:rPr lang="en-GB" dirty="0"/>
              <a:t>/latest/</a:t>
            </a:r>
          </a:p>
          <a:p>
            <a:endParaRPr lang="en-GB" dirty="0"/>
          </a:p>
          <a:p>
            <a:endParaRPr lang="en-NL" dirty="0"/>
          </a:p>
        </p:txBody>
      </p:sp>
      <p:sp>
        <p:nvSpPr>
          <p:cNvPr id="4" name="Slide Number Placeholder 3">
            <a:extLst>
              <a:ext uri="{FF2B5EF4-FFF2-40B4-BE49-F238E27FC236}">
                <a16:creationId xmlns:a16="http://schemas.microsoft.com/office/drawing/2014/main" id="{0252BE6A-C9A1-0C34-62B4-EBE8419EF2B1}"/>
              </a:ext>
            </a:extLst>
          </p:cNvPr>
          <p:cNvSpPr>
            <a:spLocks noGrp="1"/>
          </p:cNvSpPr>
          <p:nvPr>
            <p:ph type="sldNum" sz="quarter" idx="5"/>
          </p:nvPr>
        </p:nvSpPr>
        <p:spPr/>
        <p:txBody>
          <a:bodyPr/>
          <a:lstStyle/>
          <a:p>
            <a:fld id="{1EC6EF93-D77A-4CD2-9275-8E413F687880}" type="slidenum">
              <a:rPr lang="en-NL" smtClean="0"/>
              <a:t>12</a:t>
            </a:fld>
            <a:endParaRPr lang="en-NL"/>
          </a:p>
        </p:txBody>
      </p:sp>
    </p:spTree>
    <p:extLst>
      <p:ext uri="{BB962C8B-B14F-4D97-AF65-F5344CB8AC3E}">
        <p14:creationId xmlns:p14="http://schemas.microsoft.com/office/powerpoint/2010/main" val="3341642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FF8E5-7B84-7FDB-D073-5B163B8C2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121FF-1F7F-7D3A-3A5D-7AFAF725A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BE909-B420-D4E9-0A79-B832DD743EFA}"/>
              </a:ext>
            </a:extLst>
          </p:cNvPr>
          <p:cNvSpPr>
            <a:spLocks noGrp="1"/>
          </p:cNvSpPr>
          <p:nvPr>
            <p:ph type="body" idx="1"/>
          </p:nvPr>
        </p:nvSpPr>
        <p:spPr/>
        <p:txBody>
          <a:bodyPr/>
          <a:lstStyle/>
          <a:p>
            <a:r>
              <a:rPr lang="en-GB" dirty="0"/>
              <a:t>https://</a:t>
            </a:r>
            <a:r>
              <a:rPr lang="en-GB" dirty="0" err="1"/>
              <a:t>hta.readthedocs.io</a:t>
            </a:r>
            <a:r>
              <a:rPr lang="en-GB" dirty="0"/>
              <a:t>/</a:t>
            </a:r>
            <a:r>
              <a:rPr lang="en-GB" dirty="0" err="1"/>
              <a:t>en</a:t>
            </a:r>
            <a:r>
              <a:rPr lang="en-GB" dirty="0"/>
              <a:t>/latest/</a:t>
            </a:r>
          </a:p>
          <a:p>
            <a:endParaRPr lang="en-GB" dirty="0"/>
          </a:p>
          <a:p>
            <a:endParaRPr lang="en-NL" dirty="0"/>
          </a:p>
        </p:txBody>
      </p:sp>
      <p:sp>
        <p:nvSpPr>
          <p:cNvPr id="4" name="Slide Number Placeholder 3">
            <a:extLst>
              <a:ext uri="{FF2B5EF4-FFF2-40B4-BE49-F238E27FC236}">
                <a16:creationId xmlns:a16="http://schemas.microsoft.com/office/drawing/2014/main" id="{C800CBDE-8275-2CA7-595E-051A729CEB13}"/>
              </a:ext>
            </a:extLst>
          </p:cNvPr>
          <p:cNvSpPr>
            <a:spLocks noGrp="1"/>
          </p:cNvSpPr>
          <p:nvPr>
            <p:ph type="sldNum" sz="quarter" idx="5"/>
          </p:nvPr>
        </p:nvSpPr>
        <p:spPr/>
        <p:txBody>
          <a:bodyPr/>
          <a:lstStyle/>
          <a:p>
            <a:fld id="{1EC6EF93-D77A-4CD2-9275-8E413F687880}" type="slidenum">
              <a:rPr lang="en-NL" smtClean="0"/>
              <a:t>13</a:t>
            </a:fld>
            <a:endParaRPr lang="en-NL"/>
          </a:p>
        </p:txBody>
      </p:sp>
    </p:spTree>
    <p:extLst>
      <p:ext uri="{BB962C8B-B14F-4D97-AF65-F5344CB8AC3E}">
        <p14:creationId xmlns:p14="http://schemas.microsoft.com/office/powerpoint/2010/main" val="3924022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1EC6EF93-D77A-4CD2-9275-8E413F687880}" type="slidenum">
              <a:rPr lang="en-NL" smtClean="0"/>
              <a:t>17</a:t>
            </a:fld>
            <a:endParaRPr lang="en-NL"/>
          </a:p>
        </p:txBody>
      </p:sp>
    </p:spTree>
    <p:extLst>
      <p:ext uri="{BB962C8B-B14F-4D97-AF65-F5344CB8AC3E}">
        <p14:creationId xmlns:p14="http://schemas.microsoft.com/office/powerpoint/2010/main" val="3933627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EEC09-6B59-1E98-22E0-0B5D9C404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D0D6C-4C31-5628-5F5D-3C0DC74702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25A55-8726-4081-F019-125E39BF9C3E}"/>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59A0912C-0306-C3B4-51C4-40C6E5F8068D}"/>
              </a:ext>
            </a:extLst>
          </p:cNvPr>
          <p:cNvSpPr>
            <a:spLocks noGrp="1"/>
          </p:cNvSpPr>
          <p:nvPr>
            <p:ph type="sldNum" sz="quarter" idx="5"/>
          </p:nvPr>
        </p:nvSpPr>
        <p:spPr/>
        <p:txBody>
          <a:bodyPr/>
          <a:lstStyle/>
          <a:p>
            <a:fld id="{1EC6EF93-D77A-4CD2-9275-8E413F687880}" type="slidenum">
              <a:rPr lang="en-NL" smtClean="0"/>
              <a:t>19</a:t>
            </a:fld>
            <a:endParaRPr lang="en-NL"/>
          </a:p>
        </p:txBody>
      </p:sp>
    </p:spTree>
    <p:extLst>
      <p:ext uri="{BB962C8B-B14F-4D97-AF65-F5344CB8AC3E}">
        <p14:creationId xmlns:p14="http://schemas.microsoft.com/office/powerpoint/2010/main" val="977236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3206C-1EDB-B431-2989-6DA60F6E2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2CF53-1219-BB72-ABE9-B52403FC7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A75FA-978C-281A-18D4-92C8420A381F}"/>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BBA8CE0F-4917-A9C2-D854-98423EA99138}"/>
              </a:ext>
            </a:extLst>
          </p:cNvPr>
          <p:cNvSpPr>
            <a:spLocks noGrp="1"/>
          </p:cNvSpPr>
          <p:nvPr>
            <p:ph type="sldNum" sz="quarter" idx="5"/>
          </p:nvPr>
        </p:nvSpPr>
        <p:spPr/>
        <p:txBody>
          <a:bodyPr/>
          <a:lstStyle/>
          <a:p>
            <a:fld id="{1EC6EF93-D77A-4CD2-9275-8E413F687880}" type="slidenum">
              <a:rPr lang="en-NL" smtClean="0"/>
              <a:t>20</a:t>
            </a:fld>
            <a:endParaRPr lang="en-NL"/>
          </a:p>
        </p:txBody>
      </p:sp>
    </p:spTree>
    <p:extLst>
      <p:ext uri="{BB962C8B-B14F-4D97-AF65-F5344CB8AC3E}">
        <p14:creationId xmlns:p14="http://schemas.microsoft.com/office/powerpoint/2010/main" val="29472607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FD75-F66A-4849-8F04-1D4BCBEA84C0}"/>
              </a:ext>
            </a:extLst>
          </p:cNvPr>
          <p:cNvSpPr>
            <a:spLocks noGrp="1"/>
          </p:cNvSpPr>
          <p:nvPr>
            <p:ph type="ctrTitle"/>
          </p:nvPr>
        </p:nvSpPr>
        <p:spPr>
          <a:xfrm>
            <a:off x="1524000" y="2143760"/>
            <a:ext cx="9144000" cy="2387600"/>
          </a:xfrm>
        </p:spPr>
        <p:txBody>
          <a:bodyPr anchor="b"/>
          <a:lstStyle>
            <a:lvl1pPr algn="ctr">
              <a:defRPr sz="60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D9CFDA3F-E1B8-40BD-8CBB-3BE733B71074}"/>
              </a:ext>
            </a:extLst>
          </p:cNvPr>
          <p:cNvSpPr>
            <a:spLocks noGrp="1"/>
          </p:cNvSpPr>
          <p:nvPr>
            <p:ph type="subTitle" idx="1"/>
          </p:nvPr>
        </p:nvSpPr>
        <p:spPr>
          <a:xfrm>
            <a:off x="1524000" y="4714240"/>
            <a:ext cx="9144000" cy="5435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4A13D7-779E-4E56-AAA8-196B6D232E24}"/>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31FF56F3-B404-4155-829A-16CCD5902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B0715F-5DAA-42CE-ADD5-D4D62E9ECFD2}"/>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3087131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FD75-F66A-4849-8F04-1D4BCBEA84C0}"/>
              </a:ext>
            </a:extLst>
          </p:cNvPr>
          <p:cNvSpPr>
            <a:spLocks noGrp="1"/>
          </p:cNvSpPr>
          <p:nvPr>
            <p:ph type="ctrTitle"/>
          </p:nvPr>
        </p:nvSpPr>
        <p:spPr>
          <a:xfrm>
            <a:off x="1524000" y="2143760"/>
            <a:ext cx="9144000" cy="2387600"/>
          </a:xfrm>
        </p:spPr>
        <p:txBody>
          <a:bodyPr anchor="b"/>
          <a:lstStyle>
            <a:lvl1pPr algn="ctr">
              <a:defRPr sz="6000" b="1">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D9CFDA3F-E1B8-40BD-8CBB-3BE733B71074}"/>
              </a:ext>
            </a:extLst>
          </p:cNvPr>
          <p:cNvSpPr>
            <a:spLocks noGrp="1"/>
          </p:cNvSpPr>
          <p:nvPr>
            <p:ph type="subTitle" idx="1"/>
          </p:nvPr>
        </p:nvSpPr>
        <p:spPr>
          <a:xfrm>
            <a:off x="1524000" y="4714240"/>
            <a:ext cx="9144000" cy="5435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4A13D7-779E-4E56-AAA8-196B6D232E24}"/>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31FF56F3-B404-4155-829A-16CCD5902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B0715F-5DAA-42CE-ADD5-D4D62E9ECFD2}"/>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297036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7" name="Tekstvak 10">
            <a:extLst>
              <a:ext uri="{FF2B5EF4-FFF2-40B4-BE49-F238E27FC236}">
                <a16:creationId xmlns:a16="http://schemas.microsoft.com/office/drawing/2014/main" id="{2361BA08-5D63-425D-AF01-964BF01C0FC9}"/>
              </a:ext>
            </a:extLst>
          </p:cNvPr>
          <p:cNvSpPr txBox="1"/>
          <p:nvPr userDrawn="1"/>
        </p:nvSpPr>
        <p:spPr>
          <a:xfrm>
            <a:off x="7425549" y="2126754"/>
            <a:ext cx="3701797" cy="2800767"/>
          </a:xfrm>
          <a:prstGeom prst="rect">
            <a:avLst/>
          </a:prstGeom>
          <a:noFill/>
        </p:spPr>
        <p:txBody>
          <a:bodyPr wrap="square" rtlCol="0">
            <a:spAutoFit/>
          </a:bodyPr>
          <a:lstStyle/>
          <a:p>
            <a:r>
              <a:rPr lang="nl-NL" sz="1600" b="1" err="1">
                <a:latin typeface="Assistant" pitchFamily="2" charset="-79"/>
                <a:cs typeface="Assistant" pitchFamily="2" charset="-79"/>
              </a:rPr>
              <a:t>Principal</a:t>
            </a:r>
            <a:r>
              <a:rPr lang="nl-NL" sz="1600" b="1">
                <a:latin typeface="Assistant" pitchFamily="2" charset="-79"/>
                <a:cs typeface="Assistant" pitchFamily="2" charset="-79"/>
              </a:rPr>
              <a:t> investigator</a:t>
            </a:r>
          </a:p>
          <a:p>
            <a:r>
              <a:rPr lang="nl-NL" sz="1600">
                <a:latin typeface="Assistant" pitchFamily="2" charset="-79"/>
                <a:cs typeface="Assistant" pitchFamily="2" charset="-79"/>
              </a:rPr>
              <a:t>Name</a:t>
            </a:r>
          </a:p>
          <a:p>
            <a:r>
              <a:rPr lang="nl-NL" sz="1600" err="1">
                <a:latin typeface="Assistant" pitchFamily="2" charset="-79"/>
                <a:cs typeface="Assistant" pitchFamily="2" charset="-79"/>
              </a:rPr>
              <a:t>Affiliation</a:t>
            </a:r>
            <a:endParaRPr lang="nl-NL" sz="1600">
              <a:latin typeface="Assistant" pitchFamily="2" charset="-79"/>
              <a:cs typeface="Assistant" pitchFamily="2" charset="-79"/>
            </a:endParaRPr>
          </a:p>
          <a:p>
            <a:endParaRPr lang="nl-NL" sz="1600">
              <a:latin typeface="Assistant" pitchFamily="2" charset="-79"/>
              <a:cs typeface="Assistant" pitchFamily="2" charset="-79"/>
            </a:endParaRPr>
          </a:p>
          <a:p>
            <a:r>
              <a:rPr lang="nl-NL" sz="1600" b="1" err="1">
                <a:latin typeface="Assistant" pitchFamily="2" charset="-79"/>
                <a:cs typeface="Assistant" pitchFamily="2" charset="-79"/>
              </a:rPr>
              <a:t>eScience</a:t>
            </a:r>
            <a:r>
              <a:rPr lang="nl-NL" sz="1600" b="1">
                <a:latin typeface="Assistant" pitchFamily="2" charset="-79"/>
                <a:cs typeface="Assistant" pitchFamily="2" charset="-79"/>
              </a:rPr>
              <a:t> Research </a:t>
            </a:r>
            <a:r>
              <a:rPr lang="nl-NL" sz="1600" b="1" err="1">
                <a:latin typeface="Assistant" pitchFamily="2" charset="-79"/>
                <a:cs typeface="Assistant" pitchFamily="2" charset="-79"/>
              </a:rPr>
              <a:t>Coordinator</a:t>
            </a:r>
            <a:endParaRPr lang="nl-NL" sz="1600" b="1">
              <a:latin typeface="Assistant" pitchFamily="2" charset="-79"/>
              <a:cs typeface="Assistant" pitchFamily="2" charset="-79"/>
            </a:endParaRPr>
          </a:p>
          <a:p>
            <a:r>
              <a:rPr lang="nl-NL" sz="1600">
                <a:latin typeface="Assistant" pitchFamily="2" charset="-79"/>
                <a:cs typeface="Assistant" pitchFamily="2" charset="-79"/>
              </a:rPr>
              <a:t>Name</a:t>
            </a:r>
          </a:p>
          <a:p>
            <a:endParaRPr lang="nl-NL" sz="1600">
              <a:latin typeface="Assistant" pitchFamily="2" charset="-79"/>
              <a:cs typeface="Assistant" pitchFamily="2" charset="-79"/>
            </a:endParaRPr>
          </a:p>
          <a:p>
            <a:r>
              <a:rPr lang="nl-NL" sz="1600" b="1" err="1">
                <a:latin typeface="Assistant" pitchFamily="2" charset="-79"/>
                <a:cs typeface="Assistant" pitchFamily="2" charset="-79"/>
              </a:rPr>
              <a:t>eScience</a:t>
            </a:r>
            <a:endParaRPr lang="nl-NL" sz="1600" b="1">
              <a:latin typeface="Assistant" pitchFamily="2" charset="-79"/>
              <a:cs typeface="Assistant" pitchFamily="2" charset="-79"/>
            </a:endParaRPr>
          </a:p>
          <a:p>
            <a:r>
              <a:rPr lang="nl-NL" sz="1600">
                <a:latin typeface="Assistant" pitchFamily="2" charset="-79"/>
                <a:cs typeface="Assistant" pitchFamily="2" charset="-79"/>
              </a:rPr>
              <a:t>Name</a:t>
            </a:r>
          </a:p>
          <a:p>
            <a:r>
              <a:rPr lang="nl-NL" sz="1600">
                <a:latin typeface="Assistant" pitchFamily="2" charset="-79"/>
                <a:cs typeface="Assistant" pitchFamily="2" charset="-79"/>
              </a:rPr>
              <a:t>Name</a:t>
            </a:r>
          </a:p>
          <a:p>
            <a:r>
              <a:rPr lang="nl-NL" sz="1600">
                <a:latin typeface="Assistant" pitchFamily="2" charset="-79"/>
                <a:cs typeface="Assistant" pitchFamily="2" charset="-79"/>
              </a:rPr>
              <a:t>Name</a:t>
            </a:r>
          </a:p>
        </p:txBody>
      </p:sp>
    </p:spTree>
    <p:extLst>
      <p:ext uri="{BB962C8B-B14F-4D97-AF65-F5344CB8AC3E}">
        <p14:creationId xmlns:p14="http://schemas.microsoft.com/office/powerpoint/2010/main" val="390766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7" name="Tekstvak 10">
            <a:extLst>
              <a:ext uri="{FF2B5EF4-FFF2-40B4-BE49-F238E27FC236}">
                <a16:creationId xmlns:a16="http://schemas.microsoft.com/office/drawing/2014/main" id="{2361BA08-5D63-425D-AF01-964BF01C0FC9}"/>
              </a:ext>
            </a:extLst>
          </p:cNvPr>
          <p:cNvSpPr txBox="1"/>
          <p:nvPr userDrawn="1"/>
        </p:nvSpPr>
        <p:spPr>
          <a:xfrm>
            <a:off x="7425549" y="2126754"/>
            <a:ext cx="3701797" cy="2800767"/>
          </a:xfrm>
          <a:prstGeom prst="rect">
            <a:avLst/>
          </a:prstGeom>
          <a:noFill/>
        </p:spPr>
        <p:txBody>
          <a:bodyPr wrap="square" rtlCol="0">
            <a:spAutoFit/>
          </a:bodyPr>
          <a:lstStyle/>
          <a:p>
            <a:r>
              <a:rPr lang="nl-NL" sz="1600" b="1" err="1">
                <a:latin typeface="Assistant" pitchFamily="2" charset="-79"/>
                <a:cs typeface="Assistant" pitchFamily="2" charset="-79"/>
              </a:rPr>
              <a:t>Principal</a:t>
            </a:r>
            <a:r>
              <a:rPr lang="nl-NL" sz="1600" b="1">
                <a:latin typeface="Assistant" pitchFamily="2" charset="-79"/>
                <a:cs typeface="Assistant" pitchFamily="2" charset="-79"/>
              </a:rPr>
              <a:t> investigator</a:t>
            </a:r>
          </a:p>
          <a:p>
            <a:r>
              <a:rPr lang="nl-NL" sz="1600">
                <a:latin typeface="Assistant" pitchFamily="2" charset="-79"/>
                <a:cs typeface="Assistant" pitchFamily="2" charset="-79"/>
              </a:rPr>
              <a:t>Name</a:t>
            </a:r>
          </a:p>
          <a:p>
            <a:r>
              <a:rPr lang="nl-NL" sz="1600" err="1">
                <a:latin typeface="Assistant" pitchFamily="2" charset="-79"/>
                <a:cs typeface="Assistant" pitchFamily="2" charset="-79"/>
              </a:rPr>
              <a:t>Affiliation</a:t>
            </a:r>
            <a:endParaRPr lang="nl-NL" sz="1600">
              <a:latin typeface="Assistant" pitchFamily="2" charset="-79"/>
              <a:cs typeface="Assistant" pitchFamily="2" charset="-79"/>
            </a:endParaRPr>
          </a:p>
          <a:p>
            <a:endParaRPr lang="nl-NL" sz="1600">
              <a:latin typeface="Assistant" pitchFamily="2" charset="-79"/>
              <a:cs typeface="Assistant" pitchFamily="2" charset="-79"/>
            </a:endParaRPr>
          </a:p>
          <a:p>
            <a:r>
              <a:rPr lang="nl-NL" sz="1600" b="1" err="1">
                <a:latin typeface="Assistant" pitchFamily="2" charset="-79"/>
                <a:cs typeface="Assistant" pitchFamily="2" charset="-79"/>
              </a:rPr>
              <a:t>eScience</a:t>
            </a:r>
            <a:r>
              <a:rPr lang="nl-NL" sz="1600" b="1">
                <a:latin typeface="Assistant" pitchFamily="2" charset="-79"/>
                <a:cs typeface="Assistant" pitchFamily="2" charset="-79"/>
              </a:rPr>
              <a:t> Research </a:t>
            </a:r>
            <a:r>
              <a:rPr lang="nl-NL" sz="1600" b="1" err="1">
                <a:latin typeface="Assistant" pitchFamily="2" charset="-79"/>
                <a:cs typeface="Assistant" pitchFamily="2" charset="-79"/>
              </a:rPr>
              <a:t>Coordinator</a:t>
            </a:r>
            <a:endParaRPr lang="nl-NL" sz="1600" b="1">
              <a:latin typeface="Assistant" pitchFamily="2" charset="-79"/>
              <a:cs typeface="Assistant" pitchFamily="2" charset="-79"/>
            </a:endParaRPr>
          </a:p>
          <a:p>
            <a:r>
              <a:rPr lang="nl-NL" sz="1600">
                <a:latin typeface="Assistant" pitchFamily="2" charset="-79"/>
                <a:cs typeface="Assistant" pitchFamily="2" charset="-79"/>
              </a:rPr>
              <a:t>Name</a:t>
            </a:r>
          </a:p>
          <a:p>
            <a:endParaRPr lang="nl-NL" sz="1600">
              <a:latin typeface="Assistant" pitchFamily="2" charset="-79"/>
              <a:cs typeface="Assistant" pitchFamily="2" charset="-79"/>
            </a:endParaRPr>
          </a:p>
          <a:p>
            <a:r>
              <a:rPr lang="nl-NL" sz="1600" b="1" err="1">
                <a:latin typeface="Assistant" pitchFamily="2" charset="-79"/>
                <a:cs typeface="Assistant" pitchFamily="2" charset="-79"/>
              </a:rPr>
              <a:t>eScience</a:t>
            </a:r>
            <a:endParaRPr lang="nl-NL" sz="1600" b="1">
              <a:latin typeface="Assistant" pitchFamily="2" charset="-79"/>
              <a:cs typeface="Assistant" pitchFamily="2" charset="-79"/>
            </a:endParaRPr>
          </a:p>
          <a:p>
            <a:r>
              <a:rPr lang="nl-NL" sz="1600">
                <a:latin typeface="Assistant" pitchFamily="2" charset="-79"/>
                <a:cs typeface="Assistant" pitchFamily="2" charset="-79"/>
              </a:rPr>
              <a:t>Name</a:t>
            </a:r>
          </a:p>
          <a:p>
            <a:r>
              <a:rPr lang="nl-NL" sz="1600">
                <a:latin typeface="Assistant" pitchFamily="2" charset="-79"/>
                <a:cs typeface="Assistant" pitchFamily="2" charset="-79"/>
              </a:rPr>
              <a:t>Name</a:t>
            </a:r>
          </a:p>
          <a:p>
            <a:r>
              <a:rPr lang="nl-NL" sz="1600">
                <a:latin typeface="Assistant" pitchFamily="2" charset="-79"/>
                <a:cs typeface="Assistant" pitchFamily="2" charset="-79"/>
              </a:rPr>
              <a:t>Name</a:t>
            </a:r>
          </a:p>
        </p:txBody>
      </p:sp>
    </p:spTree>
    <p:extLst>
      <p:ext uri="{BB962C8B-B14F-4D97-AF65-F5344CB8AC3E}">
        <p14:creationId xmlns:p14="http://schemas.microsoft.com/office/powerpoint/2010/main" val="3150416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6551054" y="2457485"/>
            <a:ext cx="5172860" cy="525115"/>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6551054" y="2988125"/>
            <a:ext cx="5172860" cy="538843"/>
          </a:xfrm>
        </p:spPr>
        <p:txBody>
          <a:bodyPr/>
          <a:lstStyle>
            <a:lvl1pPr marL="0" indent="0">
              <a:buNone/>
              <a:defRPr sz="1600" b="1">
                <a:solidFill>
                  <a:schemeClr val="accent3"/>
                </a:solidFill>
              </a:defRPr>
            </a:lvl1pPr>
            <a:lvl2pPr>
              <a:defRPr sz="1800"/>
            </a:lvl2pPr>
            <a:lvl3pPr>
              <a:defRPr sz="1600"/>
            </a:lvl3pPr>
            <a:lvl4pPr>
              <a:defRPr sz="1400"/>
            </a:lvl4pPr>
            <a:lvl5pPr>
              <a:defRPr sz="1400"/>
            </a:lvl5pPr>
          </a:lstStyle>
          <a:p>
            <a:pPr lvl="0"/>
            <a:r>
              <a:rPr lang="en-US"/>
              <a:t>Click to edit Master text styles</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8" name="Ovaal 1">
            <a:extLst>
              <a:ext uri="{FF2B5EF4-FFF2-40B4-BE49-F238E27FC236}">
                <a16:creationId xmlns:a16="http://schemas.microsoft.com/office/drawing/2014/main" id="{5CC9E004-97E0-4615-A14A-133AC6C39587}"/>
              </a:ext>
            </a:extLst>
          </p:cNvPr>
          <p:cNvSpPr/>
          <p:nvPr userDrawn="1"/>
        </p:nvSpPr>
        <p:spPr>
          <a:xfrm>
            <a:off x="6635098" y="4112371"/>
            <a:ext cx="1169959" cy="1169959"/>
          </a:xfrm>
          <a:prstGeom prst="ellipse">
            <a:avLst/>
          </a:prstGeom>
          <a:blipFill dpi="0" rotWithShape="1">
            <a:blip r:embed="rId3" cstate="hq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ekstvak 2">
            <a:extLst>
              <a:ext uri="{FF2B5EF4-FFF2-40B4-BE49-F238E27FC236}">
                <a16:creationId xmlns:a16="http://schemas.microsoft.com/office/drawing/2014/main" id="{E097A287-6819-46EF-A4A1-E5978F20F448}"/>
              </a:ext>
            </a:extLst>
          </p:cNvPr>
          <p:cNvSpPr txBox="1"/>
          <p:nvPr userDrawn="1"/>
        </p:nvSpPr>
        <p:spPr>
          <a:xfrm>
            <a:off x="6482698" y="3626536"/>
            <a:ext cx="2672188" cy="461665"/>
          </a:xfrm>
          <a:prstGeom prst="rect">
            <a:avLst/>
          </a:prstGeom>
          <a:noFill/>
        </p:spPr>
        <p:txBody>
          <a:bodyPr wrap="square" rtlCol="0">
            <a:spAutoFit/>
          </a:bodyPr>
          <a:lstStyle/>
          <a:p>
            <a:r>
              <a:rPr lang="nl-NL" sz="2400" b="1">
                <a:latin typeface="Assistant" pitchFamily="2" charset="-79"/>
                <a:cs typeface="Assistant" pitchFamily="2" charset="-79"/>
              </a:rPr>
              <a:t>Contact person</a:t>
            </a:r>
          </a:p>
        </p:txBody>
      </p:sp>
      <p:sp>
        <p:nvSpPr>
          <p:cNvPr id="10" name="Tekstvak 10">
            <a:extLst>
              <a:ext uri="{FF2B5EF4-FFF2-40B4-BE49-F238E27FC236}">
                <a16:creationId xmlns:a16="http://schemas.microsoft.com/office/drawing/2014/main" id="{434E4565-08BA-4536-9BBF-2A2765E921E8}"/>
              </a:ext>
            </a:extLst>
          </p:cNvPr>
          <p:cNvSpPr txBox="1"/>
          <p:nvPr userDrawn="1"/>
        </p:nvSpPr>
        <p:spPr>
          <a:xfrm>
            <a:off x="7848146" y="4349419"/>
            <a:ext cx="2076313" cy="338554"/>
          </a:xfrm>
          <a:prstGeom prst="rect">
            <a:avLst/>
          </a:prstGeom>
          <a:noFill/>
        </p:spPr>
        <p:txBody>
          <a:bodyPr wrap="square" rtlCol="0">
            <a:spAutoFit/>
          </a:bodyPr>
          <a:lstStyle/>
          <a:p>
            <a:r>
              <a:rPr lang="nl-NL" sz="1600">
                <a:latin typeface="Assistant" pitchFamily="2" charset="-79"/>
                <a:cs typeface="Assistant" pitchFamily="2" charset="-79"/>
              </a:rPr>
              <a:t>Name of person</a:t>
            </a:r>
          </a:p>
        </p:txBody>
      </p:sp>
      <p:sp>
        <p:nvSpPr>
          <p:cNvPr id="11" name="Tekstvak 11">
            <a:extLst>
              <a:ext uri="{FF2B5EF4-FFF2-40B4-BE49-F238E27FC236}">
                <a16:creationId xmlns:a16="http://schemas.microsoft.com/office/drawing/2014/main" id="{C94B086D-54B9-4094-9C40-9363E370174F}"/>
              </a:ext>
            </a:extLst>
          </p:cNvPr>
          <p:cNvSpPr txBox="1"/>
          <p:nvPr userDrawn="1"/>
        </p:nvSpPr>
        <p:spPr>
          <a:xfrm>
            <a:off x="7848145" y="4650977"/>
            <a:ext cx="2076313" cy="338554"/>
          </a:xfrm>
          <a:prstGeom prst="rect">
            <a:avLst/>
          </a:prstGeom>
          <a:noFill/>
        </p:spPr>
        <p:txBody>
          <a:bodyPr wrap="square" rtlCol="0">
            <a:spAutoFit/>
          </a:bodyPr>
          <a:lstStyle/>
          <a:p>
            <a:r>
              <a:rPr lang="nl-NL" sz="1600" err="1">
                <a:latin typeface="Assistant" pitchFamily="2" charset="-79"/>
                <a:cs typeface="Assistant" pitchFamily="2" charset="-79"/>
              </a:rPr>
              <a:t>Organisation</a:t>
            </a:r>
            <a:endParaRPr lang="nl-NL" sz="1600">
              <a:latin typeface="Assistant" pitchFamily="2" charset="-79"/>
              <a:cs typeface="Assistant" pitchFamily="2" charset="-79"/>
            </a:endParaRPr>
          </a:p>
        </p:txBody>
      </p:sp>
    </p:spTree>
    <p:extLst>
      <p:ext uri="{BB962C8B-B14F-4D97-AF65-F5344CB8AC3E}">
        <p14:creationId xmlns:p14="http://schemas.microsoft.com/office/powerpoint/2010/main" val="2815482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8" name="Tijdelijke aanduiding voor tekst 8">
            <a:extLst>
              <a:ext uri="{FF2B5EF4-FFF2-40B4-BE49-F238E27FC236}">
                <a16:creationId xmlns:a16="http://schemas.microsoft.com/office/drawing/2014/main" id="{20C0D452-4650-C54D-8A93-1855E1E9F2A9}"/>
              </a:ext>
            </a:extLst>
          </p:cNvPr>
          <p:cNvSpPr>
            <a:spLocks noGrp="1"/>
          </p:cNvSpPr>
          <p:nvPr>
            <p:ph type="body" sz="quarter" idx="13" hasCustomPrompt="1"/>
          </p:nvPr>
        </p:nvSpPr>
        <p:spPr>
          <a:xfrm>
            <a:off x="7425549" y="2126754"/>
            <a:ext cx="3288834" cy="2800766"/>
          </a:xfrm>
        </p:spPr>
        <p:txBody>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a:t>Click </a:t>
            </a:r>
            <a:r>
              <a:rPr lang="nl-NL" err="1"/>
              <a:t>to</a:t>
            </a:r>
            <a:r>
              <a:rPr lang="nl-NL"/>
              <a:t> </a:t>
            </a:r>
            <a:r>
              <a:rPr lang="nl-NL" err="1"/>
              <a:t>edit</a:t>
            </a:r>
            <a:endParaRPr lang="nl-NL"/>
          </a:p>
        </p:txBody>
      </p:sp>
    </p:spTree>
    <p:extLst>
      <p:ext uri="{BB962C8B-B14F-4D97-AF65-F5344CB8AC3E}">
        <p14:creationId xmlns:p14="http://schemas.microsoft.com/office/powerpoint/2010/main" val="3907664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9" name="Tijdelijke aanduiding voor tekst 8">
            <a:extLst>
              <a:ext uri="{FF2B5EF4-FFF2-40B4-BE49-F238E27FC236}">
                <a16:creationId xmlns:a16="http://schemas.microsoft.com/office/drawing/2014/main" id="{42FC0228-9E95-8343-95E7-721F4D7F79CD}"/>
              </a:ext>
            </a:extLst>
          </p:cNvPr>
          <p:cNvSpPr>
            <a:spLocks noGrp="1"/>
          </p:cNvSpPr>
          <p:nvPr>
            <p:ph type="body" sz="quarter" idx="13" hasCustomPrompt="1"/>
          </p:nvPr>
        </p:nvSpPr>
        <p:spPr>
          <a:xfrm>
            <a:off x="7425549" y="2126754"/>
            <a:ext cx="3288834" cy="2800766"/>
          </a:xfrm>
        </p:spPr>
        <p:txBody>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a:t>Click </a:t>
            </a:r>
            <a:r>
              <a:rPr lang="nl-NL" err="1"/>
              <a:t>to</a:t>
            </a:r>
            <a:r>
              <a:rPr lang="nl-NL"/>
              <a:t> </a:t>
            </a:r>
            <a:r>
              <a:rPr lang="nl-NL" err="1"/>
              <a:t>edit</a:t>
            </a:r>
            <a:endParaRPr lang="nl-NL"/>
          </a:p>
        </p:txBody>
      </p:sp>
    </p:spTree>
    <p:extLst>
      <p:ext uri="{BB962C8B-B14F-4D97-AF65-F5344CB8AC3E}">
        <p14:creationId xmlns:p14="http://schemas.microsoft.com/office/powerpoint/2010/main" val="3150416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6551054" y="2457485"/>
            <a:ext cx="5172860" cy="525115"/>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6551054" y="2988125"/>
            <a:ext cx="5172860" cy="538843"/>
          </a:xfrm>
        </p:spPr>
        <p:txBody>
          <a:bodyPr/>
          <a:lstStyle>
            <a:lvl1pPr marL="0" indent="0">
              <a:buNone/>
              <a:defRPr sz="1600" b="1">
                <a:solidFill>
                  <a:schemeClr val="accent3"/>
                </a:solidFill>
              </a:defRPr>
            </a:lvl1pPr>
            <a:lvl2pPr>
              <a:defRPr sz="1800"/>
            </a:lvl2pPr>
            <a:lvl3pPr>
              <a:defRPr sz="1600"/>
            </a:lvl3pPr>
            <a:lvl4pPr>
              <a:defRPr sz="1400"/>
            </a:lvl4pPr>
            <a:lvl5pPr>
              <a:defRPr sz="1400"/>
            </a:lvl5pPr>
          </a:lstStyle>
          <a:p>
            <a:pPr lvl="0"/>
            <a:r>
              <a:rPr lang="en-US"/>
              <a:t>Click to edit Master text styles</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2815482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3169599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0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2546607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9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1447188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1711102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4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3765420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7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9" name="Tekstvak 10">
            <a:extLst>
              <a:ext uri="{FF2B5EF4-FFF2-40B4-BE49-F238E27FC236}">
                <a16:creationId xmlns:a16="http://schemas.microsoft.com/office/drawing/2014/main" id="{8BBDB083-0221-48BC-BC76-B17DA3BC317D}"/>
              </a:ext>
            </a:extLst>
          </p:cNvPr>
          <p:cNvSpPr txBox="1"/>
          <p:nvPr userDrawn="1"/>
        </p:nvSpPr>
        <p:spPr>
          <a:xfrm>
            <a:off x="7425549" y="1807862"/>
            <a:ext cx="3701797" cy="3785652"/>
          </a:xfrm>
          <a:prstGeom prst="rect">
            <a:avLst/>
          </a:prstGeom>
          <a:noFill/>
        </p:spPr>
        <p:txBody>
          <a:bodyPr wrap="square" rtlCol="0">
            <a:spAutoFit/>
          </a:bodyPr>
          <a:lstStyle/>
          <a:p>
            <a:r>
              <a:rPr lang="nl-NL" sz="1600" b="1">
                <a:latin typeface="Assistant" pitchFamily="2" charset="-79"/>
                <a:cs typeface="Assistant" pitchFamily="2" charset="-79"/>
              </a:rPr>
              <a:t>Lorem Ipsum</a:t>
            </a:r>
          </a:p>
          <a:p>
            <a:r>
              <a:rPr lang="nl-NL" sz="1600">
                <a:latin typeface="Assistant" pitchFamily="2" charset="-79"/>
                <a:cs typeface="Assistant" pitchFamily="2" charset="-79"/>
              </a:rPr>
              <a:t>Name </a:t>
            </a:r>
            <a:r>
              <a:rPr lang="nl-NL" sz="1600" err="1">
                <a:latin typeface="Assistant" pitchFamily="2" charset="-79"/>
                <a:cs typeface="Assistant" pitchFamily="2" charset="-79"/>
              </a:rPr>
              <a:t>Surname</a:t>
            </a:r>
            <a:endParaRPr lang="nl-NL" sz="1600">
              <a:latin typeface="Assistant" pitchFamily="2" charset="-79"/>
              <a:cs typeface="Assistant" pitchFamily="2" charset="-79"/>
            </a:endParaRPr>
          </a:p>
          <a:p>
            <a:endParaRPr lang="nl-NL" sz="1600">
              <a:latin typeface="Assistant" pitchFamily="2" charset="-79"/>
              <a:cs typeface="Assistant" pitchFamily="2" charset="-79"/>
            </a:endParaRPr>
          </a:p>
          <a:p>
            <a:r>
              <a:rPr lang="nl-NL" sz="1600" b="1">
                <a:latin typeface="Assistant" pitchFamily="2" charset="-79"/>
                <a:cs typeface="Assistant" pitchFamily="2" charset="-79"/>
              </a:rPr>
              <a:t>Lorem Ipsum</a:t>
            </a:r>
          </a:p>
          <a:p>
            <a:r>
              <a:rPr lang="nl-NL" sz="1600">
                <a:latin typeface="Assistant" pitchFamily="2" charset="-79"/>
                <a:cs typeface="Assistant" pitchFamily="2" charset="-79"/>
              </a:rPr>
              <a:t>Name </a:t>
            </a:r>
            <a:r>
              <a:rPr lang="nl-NL" sz="1600" err="1">
                <a:latin typeface="Assistant" pitchFamily="2" charset="-79"/>
                <a:cs typeface="Assistant" pitchFamily="2" charset="-79"/>
              </a:rPr>
              <a:t>Surname</a:t>
            </a:r>
            <a:endParaRPr lang="nl-NL" sz="1600">
              <a:latin typeface="Assistant" pitchFamily="2" charset="-79"/>
              <a:cs typeface="Assistant" pitchFamily="2" charset="-79"/>
            </a:endParaRPr>
          </a:p>
          <a:p>
            <a:endParaRPr lang="nl-NL" sz="1600">
              <a:latin typeface="Assistant" pitchFamily="2" charset="-79"/>
              <a:cs typeface="Assistant" pitchFamily="2" charset="-79"/>
            </a:endParaRPr>
          </a:p>
          <a:p>
            <a:r>
              <a:rPr lang="nl-NL" sz="1600" b="1">
                <a:latin typeface="Assistant" pitchFamily="2" charset="-79"/>
                <a:cs typeface="Assistant" pitchFamily="2" charset="-79"/>
              </a:rPr>
              <a:t>Lorem Ipsum</a:t>
            </a:r>
          </a:p>
          <a:p>
            <a:r>
              <a:rPr lang="nl-NL" sz="1600">
                <a:latin typeface="Assistant" pitchFamily="2" charset="-79"/>
                <a:cs typeface="Assistant" pitchFamily="2" charset="-79"/>
              </a:rPr>
              <a:t>Name </a:t>
            </a:r>
            <a:r>
              <a:rPr lang="nl-NL" sz="1600" err="1">
                <a:latin typeface="Assistant" pitchFamily="2" charset="-79"/>
                <a:cs typeface="Assistant" pitchFamily="2" charset="-79"/>
              </a:rPr>
              <a:t>Surname</a:t>
            </a:r>
            <a:endParaRPr lang="nl-NL" sz="1600">
              <a:latin typeface="Assistant" pitchFamily="2" charset="-79"/>
              <a:cs typeface="Assistant" pitchFamily="2" charset="-79"/>
            </a:endParaRPr>
          </a:p>
          <a:p>
            <a:endParaRPr lang="nl-NL" sz="1600">
              <a:latin typeface="Assistant" pitchFamily="2" charset="-79"/>
              <a:cs typeface="Assistant" pitchFamily="2" charset="-79"/>
            </a:endParaRPr>
          </a:p>
          <a:p>
            <a:r>
              <a:rPr lang="nl-NL" sz="1600" b="1">
                <a:latin typeface="Assistant" pitchFamily="2" charset="-79"/>
                <a:cs typeface="Assistant" pitchFamily="2" charset="-79"/>
              </a:rPr>
              <a:t>Lorem Ipsum</a:t>
            </a:r>
          </a:p>
          <a:p>
            <a:r>
              <a:rPr lang="nl-NL" sz="1600">
                <a:latin typeface="Assistant" pitchFamily="2" charset="-79"/>
                <a:cs typeface="Assistant" pitchFamily="2" charset="-79"/>
              </a:rPr>
              <a:t>Name </a:t>
            </a:r>
            <a:r>
              <a:rPr lang="nl-NL" sz="1600" err="1">
                <a:latin typeface="Assistant" pitchFamily="2" charset="-79"/>
                <a:cs typeface="Assistant" pitchFamily="2" charset="-79"/>
              </a:rPr>
              <a:t>Surname</a:t>
            </a:r>
            <a:endParaRPr lang="nl-NL" sz="1600">
              <a:latin typeface="Assistant" pitchFamily="2" charset="-79"/>
              <a:cs typeface="Assistant" pitchFamily="2" charset="-79"/>
            </a:endParaRPr>
          </a:p>
          <a:p>
            <a:endParaRPr lang="nl-NL" sz="1600">
              <a:latin typeface="Assistant" pitchFamily="2" charset="-79"/>
              <a:cs typeface="Assistant" pitchFamily="2" charset="-79"/>
            </a:endParaRPr>
          </a:p>
          <a:p>
            <a:r>
              <a:rPr lang="nl-NL" sz="1600" b="1">
                <a:latin typeface="Assistant" pitchFamily="2" charset="-79"/>
                <a:cs typeface="Assistant" pitchFamily="2" charset="-79"/>
              </a:rPr>
              <a:t>Lorem Ipsum</a:t>
            </a:r>
          </a:p>
          <a:p>
            <a:r>
              <a:rPr lang="nl-NL" sz="1600">
                <a:latin typeface="Assistant" pitchFamily="2" charset="-79"/>
                <a:cs typeface="Assistant" pitchFamily="2" charset="-79"/>
              </a:rPr>
              <a:t>Name </a:t>
            </a:r>
            <a:r>
              <a:rPr lang="nl-NL" sz="1600" err="1">
                <a:latin typeface="Assistant" pitchFamily="2" charset="-79"/>
                <a:cs typeface="Assistant" pitchFamily="2" charset="-79"/>
              </a:rPr>
              <a:t>Surname</a:t>
            </a:r>
            <a:endParaRPr lang="nl-NL" sz="1600">
              <a:latin typeface="Assistant" pitchFamily="2" charset="-79"/>
              <a:cs typeface="Assistant" pitchFamily="2" charset="-79"/>
            </a:endParaRPr>
          </a:p>
          <a:p>
            <a:endParaRPr lang="nl-NL" sz="1600">
              <a:latin typeface="Assistant" pitchFamily="2" charset="-79"/>
              <a:cs typeface="Assistant" pitchFamily="2" charset="-79"/>
            </a:endParaRPr>
          </a:p>
        </p:txBody>
      </p:sp>
    </p:spTree>
    <p:extLst>
      <p:ext uri="{BB962C8B-B14F-4D97-AF65-F5344CB8AC3E}">
        <p14:creationId xmlns:p14="http://schemas.microsoft.com/office/powerpoint/2010/main" val="3188582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169670" y="2022475"/>
            <a:ext cx="4602480" cy="1325563"/>
          </a:xfrm>
        </p:spPr>
        <p:txBody>
          <a:bodyPr/>
          <a:lstStyle/>
          <a:p>
            <a:r>
              <a:rPr lang="en-US"/>
              <a:t>Click to edit Master title style</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9" name="Tekstvak 6">
            <a:extLst>
              <a:ext uri="{FF2B5EF4-FFF2-40B4-BE49-F238E27FC236}">
                <a16:creationId xmlns:a16="http://schemas.microsoft.com/office/drawing/2014/main" id="{3538DAB4-22F9-4882-8E20-AE7B1B1B5B64}"/>
              </a:ext>
            </a:extLst>
          </p:cNvPr>
          <p:cNvSpPr txBox="1"/>
          <p:nvPr userDrawn="1"/>
        </p:nvSpPr>
        <p:spPr>
          <a:xfrm>
            <a:off x="6336501" y="1807862"/>
            <a:ext cx="4862210" cy="844911"/>
          </a:xfrm>
          <a:prstGeom prst="rect">
            <a:avLst/>
          </a:prstGeom>
          <a:noFill/>
        </p:spPr>
        <p:txBody>
          <a:bodyPr wrap="square" rtlCol="0">
            <a:spAutoFit/>
          </a:bodyPr>
          <a:lstStyle/>
          <a:p>
            <a:pPr>
              <a:lnSpc>
                <a:spcPts val="2000"/>
              </a:lnSpc>
            </a:pPr>
            <a:r>
              <a:rPr lang="en-GB" sz="1400" b="1">
                <a:solidFill>
                  <a:srgbClr val="479EDB"/>
                </a:solidFill>
                <a:latin typeface="Assistant" pitchFamily="2" charset="-79"/>
                <a:cs typeface="Assistant" pitchFamily="2" charset="-79"/>
              </a:rPr>
              <a:t>Lorem ipsum </a:t>
            </a:r>
            <a:r>
              <a:rPr lang="en-GB" sz="1400" b="1" err="1">
                <a:solidFill>
                  <a:srgbClr val="479EDB"/>
                </a:solidFill>
                <a:latin typeface="Assistant" pitchFamily="2" charset="-79"/>
                <a:cs typeface="Assistant" pitchFamily="2" charset="-79"/>
              </a:rPr>
              <a:t>dolor</a:t>
            </a:r>
            <a:endParaRPr lang="en-GB" sz="1400" b="1">
              <a:solidFill>
                <a:srgbClr val="479EDB"/>
              </a:solidFill>
              <a:latin typeface="Assistant" pitchFamily="2" charset="-79"/>
              <a:cs typeface="Assistant" pitchFamily="2" charset="-79"/>
            </a:endParaRPr>
          </a:p>
          <a:p>
            <a:pPr>
              <a:lnSpc>
                <a:spcPts val="2000"/>
              </a:lnSpc>
            </a:pPr>
            <a:r>
              <a:rPr lang="en-GB" sz="1400">
                <a:latin typeface="Assistant" pitchFamily="2" charset="-79"/>
                <a:cs typeface="Assistant" pitchFamily="2" charset="-79"/>
              </a:rPr>
              <a:t>Sit amet, </a:t>
            </a:r>
            <a:r>
              <a:rPr lang="en-GB" sz="1400" err="1">
                <a:latin typeface="Assistant" pitchFamily="2" charset="-79"/>
                <a:cs typeface="Assistant" pitchFamily="2" charset="-79"/>
              </a:rPr>
              <a:t>consectetuer</a:t>
            </a:r>
            <a:r>
              <a:rPr lang="en-GB" sz="1400">
                <a:latin typeface="Assistant" pitchFamily="2" charset="-79"/>
                <a:cs typeface="Assistant" pitchFamily="2" charset="-79"/>
              </a:rPr>
              <a:t> </a:t>
            </a:r>
            <a:r>
              <a:rPr lang="en-GB" sz="1400" err="1">
                <a:latin typeface="Assistant" pitchFamily="2" charset="-79"/>
                <a:cs typeface="Assistant" pitchFamily="2" charset="-79"/>
              </a:rPr>
              <a:t>adipiscing</a:t>
            </a:r>
            <a:r>
              <a:rPr lang="en-GB" sz="1400">
                <a:latin typeface="Assistant" pitchFamily="2" charset="-79"/>
                <a:cs typeface="Assistant" pitchFamily="2" charset="-79"/>
              </a:rPr>
              <a:t> </a:t>
            </a:r>
            <a:r>
              <a:rPr lang="en-GB" sz="1400" err="1">
                <a:latin typeface="Assistant" pitchFamily="2" charset="-79"/>
                <a:cs typeface="Assistant" pitchFamily="2" charset="-79"/>
              </a:rPr>
              <a:t>elit</a:t>
            </a:r>
            <a:r>
              <a:rPr lang="en-GB" sz="1400">
                <a:latin typeface="Assistant" pitchFamily="2" charset="-79"/>
                <a:cs typeface="Assistant" pitchFamily="2" charset="-79"/>
              </a:rPr>
              <a:t>, </a:t>
            </a:r>
            <a:r>
              <a:rPr lang="en-GB" sz="1400" err="1">
                <a:latin typeface="Assistant" pitchFamily="2" charset="-79"/>
                <a:cs typeface="Assistant" pitchFamily="2" charset="-79"/>
              </a:rPr>
              <a:t>sed</a:t>
            </a:r>
            <a:r>
              <a:rPr lang="en-GB" sz="1400">
                <a:latin typeface="Assistant" pitchFamily="2" charset="-79"/>
                <a:cs typeface="Assistant" pitchFamily="2" charset="-79"/>
              </a:rPr>
              <a:t> </a:t>
            </a:r>
            <a:r>
              <a:rPr lang="en-GB" sz="1400" err="1">
                <a:latin typeface="Assistant" pitchFamily="2" charset="-79"/>
                <a:cs typeface="Assistant" pitchFamily="2" charset="-79"/>
              </a:rPr>
              <a:t>diam</a:t>
            </a:r>
            <a:r>
              <a:rPr lang="en-GB" sz="1400">
                <a:latin typeface="Assistant" pitchFamily="2" charset="-79"/>
                <a:cs typeface="Assistant" pitchFamily="2" charset="-79"/>
              </a:rPr>
              <a:t> </a:t>
            </a:r>
            <a:r>
              <a:rPr lang="en-GB" sz="1400" err="1">
                <a:latin typeface="Assistant" pitchFamily="2" charset="-79"/>
                <a:cs typeface="Assistant" pitchFamily="2" charset="-79"/>
              </a:rPr>
              <a:t>nommy</a:t>
            </a:r>
            <a:r>
              <a:rPr lang="en-GB" sz="1400">
                <a:latin typeface="Assistant" pitchFamily="2" charset="-79"/>
                <a:cs typeface="Assistant" pitchFamily="2" charset="-79"/>
              </a:rPr>
              <a:t> </a:t>
            </a:r>
            <a:r>
              <a:rPr lang="en-GB" sz="1400" err="1">
                <a:latin typeface="Assistant" pitchFamily="2" charset="-79"/>
                <a:cs typeface="Assistant" pitchFamily="2" charset="-79"/>
              </a:rPr>
              <a:t>nibh</a:t>
            </a:r>
            <a:r>
              <a:rPr lang="en-GB" sz="1400">
                <a:latin typeface="Assistant" pitchFamily="2" charset="-79"/>
                <a:cs typeface="Assistant" pitchFamily="2" charset="-79"/>
              </a:rPr>
              <a:t> </a:t>
            </a:r>
            <a:r>
              <a:rPr lang="en-GB" sz="1400" err="1">
                <a:latin typeface="Assistant" pitchFamily="2" charset="-79"/>
                <a:cs typeface="Assistant" pitchFamily="2" charset="-79"/>
              </a:rPr>
              <a:t>euismod</a:t>
            </a:r>
            <a:r>
              <a:rPr lang="en-GB" sz="1400">
                <a:latin typeface="Assistant" pitchFamily="2" charset="-79"/>
                <a:cs typeface="Assistant" pitchFamily="2" charset="-79"/>
              </a:rPr>
              <a:t> </a:t>
            </a:r>
            <a:r>
              <a:rPr lang="en-GB" sz="1400" err="1">
                <a:latin typeface="Assistant" pitchFamily="2" charset="-79"/>
                <a:cs typeface="Assistant" pitchFamily="2" charset="-79"/>
              </a:rPr>
              <a:t>tincidunt</a:t>
            </a:r>
            <a:r>
              <a:rPr lang="en-GB" sz="1400">
                <a:latin typeface="Assistant" pitchFamily="2" charset="-79"/>
                <a:cs typeface="Assistant" pitchFamily="2" charset="-79"/>
              </a:rPr>
              <a:t> </a:t>
            </a:r>
            <a:r>
              <a:rPr lang="en-GB" sz="1400" err="1">
                <a:latin typeface="Assistant" pitchFamily="2" charset="-79"/>
                <a:cs typeface="Assistant" pitchFamily="2" charset="-79"/>
              </a:rPr>
              <a:t>ut</a:t>
            </a:r>
            <a:r>
              <a:rPr lang="en-GB" sz="1400">
                <a:latin typeface="Assistant" pitchFamily="2" charset="-79"/>
                <a:cs typeface="Assistant" pitchFamily="2" charset="-79"/>
              </a:rPr>
              <a:t> </a:t>
            </a:r>
            <a:r>
              <a:rPr lang="en-GB" sz="1400" err="1">
                <a:latin typeface="Assistant" pitchFamily="2" charset="-79"/>
                <a:cs typeface="Assistant" pitchFamily="2" charset="-79"/>
              </a:rPr>
              <a:t>laoreet</a:t>
            </a:r>
            <a:r>
              <a:rPr lang="en-GB" sz="1400">
                <a:latin typeface="Assistant" pitchFamily="2" charset="-79"/>
                <a:cs typeface="Assistant" pitchFamily="2" charset="-79"/>
              </a:rPr>
              <a:t> dolore magna </a:t>
            </a:r>
            <a:r>
              <a:rPr lang="en-GB" sz="1400" err="1">
                <a:latin typeface="Assistant" pitchFamily="2" charset="-79"/>
                <a:cs typeface="Assistant" pitchFamily="2" charset="-79"/>
              </a:rPr>
              <a:t>aliquam</a:t>
            </a:r>
            <a:r>
              <a:rPr lang="en-GB" sz="1400">
                <a:latin typeface="Assistant" pitchFamily="2" charset="-79"/>
                <a:cs typeface="Assistant" pitchFamily="2" charset="-79"/>
              </a:rPr>
              <a:t> </a:t>
            </a:r>
            <a:r>
              <a:rPr lang="en-GB" sz="1400" err="1">
                <a:latin typeface="Assistant" pitchFamily="2" charset="-79"/>
                <a:cs typeface="Assistant" pitchFamily="2" charset="-79"/>
              </a:rPr>
              <a:t>volutpat</a:t>
            </a:r>
            <a:r>
              <a:rPr lang="en-GB" sz="1400">
                <a:latin typeface="Assistant" pitchFamily="2" charset="-79"/>
                <a:cs typeface="Assistant" pitchFamily="2" charset="-79"/>
              </a:rPr>
              <a:t>. </a:t>
            </a:r>
          </a:p>
        </p:txBody>
      </p:sp>
      <p:sp>
        <p:nvSpPr>
          <p:cNvPr id="10" name="Tekstvak 7">
            <a:extLst>
              <a:ext uri="{FF2B5EF4-FFF2-40B4-BE49-F238E27FC236}">
                <a16:creationId xmlns:a16="http://schemas.microsoft.com/office/drawing/2014/main" id="{22190590-CB5D-408C-8271-28FB03940804}"/>
              </a:ext>
            </a:extLst>
          </p:cNvPr>
          <p:cNvSpPr txBox="1"/>
          <p:nvPr userDrawn="1"/>
        </p:nvSpPr>
        <p:spPr>
          <a:xfrm>
            <a:off x="6336501" y="3074863"/>
            <a:ext cx="4862210" cy="844911"/>
          </a:xfrm>
          <a:prstGeom prst="rect">
            <a:avLst/>
          </a:prstGeom>
          <a:noFill/>
        </p:spPr>
        <p:txBody>
          <a:bodyPr wrap="square" rtlCol="0">
            <a:spAutoFit/>
          </a:bodyPr>
          <a:lstStyle/>
          <a:p>
            <a:pPr>
              <a:lnSpc>
                <a:spcPts val="2000"/>
              </a:lnSpc>
            </a:pPr>
            <a:r>
              <a:rPr lang="en-GB" sz="1400" b="1">
                <a:solidFill>
                  <a:srgbClr val="479EDB"/>
                </a:solidFill>
                <a:latin typeface="Assistant" pitchFamily="2" charset="-79"/>
                <a:cs typeface="Assistant" pitchFamily="2" charset="-79"/>
              </a:rPr>
              <a:t>Lorem ipsum </a:t>
            </a:r>
            <a:r>
              <a:rPr lang="en-GB" sz="1400" b="1" err="1">
                <a:solidFill>
                  <a:srgbClr val="479EDB"/>
                </a:solidFill>
                <a:latin typeface="Assistant" pitchFamily="2" charset="-79"/>
                <a:cs typeface="Assistant" pitchFamily="2" charset="-79"/>
              </a:rPr>
              <a:t>dolor</a:t>
            </a:r>
            <a:endParaRPr lang="en-GB" sz="1400" b="1">
              <a:solidFill>
                <a:srgbClr val="479EDB"/>
              </a:solidFill>
              <a:latin typeface="Assistant" pitchFamily="2" charset="-79"/>
              <a:cs typeface="Assistant" pitchFamily="2" charset="-79"/>
            </a:endParaRPr>
          </a:p>
          <a:p>
            <a:pPr>
              <a:lnSpc>
                <a:spcPts val="2000"/>
              </a:lnSpc>
            </a:pPr>
            <a:r>
              <a:rPr lang="en-GB" sz="1400">
                <a:latin typeface="Assistant" pitchFamily="2" charset="-79"/>
                <a:cs typeface="Assistant" pitchFamily="2" charset="-79"/>
              </a:rPr>
              <a:t>Sit amet, </a:t>
            </a:r>
            <a:r>
              <a:rPr lang="en-GB" sz="1400" err="1">
                <a:latin typeface="Assistant" pitchFamily="2" charset="-79"/>
                <a:cs typeface="Assistant" pitchFamily="2" charset="-79"/>
              </a:rPr>
              <a:t>consectetuer</a:t>
            </a:r>
            <a:r>
              <a:rPr lang="en-GB" sz="1400">
                <a:latin typeface="Assistant" pitchFamily="2" charset="-79"/>
                <a:cs typeface="Assistant" pitchFamily="2" charset="-79"/>
              </a:rPr>
              <a:t> </a:t>
            </a:r>
            <a:r>
              <a:rPr lang="en-GB" sz="1400" err="1">
                <a:latin typeface="Assistant" pitchFamily="2" charset="-79"/>
                <a:cs typeface="Assistant" pitchFamily="2" charset="-79"/>
              </a:rPr>
              <a:t>adipiscing</a:t>
            </a:r>
            <a:r>
              <a:rPr lang="en-GB" sz="1400">
                <a:latin typeface="Assistant" pitchFamily="2" charset="-79"/>
                <a:cs typeface="Assistant" pitchFamily="2" charset="-79"/>
              </a:rPr>
              <a:t> </a:t>
            </a:r>
            <a:r>
              <a:rPr lang="en-GB" sz="1400" err="1">
                <a:latin typeface="Assistant" pitchFamily="2" charset="-79"/>
                <a:cs typeface="Assistant" pitchFamily="2" charset="-79"/>
              </a:rPr>
              <a:t>elit</a:t>
            </a:r>
            <a:r>
              <a:rPr lang="en-GB" sz="1400">
                <a:latin typeface="Assistant" pitchFamily="2" charset="-79"/>
                <a:cs typeface="Assistant" pitchFamily="2" charset="-79"/>
              </a:rPr>
              <a:t>, </a:t>
            </a:r>
            <a:r>
              <a:rPr lang="en-GB" sz="1400" err="1">
                <a:latin typeface="Assistant" pitchFamily="2" charset="-79"/>
                <a:cs typeface="Assistant" pitchFamily="2" charset="-79"/>
              </a:rPr>
              <a:t>sed</a:t>
            </a:r>
            <a:r>
              <a:rPr lang="en-GB" sz="1400">
                <a:latin typeface="Assistant" pitchFamily="2" charset="-79"/>
                <a:cs typeface="Assistant" pitchFamily="2" charset="-79"/>
              </a:rPr>
              <a:t> </a:t>
            </a:r>
            <a:r>
              <a:rPr lang="en-GB" sz="1400" err="1">
                <a:latin typeface="Assistant" pitchFamily="2" charset="-79"/>
                <a:cs typeface="Assistant" pitchFamily="2" charset="-79"/>
              </a:rPr>
              <a:t>diam</a:t>
            </a:r>
            <a:r>
              <a:rPr lang="en-GB" sz="1400">
                <a:latin typeface="Assistant" pitchFamily="2" charset="-79"/>
                <a:cs typeface="Assistant" pitchFamily="2" charset="-79"/>
              </a:rPr>
              <a:t> </a:t>
            </a:r>
            <a:r>
              <a:rPr lang="en-GB" sz="1400" err="1">
                <a:latin typeface="Assistant" pitchFamily="2" charset="-79"/>
                <a:cs typeface="Assistant" pitchFamily="2" charset="-79"/>
              </a:rPr>
              <a:t>nommy</a:t>
            </a:r>
            <a:r>
              <a:rPr lang="en-GB" sz="1400">
                <a:latin typeface="Assistant" pitchFamily="2" charset="-79"/>
                <a:cs typeface="Assistant" pitchFamily="2" charset="-79"/>
              </a:rPr>
              <a:t> </a:t>
            </a:r>
            <a:r>
              <a:rPr lang="en-GB" sz="1400" err="1">
                <a:latin typeface="Assistant" pitchFamily="2" charset="-79"/>
                <a:cs typeface="Assistant" pitchFamily="2" charset="-79"/>
              </a:rPr>
              <a:t>nibh</a:t>
            </a:r>
            <a:r>
              <a:rPr lang="en-GB" sz="1400">
                <a:latin typeface="Assistant" pitchFamily="2" charset="-79"/>
                <a:cs typeface="Assistant" pitchFamily="2" charset="-79"/>
              </a:rPr>
              <a:t> </a:t>
            </a:r>
            <a:r>
              <a:rPr lang="en-GB" sz="1400" err="1">
                <a:latin typeface="Assistant" pitchFamily="2" charset="-79"/>
                <a:cs typeface="Assistant" pitchFamily="2" charset="-79"/>
              </a:rPr>
              <a:t>euismod</a:t>
            </a:r>
            <a:r>
              <a:rPr lang="en-GB" sz="1400">
                <a:latin typeface="Assistant" pitchFamily="2" charset="-79"/>
                <a:cs typeface="Assistant" pitchFamily="2" charset="-79"/>
              </a:rPr>
              <a:t> </a:t>
            </a:r>
            <a:r>
              <a:rPr lang="en-GB" sz="1400" err="1">
                <a:latin typeface="Assistant" pitchFamily="2" charset="-79"/>
                <a:cs typeface="Assistant" pitchFamily="2" charset="-79"/>
              </a:rPr>
              <a:t>tincidunt</a:t>
            </a:r>
            <a:r>
              <a:rPr lang="en-GB" sz="1400">
                <a:latin typeface="Assistant" pitchFamily="2" charset="-79"/>
                <a:cs typeface="Assistant" pitchFamily="2" charset="-79"/>
              </a:rPr>
              <a:t> </a:t>
            </a:r>
            <a:r>
              <a:rPr lang="en-GB" sz="1400" err="1">
                <a:latin typeface="Assistant" pitchFamily="2" charset="-79"/>
                <a:cs typeface="Assistant" pitchFamily="2" charset="-79"/>
              </a:rPr>
              <a:t>ut</a:t>
            </a:r>
            <a:r>
              <a:rPr lang="en-GB" sz="1400">
                <a:latin typeface="Assistant" pitchFamily="2" charset="-79"/>
                <a:cs typeface="Assistant" pitchFamily="2" charset="-79"/>
              </a:rPr>
              <a:t> </a:t>
            </a:r>
            <a:r>
              <a:rPr lang="en-GB" sz="1400" err="1">
                <a:latin typeface="Assistant" pitchFamily="2" charset="-79"/>
                <a:cs typeface="Assistant" pitchFamily="2" charset="-79"/>
              </a:rPr>
              <a:t>laoreet</a:t>
            </a:r>
            <a:r>
              <a:rPr lang="en-GB" sz="1400">
                <a:latin typeface="Assistant" pitchFamily="2" charset="-79"/>
                <a:cs typeface="Assistant" pitchFamily="2" charset="-79"/>
              </a:rPr>
              <a:t> dolore magna </a:t>
            </a:r>
            <a:r>
              <a:rPr lang="en-GB" sz="1400" err="1">
                <a:latin typeface="Assistant" pitchFamily="2" charset="-79"/>
                <a:cs typeface="Assistant" pitchFamily="2" charset="-79"/>
              </a:rPr>
              <a:t>aliquam</a:t>
            </a:r>
            <a:r>
              <a:rPr lang="en-GB" sz="1400">
                <a:latin typeface="Assistant" pitchFamily="2" charset="-79"/>
                <a:cs typeface="Assistant" pitchFamily="2" charset="-79"/>
              </a:rPr>
              <a:t> </a:t>
            </a:r>
            <a:r>
              <a:rPr lang="en-GB" sz="1400" err="1">
                <a:latin typeface="Assistant" pitchFamily="2" charset="-79"/>
                <a:cs typeface="Assistant" pitchFamily="2" charset="-79"/>
              </a:rPr>
              <a:t>volutpat</a:t>
            </a:r>
            <a:r>
              <a:rPr lang="en-GB" sz="1400">
                <a:latin typeface="Assistant" pitchFamily="2" charset="-79"/>
                <a:cs typeface="Assistant" pitchFamily="2" charset="-79"/>
              </a:rPr>
              <a:t>. </a:t>
            </a:r>
          </a:p>
        </p:txBody>
      </p:sp>
      <p:sp>
        <p:nvSpPr>
          <p:cNvPr id="11" name="Tekstvak 8">
            <a:extLst>
              <a:ext uri="{FF2B5EF4-FFF2-40B4-BE49-F238E27FC236}">
                <a16:creationId xmlns:a16="http://schemas.microsoft.com/office/drawing/2014/main" id="{42EA234D-7D0F-41AA-A41A-BA750B534F8D}"/>
              </a:ext>
            </a:extLst>
          </p:cNvPr>
          <p:cNvSpPr txBox="1"/>
          <p:nvPr userDrawn="1"/>
        </p:nvSpPr>
        <p:spPr>
          <a:xfrm>
            <a:off x="6336501" y="4325152"/>
            <a:ext cx="4862210" cy="844911"/>
          </a:xfrm>
          <a:prstGeom prst="rect">
            <a:avLst/>
          </a:prstGeom>
          <a:noFill/>
        </p:spPr>
        <p:txBody>
          <a:bodyPr wrap="square" rtlCol="0">
            <a:spAutoFit/>
          </a:bodyPr>
          <a:lstStyle/>
          <a:p>
            <a:pPr>
              <a:lnSpc>
                <a:spcPts val="2000"/>
              </a:lnSpc>
            </a:pPr>
            <a:r>
              <a:rPr lang="en-GB" sz="1400" b="1">
                <a:solidFill>
                  <a:srgbClr val="479EDB"/>
                </a:solidFill>
                <a:latin typeface="Assistant" pitchFamily="2" charset="-79"/>
                <a:cs typeface="Assistant" pitchFamily="2" charset="-79"/>
              </a:rPr>
              <a:t>Lorem ipsum </a:t>
            </a:r>
            <a:r>
              <a:rPr lang="en-GB" sz="1400" b="1" err="1">
                <a:solidFill>
                  <a:srgbClr val="479EDB"/>
                </a:solidFill>
                <a:latin typeface="Assistant" pitchFamily="2" charset="-79"/>
                <a:cs typeface="Assistant" pitchFamily="2" charset="-79"/>
              </a:rPr>
              <a:t>dolor</a:t>
            </a:r>
            <a:endParaRPr lang="en-GB" sz="1400" b="1">
              <a:solidFill>
                <a:srgbClr val="479EDB"/>
              </a:solidFill>
              <a:latin typeface="Assistant" pitchFamily="2" charset="-79"/>
              <a:cs typeface="Assistant" pitchFamily="2" charset="-79"/>
            </a:endParaRPr>
          </a:p>
          <a:p>
            <a:pPr>
              <a:lnSpc>
                <a:spcPts val="2000"/>
              </a:lnSpc>
            </a:pPr>
            <a:r>
              <a:rPr lang="en-GB" sz="1400">
                <a:latin typeface="Assistant" pitchFamily="2" charset="-79"/>
                <a:cs typeface="Assistant" pitchFamily="2" charset="-79"/>
              </a:rPr>
              <a:t>Sit amet, </a:t>
            </a:r>
            <a:r>
              <a:rPr lang="en-GB" sz="1400" err="1">
                <a:latin typeface="Assistant" pitchFamily="2" charset="-79"/>
                <a:cs typeface="Assistant" pitchFamily="2" charset="-79"/>
              </a:rPr>
              <a:t>consectetuer</a:t>
            </a:r>
            <a:r>
              <a:rPr lang="en-GB" sz="1400">
                <a:latin typeface="Assistant" pitchFamily="2" charset="-79"/>
                <a:cs typeface="Assistant" pitchFamily="2" charset="-79"/>
              </a:rPr>
              <a:t> </a:t>
            </a:r>
            <a:r>
              <a:rPr lang="en-GB" sz="1400" err="1">
                <a:latin typeface="Assistant" pitchFamily="2" charset="-79"/>
                <a:cs typeface="Assistant" pitchFamily="2" charset="-79"/>
              </a:rPr>
              <a:t>adipiscing</a:t>
            </a:r>
            <a:r>
              <a:rPr lang="en-GB" sz="1400">
                <a:latin typeface="Assistant" pitchFamily="2" charset="-79"/>
                <a:cs typeface="Assistant" pitchFamily="2" charset="-79"/>
              </a:rPr>
              <a:t> </a:t>
            </a:r>
            <a:r>
              <a:rPr lang="en-GB" sz="1400" err="1">
                <a:latin typeface="Assistant" pitchFamily="2" charset="-79"/>
                <a:cs typeface="Assistant" pitchFamily="2" charset="-79"/>
              </a:rPr>
              <a:t>elit</a:t>
            </a:r>
            <a:r>
              <a:rPr lang="en-GB" sz="1400">
                <a:latin typeface="Assistant" pitchFamily="2" charset="-79"/>
                <a:cs typeface="Assistant" pitchFamily="2" charset="-79"/>
              </a:rPr>
              <a:t>, </a:t>
            </a:r>
            <a:r>
              <a:rPr lang="en-GB" sz="1400" err="1">
                <a:latin typeface="Assistant" pitchFamily="2" charset="-79"/>
                <a:cs typeface="Assistant" pitchFamily="2" charset="-79"/>
              </a:rPr>
              <a:t>sed</a:t>
            </a:r>
            <a:r>
              <a:rPr lang="en-GB" sz="1400">
                <a:latin typeface="Assistant" pitchFamily="2" charset="-79"/>
                <a:cs typeface="Assistant" pitchFamily="2" charset="-79"/>
              </a:rPr>
              <a:t> </a:t>
            </a:r>
            <a:r>
              <a:rPr lang="en-GB" sz="1400" err="1">
                <a:latin typeface="Assistant" pitchFamily="2" charset="-79"/>
                <a:cs typeface="Assistant" pitchFamily="2" charset="-79"/>
              </a:rPr>
              <a:t>diam</a:t>
            </a:r>
            <a:r>
              <a:rPr lang="en-GB" sz="1400">
                <a:latin typeface="Assistant" pitchFamily="2" charset="-79"/>
                <a:cs typeface="Assistant" pitchFamily="2" charset="-79"/>
              </a:rPr>
              <a:t> </a:t>
            </a:r>
            <a:r>
              <a:rPr lang="en-GB" sz="1400" err="1">
                <a:latin typeface="Assistant" pitchFamily="2" charset="-79"/>
                <a:cs typeface="Assistant" pitchFamily="2" charset="-79"/>
              </a:rPr>
              <a:t>nommy</a:t>
            </a:r>
            <a:r>
              <a:rPr lang="en-GB" sz="1400">
                <a:latin typeface="Assistant" pitchFamily="2" charset="-79"/>
                <a:cs typeface="Assistant" pitchFamily="2" charset="-79"/>
              </a:rPr>
              <a:t> </a:t>
            </a:r>
            <a:r>
              <a:rPr lang="en-GB" sz="1400" err="1">
                <a:latin typeface="Assistant" pitchFamily="2" charset="-79"/>
                <a:cs typeface="Assistant" pitchFamily="2" charset="-79"/>
              </a:rPr>
              <a:t>nibh</a:t>
            </a:r>
            <a:r>
              <a:rPr lang="en-GB" sz="1400">
                <a:latin typeface="Assistant" pitchFamily="2" charset="-79"/>
                <a:cs typeface="Assistant" pitchFamily="2" charset="-79"/>
              </a:rPr>
              <a:t> </a:t>
            </a:r>
            <a:r>
              <a:rPr lang="en-GB" sz="1400" err="1">
                <a:latin typeface="Assistant" pitchFamily="2" charset="-79"/>
                <a:cs typeface="Assistant" pitchFamily="2" charset="-79"/>
              </a:rPr>
              <a:t>euismod</a:t>
            </a:r>
            <a:r>
              <a:rPr lang="en-GB" sz="1400">
                <a:latin typeface="Assistant" pitchFamily="2" charset="-79"/>
                <a:cs typeface="Assistant" pitchFamily="2" charset="-79"/>
              </a:rPr>
              <a:t> </a:t>
            </a:r>
            <a:r>
              <a:rPr lang="en-GB" sz="1400" err="1">
                <a:latin typeface="Assistant" pitchFamily="2" charset="-79"/>
                <a:cs typeface="Assistant" pitchFamily="2" charset="-79"/>
              </a:rPr>
              <a:t>tincidunt</a:t>
            </a:r>
            <a:r>
              <a:rPr lang="en-GB" sz="1400">
                <a:latin typeface="Assistant" pitchFamily="2" charset="-79"/>
                <a:cs typeface="Assistant" pitchFamily="2" charset="-79"/>
              </a:rPr>
              <a:t> </a:t>
            </a:r>
            <a:r>
              <a:rPr lang="en-GB" sz="1400" err="1">
                <a:latin typeface="Assistant" pitchFamily="2" charset="-79"/>
                <a:cs typeface="Assistant" pitchFamily="2" charset="-79"/>
              </a:rPr>
              <a:t>ut</a:t>
            </a:r>
            <a:r>
              <a:rPr lang="en-GB" sz="1400">
                <a:latin typeface="Assistant" pitchFamily="2" charset="-79"/>
                <a:cs typeface="Assistant" pitchFamily="2" charset="-79"/>
              </a:rPr>
              <a:t> </a:t>
            </a:r>
            <a:r>
              <a:rPr lang="en-GB" sz="1400" err="1">
                <a:latin typeface="Assistant" pitchFamily="2" charset="-79"/>
                <a:cs typeface="Assistant" pitchFamily="2" charset="-79"/>
              </a:rPr>
              <a:t>laoreet</a:t>
            </a:r>
            <a:r>
              <a:rPr lang="en-GB" sz="1400">
                <a:latin typeface="Assistant" pitchFamily="2" charset="-79"/>
                <a:cs typeface="Assistant" pitchFamily="2" charset="-79"/>
              </a:rPr>
              <a:t> dolore magna </a:t>
            </a:r>
            <a:r>
              <a:rPr lang="en-GB" sz="1400" err="1">
                <a:latin typeface="Assistant" pitchFamily="2" charset="-79"/>
                <a:cs typeface="Assistant" pitchFamily="2" charset="-79"/>
              </a:rPr>
              <a:t>aliquam</a:t>
            </a:r>
            <a:r>
              <a:rPr lang="en-GB" sz="1400">
                <a:latin typeface="Assistant" pitchFamily="2" charset="-79"/>
                <a:cs typeface="Assistant" pitchFamily="2" charset="-79"/>
              </a:rPr>
              <a:t> </a:t>
            </a:r>
            <a:r>
              <a:rPr lang="en-GB" sz="1400" err="1">
                <a:latin typeface="Assistant" pitchFamily="2" charset="-79"/>
                <a:cs typeface="Assistant" pitchFamily="2" charset="-79"/>
              </a:rPr>
              <a:t>volutpat</a:t>
            </a:r>
            <a:r>
              <a:rPr lang="en-GB" sz="1400">
                <a:latin typeface="Assistant" pitchFamily="2" charset="-79"/>
                <a:cs typeface="Assistant" pitchFamily="2" charset="-79"/>
              </a:rPr>
              <a:t>. </a:t>
            </a:r>
          </a:p>
        </p:txBody>
      </p:sp>
      <p:pic>
        <p:nvPicPr>
          <p:cNvPr id="12" name="Afbeelding 1">
            <a:extLst>
              <a:ext uri="{FF2B5EF4-FFF2-40B4-BE49-F238E27FC236}">
                <a16:creationId xmlns:a16="http://schemas.microsoft.com/office/drawing/2014/main" id="{071BA0D4-0B93-479D-85E8-08D60C5174D9}"/>
              </a:ext>
            </a:extLst>
          </p:cNvPr>
          <p:cNvPicPr>
            <a:picLocks noChangeAspect="1"/>
          </p:cNvPicPr>
          <p:nvPr userDrawn="1"/>
        </p:nvPicPr>
        <p:blipFill>
          <a:blip r:embed="rId3"/>
          <a:stretch>
            <a:fillRect/>
          </a:stretch>
        </p:blipFill>
        <p:spPr>
          <a:xfrm>
            <a:off x="6071044" y="1925617"/>
            <a:ext cx="191697" cy="191697"/>
          </a:xfrm>
          <a:prstGeom prst="rect">
            <a:avLst/>
          </a:prstGeom>
        </p:spPr>
      </p:pic>
      <p:pic>
        <p:nvPicPr>
          <p:cNvPr id="13" name="Afbeelding 11">
            <a:extLst>
              <a:ext uri="{FF2B5EF4-FFF2-40B4-BE49-F238E27FC236}">
                <a16:creationId xmlns:a16="http://schemas.microsoft.com/office/drawing/2014/main" id="{FA5003EA-07F9-4F25-A16B-DD53E728F814}"/>
              </a:ext>
            </a:extLst>
          </p:cNvPr>
          <p:cNvPicPr>
            <a:picLocks noChangeAspect="1"/>
          </p:cNvPicPr>
          <p:nvPr userDrawn="1"/>
        </p:nvPicPr>
        <p:blipFill>
          <a:blip r:embed="rId3"/>
          <a:stretch>
            <a:fillRect/>
          </a:stretch>
        </p:blipFill>
        <p:spPr>
          <a:xfrm>
            <a:off x="6071044" y="3162746"/>
            <a:ext cx="191697" cy="191697"/>
          </a:xfrm>
          <a:prstGeom prst="rect">
            <a:avLst/>
          </a:prstGeom>
        </p:spPr>
      </p:pic>
      <p:pic>
        <p:nvPicPr>
          <p:cNvPr id="14" name="Afbeelding 12">
            <a:extLst>
              <a:ext uri="{FF2B5EF4-FFF2-40B4-BE49-F238E27FC236}">
                <a16:creationId xmlns:a16="http://schemas.microsoft.com/office/drawing/2014/main" id="{EA323091-C82C-4E4C-90C9-DB5E85A1ACD7}"/>
              </a:ext>
            </a:extLst>
          </p:cNvPr>
          <p:cNvPicPr>
            <a:picLocks noChangeAspect="1"/>
          </p:cNvPicPr>
          <p:nvPr userDrawn="1"/>
        </p:nvPicPr>
        <p:blipFill>
          <a:blip r:embed="rId3"/>
          <a:stretch>
            <a:fillRect/>
          </a:stretch>
        </p:blipFill>
        <p:spPr>
          <a:xfrm>
            <a:off x="6071044" y="4389118"/>
            <a:ext cx="191697" cy="191697"/>
          </a:xfrm>
          <a:prstGeom prst="rect">
            <a:avLst/>
          </a:prstGeom>
        </p:spPr>
      </p:pic>
    </p:spTree>
    <p:extLst>
      <p:ext uri="{BB962C8B-B14F-4D97-AF65-F5344CB8AC3E}">
        <p14:creationId xmlns:p14="http://schemas.microsoft.com/office/powerpoint/2010/main" val="819788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8" name="Tijdelijke aanduiding voor tekst 7">
            <a:extLst>
              <a:ext uri="{FF2B5EF4-FFF2-40B4-BE49-F238E27FC236}">
                <a16:creationId xmlns:a16="http://schemas.microsoft.com/office/drawing/2014/main" id="{FCDD82BE-D135-C544-8C46-204EE67B6B18}"/>
              </a:ext>
            </a:extLst>
          </p:cNvPr>
          <p:cNvSpPr>
            <a:spLocks noGrp="1"/>
          </p:cNvSpPr>
          <p:nvPr>
            <p:ph type="body" sz="quarter" idx="13"/>
          </p:nvPr>
        </p:nvSpPr>
        <p:spPr>
          <a:xfrm>
            <a:off x="5160963" y="1543050"/>
            <a:ext cx="5938837" cy="3602038"/>
          </a:xfrm>
        </p:spPr>
        <p:txBody>
          <a:bodyPr/>
          <a:lstStyle>
            <a:lvl1pPr marL="0" indent="0">
              <a:buNone/>
              <a:defRPr sz="1400" b="0">
                <a:solidFill>
                  <a:schemeClr val="tx2"/>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nl-NL"/>
              <a:t>Klikken om de tekststijl van het model te bewerken</a:t>
            </a:r>
          </a:p>
        </p:txBody>
      </p:sp>
    </p:spTree>
    <p:extLst>
      <p:ext uri="{BB962C8B-B14F-4D97-AF65-F5344CB8AC3E}">
        <p14:creationId xmlns:p14="http://schemas.microsoft.com/office/powerpoint/2010/main" val="19808647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8D6DCD4-D09A-424D-BCF1-10D9CEB389E1}"/>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4" name="Footer Placeholder 3">
            <a:extLst>
              <a:ext uri="{FF2B5EF4-FFF2-40B4-BE49-F238E27FC236}">
                <a16:creationId xmlns:a16="http://schemas.microsoft.com/office/drawing/2014/main" id="{64A81BBE-0237-4A1F-BA6E-13DF7555F8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FC6D35-11CD-4922-8A60-58D2E1AB67C1}"/>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4180169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8" name="Tijdelijke aanduiding voor tekst 7">
            <a:extLst>
              <a:ext uri="{FF2B5EF4-FFF2-40B4-BE49-F238E27FC236}">
                <a16:creationId xmlns:a16="http://schemas.microsoft.com/office/drawing/2014/main" id="{21866999-EA1A-5D4E-A54C-32B05219E46F}"/>
              </a:ext>
            </a:extLst>
          </p:cNvPr>
          <p:cNvSpPr>
            <a:spLocks noGrp="1"/>
          </p:cNvSpPr>
          <p:nvPr>
            <p:ph type="body" sz="quarter" idx="13" hasCustomPrompt="1"/>
          </p:nvPr>
        </p:nvSpPr>
        <p:spPr>
          <a:xfrm>
            <a:off x="7429114" y="1700647"/>
            <a:ext cx="3334964" cy="3559268"/>
          </a:xfrm>
        </p:spPr>
        <p:txBody>
          <a:bodyPr/>
          <a:lstStyle>
            <a:lvl1pPr marL="0" indent="0">
              <a:lnSpc>
                <a:spcPct val="100000"/>
              </a:lnSpc>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a:t>Click </a:t>
            </a:r>
            <a:r>
              <a:rPr lang="nl-NL" err="1"/>
              <a:t>to</a:t>
            </a:r>
            <a:r>
              <a:rPr lang="nl-NL"/>
              <a:t> </a:t>
            </a:r>
            <a:r>
              <a:rPr lang="nl-NL" err="1"/>
              <a:t>edit</a:t>
            </a:r>
            <a:endParaRPr lang="nl-NL"/>
          </a:p>
        </p:txBody>
      </p:sp>
    </p:spTree>
    <p:extLst>
      <p:ext uri="{BB962C8B-B14F-4D97-AF65-F5344CB8AC3E}">
        <p14:creationId xmlns:p14="http://schemas.microsoft.com/office/powerpoint/2010/main" val="31885820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169670" y="2022475"/>
            <a:ext cx="4602480" cy="1325563"/>
          </a:xfrm>
        </p:spPr>
        <p:txBody>
          <a:bodyPr/>
          <a:lstStyle/>
          <a:p>
            <a:r>
              <a:rPr lang="en-US"/>
              <a:t>Click to edit Master title style</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pic>
        <p:nvPicPr>
          <p:cNvPr id="12" name="Afbeelding 1">
            <a:extLst>
              <a:ext uri="{FF2B5EF4-FFF2-40B4-BE49-F238E27FC236}">
                <a16:creationId xmlns:a16="http://schemas.microsoft.com/office/drawing/2014/main" id="{071BA0D4-0B93-479D-85E8-08D60C5174D9}"/>
              </a:ext>
            </a:extLst>
          </p:cNvPr>
          <p:cNvPicPr>
            <a:picLocks noChangeAspect="1"/>
          </p:cNvPicPr>
          <p:nvPr userDrawn="1"/>
        </p:nvPicPr>
        <p:blipFill>
          <a:blip r:embed="rId3"/>
          <a:stretch>
            <a:fillRect/>
          </a:stretch>
        </p:blipFill>
        <p:spPr>
          <a:xfrm>
            <a:off x="6071044" y="1925617"/>
            <a:ext cx="191697" cy="191697"/>
          </a:xfrm>
          <a:prstGeom prst="rect">
            <a:avLst/>
          </a:prstGeom>
        </p:spPr>
      </p:pic>
      <p:pic>
        <p:nvPicPr>
          <p:cNvPr id="13" name="Afbeelding 11">
            <a:extLst>
              <a:ext uri="{FF2B5EF4-FFF2-40B4-BE49-F238E27FC236}">
                <a16:creationId xmlns:a16="http://schemas.microsoft.com/office/drawing/2014/main" id="{FA5003EA-07F9-4F25-A16B-DD53E728F814}"/>
              </a:ext>
            </a:extLst>
          </p:cNvPr>
          <p:cNvPicPr>
            <a:picLocks noChangeAspect="1"/>
          </p:cNvPicPr>
          <p:nvPr userDrawn="1"/>
        </p:nvPicPr>
        <p:blipFill>
          <a:blip r:embed="rId3"/>
          <a:stretch>
            <a:fillRect/>
          </a:stretch>
        </p:blipFill>
        <p:spPr>
          <a:xfrm>
            <a:off x="6071044" y="3162746"/>
            <a:ext cx="191697" cy="191697"/>
          </a:xfrm>
          <a:prstGeom prst="rect">
            <a:avLst/>
          </a:prstGeom>
        </p:spPr>
      </p:pic>
      <p:pic>
        <p:nvPicPr>
          <p:cNvPr id="14" name="Afbeelding 12">
            <a:extLst>
              <a:ext uri="{FF2B5EF4-FFF2-40B4-BE49-F238E27FC236}">
                <a16:creationId xmlns:a16="http://schemas.microsoft.com/office/drawing/2014/main" id="{EA323091-C82C-4E4C-90C9-DB5E85A1ACD7}"/>
              </a:ext>
            </a:extLst>
          </p:cNvPr>
          <p:cNvPicPr>
            <a:picLocks noChangeAspect="1"/>
          </p:cNvPicPr>
          <p:nvPr userDrawn="1"/>
        </p:nvPicPr>
        <p:blipFill>
          <a:blip r:embed="rId3"/>
          <a:stretch>
            <a:fillRect/>
          </a:stretch>
        </p:blipFill>
        <p:spPr>
          <a:xfrm>
            <a:off x="6071044" y="4389118"/>
            <a:ext cx="191697" cy="191697"/>
          </a:xfrm>
          <a:prstGeom prst="rect">
            <a:avLst/>
          </a:prstGeom>
        </p:spPr>
      </p:pic>
      <p:sp>
        <p:nvSpPr>
          <p:cNvPr id="15" name="Tijdelijke aanduiding voor tekst 8">
            <a:extLst>
              <a:ext uri="{FF2B5EF4-FFF2-40B4-BE49-F238E27FC236}">
                <a16:creationId xmlns:a16="http://schemas.microsoft.com/office/drawing/2014/main" id="{4E29CA66-CB24-0949-A555-88562E362190}"/>
              </a:ext>
            </a:extLst>
          </p:cNvPr>
          <p:cNvSpPr>
            <a:spLocks noGrp="1"/>
          </p:cNvSpPr>
          <p:nvPr>
            <p:ph type="body" sz="quarter" idx="13" hasCustomPrompt="1"/>
          </p:nvPr>
        </p:nvSpPr>
        <p:spPr>
          <a:xfrm>
            <a:off x="6419852" y="1858211"/>
            <a:ext cx="4602478" cy="924746"/>
          </a:xfrm>
        </p:spPr>
        <p:txBody>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a:t>Click </a:t>
            </a:r>
            <a:r>
              <a:rPr lang="nl-NL" err="1"/>
              <a:t>to</a:t>
            </a:r>
            <a:r>
              <a:rPr lang="nl-NL"/>
              <a:t> </a:t>
            </a:r>
            <a:r>
              <a:rPr lang="nl-NL" err="1"/>
              <a:t>edit</a:t>
            </a:r>
            <a:endParaRPr lang="nl-NL"/>
          </a:p>
        </p:txBody>
      </p:sp>
      <p:sp>
        <p:nvSpPr>
          <p:cNvPr id="16" name="Tijdelijke aanduiding voor tekst 8">
            <a:extLst>
              <a:ext uri="{FF2B5EF4-FFF2-40B4-BE49-F238E27FC236}">
                <a16:creationId xmlns:a16="http://schemas.microsoft.com/office/drawing/2014/main" id="{0C5C2877-54AF-AF42-BEE7-797EFC63260E}"/>
              </a:ext>
            </a:extLst>
          </p:cNvPr>
          <p:cNvSpPr>
            <a:spLocks noGrp="1"/>
          </p:cNvSpPr>
          <p:nvPr>
            <p:ph type="body" sz="quarter" idx="14" hasCustomPrompt="1"/>
          </p:nvPr>
        </p:nvSpPr>
        <p:spPr>
          <a:xfrm>
            <a:off x="6419852" y="3100603"/>
            <a:ext cx="4602478" cy="924746"/>
          </a:xfrm>
        </p:spPr>
        <p:txBody>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a:t>Click </a:t>
            </a:r>
            <a:r>
              <a:rPr lang="nl-NL" err="1"/>
              <a:t>to</a:t>
            </a:r>
            <a:r>
              <a:rPr lang="nl-NL"/>
              <a:t> </a:t>
            </a:r>
            <a:r>
              <a:rPr lang="nl-NL" err="1"/>
              <a:t>edit</a:t>
            </a:r>
            <a:endParaRPr lang="nl-NL"/>
          </a:p>
        </p:txBody>
      </p:sp>
      <p:sp>
        <p:nvSpPr>
          <p:cNvPr id="17" name="Tijdelijke aanduiding voor tekst 8">
            <a:extLst>
              <a:ext uri="{FF2B5EF4-FFF2-40B4-BE49-F238E27FC236}">
                <a16:creationId xmlns:a16="http://schemas.microsoft.com/office/drawing/2014/main" id="{2E443700-FF5F-1A4A-95F6-0E656D4F8628}"/>
              </a:ext>
            </a:extLst>
          </p:cNvPr>
          <p:cNvSpPr>
            <a:spLocks noGrp="1"/>
          </p:cNvSpPr>
          <p:nvPr>
            <p:ph type="body" sz="quarter" idx="15" hasCustomPrompt="1"/>
          </p:nvPr>
        </p:nvSpPr>
        <p:spPr>
          <a:xfrm>
            <a:off x="6419852" y="4326938"/>
            <a:ext cx="4602478" cy="924746"/>
          </a:xfrm>
        </p:spPr>
        <p:txBody>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a:t>Click </a:t>
            </a:r>
            <a:r>
              <a:rPr lang="nl-NL" err="1"/>
              <a:t>to</a:t>
            </a:r>
            <a:r>
              <a:rPr lang="nl-NL"/>
              <a:t> </a:t>
            </a:r>
            <a:r>
              <a:rPr lang="nl-NL" err="1"/>
              <a:t>edit</a:t>
            </a:r>
            <a:endParaRPr lang="nl-NL"/>
          </a:p>
        </p:txBody>
      </p:sp>
    </p:spTree>
    <p:extLst>
      <p:ext uri="{BB962C8B-B14F-4D97-AF65-F5344CB8AC3E}">
        <p14:creationId xmlns:p14="http://schemas.microsoft.com/office/powerpoint/2010/main" val="819788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8" name="Tijdelijke aanduiding voor tekst 7">
            <a:extLst>
              <a:ext uri="{FF2B5EF4-FFF2-40B4-BE49-F238E27FC236}">
                <a16:creationId xmlns:a16="http://schemas.microsoft.com/office/drawing/2014/main" id="{FCDD82BE-D135-C544-8C46-204EE67B6B18}"/>
              </a:ext>
            </a:extLst>
          </p:cNvPr>
          <p:cNvSpPr>
            <a:spLocks noGrp="1"/>
          </p:cNvSpPr>
          <p:nvPr>
            <p:ph type="body" sz="quarter" idx="13" hasCustomPrompt="1"/>
          </p:nvPr>
        </p:nvSpPr>
        <p:spPr>
          <a:xfrm>
            <a:off x="5160963" y="1543050"/>
            <a:ext cx="5938837" cy="3602038"/>
          </a:xfrm>
        </p:spPr>
        <p:txBody>
          <a:bodyPr/>
          <a:lstStyle>
            <a:lvl1pPr marL="0" indent="0">
              <a:buNone/>
              <a:defRPr sz="1400" b="0">
                <a:solidFill>
                  <a:schemeClr val="tx2"/>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edit</a:t>
            </a:r>
            <a:endParaRPr lang="nl-NL"/>
          </a:p>
        </p:txBody>
      </p:sp>
    </p:spTree>
    <p:extLst>
      <p:ext uri="{BB962C8B-B14F-4D97-AF65-F5344CB8AC3E}">
        <p14:creationId xmlns:p14="http://schemas.microsoft.com/office/powerpoint/2010/main" val="19808647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8D6DCD4-D09A-424D-BCF1-10D9CEB389E1}"/>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4" name="Footer Placeholder 3">
            <a:extLst>
              <a:ext uri="{FF2B5EF4-FFF2-40B4-BE49-F238E27FC236}">
                <a16:creationId xmlns:a16="http://schemas.microsoft.com/office/drawing/2014/main" id="{64A81BBE-0237-4A1F-BA6E-13DF7555F8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FC6D35-11CD-4922-8A60-58D2E1AB67C1}"/>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6" name="Title 1">
            <a:extLst>
              <a:ext uri="{FF2B5EF4-FFF2-40B4-BE49-F238E27FC236}">
                <a16:creationId xmlns:a16="http://schemas.microsoft.com/office/drawing/2014/main" id="{5692AEA3-9819-8946-A9C8-BDDE9DB69499}"/>
              </a:ext>
            </a:extLst>
          </p:cNvPr>
          <p:cNvSpPr>
            <a:spLocks noGrp="1"/>
          </p:cNvSpPr>
          <p:nvPr>
            <p:ph type="title" hasCustomPrompt="1"/>
          </p:nvPr>
        </p:nvSpPr>
        <p:spPr>
          <a:xfrm>
            <a:off x="623980" y="2821303"/>
            <a:ext cx="3034539" cy="1325563"/>
          </a:xfrm>
        </p:spPr>
        <p:txBody>
          <a:bodyPr/>
          <a:lstStyle>
            <a:lvl1pPr>
              <a:defRPr/>
            </a:lvl1pPr>
          </a:lstStyle>
          <a:p>
            <a:r>
              <a:rPr lang="en-US"/>
              <a:t>Let’s stay</a:t>
            </a:r>
            <a:br>
              <a:rPr lang="en-US"/>
            </a:br>
            <a:r>
              <a:rPr lang="en-US"/>
              <a:t>in touch</a:t>
            </a:r>
          </a:p>
        </p:txBody>
      </p:sp>
      <p:sp>
        <p:nvSpPr>
          <p:cNvPr id="8" name="Tijdelijke aanduiding voor tekst 7">
            <a:extLst>
              <a:ext uri="{FF2B5EF4-FFF2-40B4-BE49-F238E27FC236}">
                <a16:creationId xmlns:a16="http://schemas.microsoft.com/office/drawing/2014/main" id="{D7EA6672-B697-1F45-B601-485816F12E4D}"/>
              </a:ext>
            </a:extLst>
          </p:cNvPr>
          <p:cNvSpPr>
            <a:spLocks noGrp="1"/>
          </p:cNvSpPr>
          <p:nvPr>
            <p:ph type="body" sz="quarter" idx="13" hasCustomPrompt="1"/>
          </p:nvPr>
        </p:nvSpPr>
        <p:spPr>
          <a:xfrm>
            <a:off x="6441850" y="2411300"/>
            <a:ext cx="3334964" cy="454071"/>
          </a:xfrm>
        </p:spPr>
        <p:txBody>
          <a:bodyPr/>
          <a:lstStyle>
            <a:lvl1pPr marL="0" indent="0">
              <a:lnSpc>
                <a:spcPct val="100000"/>
              </a:lnSpc>
              <a:buNone/>
              <a:defRPr sz="1400" baseline="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err="1"/>
              <a:t>www.eScienceCenter.nl</a:t>
            </a:r>
            <a:endParaRPr lang="nl-NL"/>
          </a:p>
        </p:txBody>
      </p:sp>
      <p:sp>
        <p:nvSpPr>
          <p:cNvPr id="9" name="Tijdelijke aanduiding voor tekst 7">
            <a:extLst>
              <a:ext uri="{FF2B5EF4-FFF2-40B4-BE49-F238E27FC236}">
                <a16:creationId xmlns:a16="http://schemas.microsoft.com/office/drawing/2014/main" id="{8044E8D2-73A1-754B-A79F-38C8566011BC}"/>
              </a:ext>
            </a:extLst>
          </p:cNvPr>
          <p:cNvSpPr>
            <a:spLocks noGrp="1"/>
          </p:cNvSpPr>
          <p:nvPr>
            <p:ph type="body" sz="quarter" idx="14" hasCustomPrompt="1"/>
          </p:nvPr>
        </p:nvSpPr>
        <p:spPr>
          <a:xfrm>
            <a:off x="6441850" y="3138788"/>
            <a:ext cx="3334964" cy="454071"/>
          </a:xfrm>
        </p:spPr>
        <p:txBody>
          <a:bodyPr/>
          <a:lstStyle>
            <a:lvl1pPr marL="0" indent="0">
              <a:lnSpc>
                <a:spcPct val="100000"/>
              </a:lnSpc>
              <a:buNone/>
              <a:defRPr sz="1400" baseline="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err="1"/>
              <a:t>info@esciencecenter.com</a:t>
            </a:r>
            <a:endParaRPr lang="nl-NL"/>
          </a:p>
        </p:txBody>
      </p:sp>
      <p:sp>
        <p:nvSpPr>
          <p:cNvPr id="10" name="Tijdelijke aanduiding voor tekst 7">
            <a:extLst>
              <a:ext uri="{FF2B5EF4-FFF2-40B4-BE49-F238E27FC236}">
                <a16:creationId xmlns:a16="http://schemas.microsoft.com/office/drawing/2014/main" id="{5F583079-5811-6140-9BA6-DF65FDE8673E}"/>
              </a:ext>
            </a:extLst>
          </p:cNvPr>
          <p:cNvSpPr>
            <a:spLocks noGrp="1"/>
          </p:cNvSpPr>
          <p:nvPr>
            <p:ph type="body" sz="quarter" idx="15" hasCustomPrompt="1"/>
          </p:nvPr>
        </p:nvSpPr>
        <p:spPr>
          <a:xfrm>
            <a:off x="6441850" y="3865901"/>
            <a:ext cx="3334964" cy="454071"/>
          </a:xfrm>
        </p:spPr>
        <p:txBody>
          <a:bodyPr/>
          <a:lstStyle>
            <a:lvl1pPr marL="0" indent="0">
              <a:lnSpc>
                <a:spcPct val="100000"/>
              </a:lnSpc>
              <a:buNone/>
              <a:defRPr sz="1400" baseline="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a:t>+31 (0)20 460 4770</a:t>
            </a:r>
          </a:p>
        </p:txBody>
      </p:sp>
    </p:spTree>
    <p:extLst>
      <p:ext uri="{BB962C8B-B14F-4D97-AF65-F5344CB8AC3E}">
        <p14:creationId xmlns:p14="http://schemas.microsoft.com/office/powerpoint/2010/main" val="41801693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59200" y="1715169"/>
            <a:ext cx="11073600" cy="3427663"/>
          </a:xfrm>
        </p:spPr>
        <p:txBody>
          <a:bodyPr/>
          <a:lstStyle>
            <a:lvl1pPr algn="ctr">
              <a:defRPr sz="4267">
                <a:solidFill>
                  <a:schemeClr val="tx1"/>
                </a:solidFill>
                <a:latin typeface="Akkurat-Bold" panose="02000803000000000000" pitchFamily="2" charset="0"/>
              </a:defRPr>
            </a:lvl1pPr>
          </a:lstStyle>
          <a:p>
            <a:r>
              <a:rPr lang="en-US"/>
              <a:t>Click to edit Master title style</a:t>
            </a:r>
          </a:p>
        </p:txBody>
      </p:sp>
      <p:pic>
        <p:nvPicPr>
          <p:cNvPr id="4" name="Picture 3" descr="ESCIENCE_logo_C_nl_cyanblack.png">
            <a:extLst>
              <a:ext uri="{FF2B5EF4-FFF2-40B4-BE49-F238E27FC236}">
                <a16:creationId xmlns:a16="http://schemas.microsoft.com/office/drawing/2014/main" id="{7326BE33-CE5E-4493-B6B5-6A3FB6DBC62D}"/>
              </a:ext>
            </a:extLst>
          </p:cNvPr>
          <p:cNvPicPr>
            <a:picLocks noChangeAspect="1"/>
          </p:cNvPicPr>
          <p:nvPr userDrawn="1"/>
        </p:nvPicPr>
        <p:blipFill>
          <a:blip r:embed="rId2"/>
          <a:stretch>
            <a:fillRect/>
          </a:stretch>
        </p:blipFill>
        <p:spPr>
          <a:xfrm>
            <a:off x="719403" y="6501342"/>
            <a:ext cx="1152128" cy="271903"/>
          </a:xfrm>
          <a:prstGeom prst="rect">
            <a:avLst/>
          </a:prstGeom>
        </p:spPr>
      </p:pic>
    </p:spTree>
    <p:extLst>
      <p:ext uri="{BB962C8B-B14F-4D97-AF65-F5344CB8AC3E}">
        <p14:creationId xmlns:p14="http://schemas.microsoft.com/office/powerpoint/2010/main" val="3424039007"/>
      </p:ext>
    </p:extLst>
  </p:cSld>
  <p:clrMapOvr>
    <a:masterClrMapping/>
  </p:clrMapOvr>
  <p:transition>
    <p:cu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Medium text with header">
    <p:bg>
      <p:bgPr>
        <a:solidFill>
          <a:schemeClr val="bg1"/>
        </a:solidFill>
        <a:effectLst/>
      </p:bgPr>
    </p:bg>
    <p:spTree>
      <p:nvGrpSpPr>
        <p:cNvPr id="1" name=""/>
        <p:cNvGrpSpPr/>
        <p:nvPr/>
      </p:nvGrpSpPr>
      <p:grpSpPr>
        <a:xfrm>
          <a:off x="0" y="0"/>
          <a:ext cx="0" cy="0"/>
          <a:chOff x="0" y="0"/>
          <a:chExt cx="0" cy="0"/>
        </a:xfrm>
      </p:grpSpPr>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cxnSp>
        <p:nvCxnSpPr>
          <p:cNvPr id="7" name="Straight Connector 6">
            <a:extLst>
              <a:ext uri="{FF2B5EF4-FFF2-40B4-BE49-F238E27FC236}">
                <a16:creationId xmlns:a16="http://schemas.microsoft.com/office/drawing/2014/main" id="{41E626E8-D0CA-9D4B-A8F0-9FE2A5905959}"/>
              </a:ext>
            </a:extLst>
          </p:cNvPr>
          <p:cNvCxnSpPr/>
          <p:nvPr userDrawn="1"/>
        </p:nvCxnSpPr>
        <p:spPr>
          <a:xfrm>
            <a:off x="461169" y="524934"/>
            <a:ext cx="1126834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4" name="Title 3">
            <a:extLst>
              <a:ext uri="{FF2B5EF4-FFF2-40B4-BE49-F238E27FC236}">
                <a16:creationId xmlns:a16="http://schemas.microsoft.com/office/drawing/2014/main" id="{A7F04793-DE86-4CF0-866B-E3594B5BFD30}"/>
              </a:ext>
            </a:extLst>
          </p:cNvPr>
          <p:cNvSpPr>
            <a:spLocks noGrp="1"/>
          </p:cNvSpPr>
          <p:nvPr>
            <p:ph type="title"/>
          </p:nvPr>
        </p:nvSpPr>
        <p:spPr>
          <a:xfrm>
            <a:off x="479874" y="175696"/>
            <a:ext cx="11249635" cy="349238"/>
          </a:xfrm>
          <a:prstGeom prst="rect">
            <a:avLst/>
          </a:prstGeom>
        </p:spPr>
        <p:txBody>
          <a:bodyPr/>
          <a:lstStyle>
            <a:lvl1pPr algn="l">
              <a:defRPr sz="1600">
                <a:latin typeface="+mj-lt"/>
              </a:defRPr>
            </a:lvl1pPr>
          </a:lstStyle>
          <a:p>
            <a:r>
              <a:rPr lang="en-US"/>
              <a:t>Click to edit Master title style</a:t>
            </a:r>
          </a:p>
        </p:txBody>
      </p:sp>
      <p:sp>
        <p:nvSpPr>
          <p:cNvPr id="12" name="Text Placeholder 11">
            <a:extLst>
              <a:ext uri="{FF2B5EF4-FFF2-40B4-BE49-F238E27FC236}">
                <a16:creationId xmlns:a16="http://schemas.microsoft.com/office/drawing/2014/main" id="{5C569B7D-9644-4087-BD0D-3A5E54D138C3}"/>
              </a:ext>
            </a:extLst>
          </p:cNvPr>
          <p:cNvSpPr>
            <a:spLocks noGrp="1"/>
          </p:cNvSpPr>
          <p:nvPr>
            <p:ph type="body" sz="quarter" idx="10"/>
          </p:nvPr>
        </p:nvSpPr>
        <p:spPr>
          <a:xfrm>
            <a:off x="479873" y="1476756"/>
            <a:ext cx="11247783" cy="4360069"/>
          </a:xfrm>
          <a:prstGeom prst="rect">
            <a:avLst/>
          </a:prstGeom>
        </p:spPr>
        <p:txBody>
          <a:bodyPr/>
          <a:lstStyle>
            <a:lvl1pPr marL="305594" indent="-305594">
              <a:buFont typeface="Akkurat-Light" panose="02000303000000000000" pitchFamily="2" charset="0"/>
              <a:buChar char="•"/>
              <a:defRPr/>
            </a:lvl1pPr>
            <a:lvl2pPr marL="527844" indent="-305594">
              <a:buFont typeface="Akkurat-Light" panose="02000303000000000000" pitchFamily="2" charset="0"/>
              <a:buChar char="•"/>
              <a:defRPr/>
            </a:lvl2pPr>
            <a:lvl3pPr marL="750094" indent="-305594">
              <a:buFont typeface="Akkurat-Light" panose="02000303000000000000" pitchFamily="2" charset="0"/>
              <a:buChar char="•"/>
              <a:defRPr/>
            </a:lvl3pPr>
            <a:lvl4pPr marL="972344" indent="-305594">
              <a:buFont typeface="Akkurat-Light" panose="02000303000000000000" pitchFamily="2" charset="0"/>
              <a:buChar char="•"/>
              <a:defRPr/>
            </a:lvl4pPr>
            <a:lvl5pPr marL="1194594" indent="-305594">
              <a:buFont typeface="Akkurat-Light" panose="02000303000000000000" pitchFamily="2" charset="0"/>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37716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D075BC-29B4-E964-7135-7E35B29251F5}"/>
              </a:ext>
            </a:extLst>
          </p:cNvPr>
          <p:cNvSpPr>
            <a:spLocks noGrp="1"/>
          </p:cNvSpPr>
          <p:nvPr>
            <p:ph type="sldNum" idx="10"/>
          </p:nvPr>
        </p:nvSpPr>
        <p:spPr/>
        <p:txBody>
          <a:bodyPr/>
          <a:lstStyle>
            <a:lvl1pPr>
              <a:defRPr/>
            </a:lvl1pPr>
          </a:lstStyle>
          <a:p>
            <a:fld id="{72A2FF43-B4A8-4375-B275-59890A5E66DF}" type="slidenum">
              <a:rPr lang="en-NL" altLang="en-NL"/>
              <a:pPr/>
              <a:t>‹#›</a:t>
            </a:fld>
            <a:endParaRPr lang="en-NL" altLang="en-NL"/>
          </a:p>
        </p:txBody>
      </p:sp>
    </p:spTree>
    <p:extLst>
      <p:ext uri="{BB962C8B-B14F-4D97-AF65-F5344CB8AC3E}">
        <p14:creationId xmlns:p14="http://schemas.microsoft.com/office/powerpoint/2010/main" val="18136469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02_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pic>
        <p:nvPicPr>
          <p:cNvPr id="7" name="Picture 6" descr="A yellow and white letter e  Description automatically generated">
            <a:extLst>
              <a:ext uri="{FF2B5EF4-FFF2-40B4-BE49-F238E27FC236}">
                <a16:creationId xmlns:a16="http://schemas.microsoft.com/office/drawing/2014/main" id="{DC1B9318-F3BF-DDC5-D911-C74CB6E69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642513"/>
            <a:ext cx="869950" cy="905925"/>
          </a:xfrm>
          <a:prstGeom prst="rect">
            <a:avLst/>
          </a:prstGeom>
        </p:spPr>
      </p:pic>
      <p:sp>
        <p:nvSpPr>
          <p:cNvPr id="2" name="Title 1">
            <a:extLst>
              <a:ext uri="{FF2B5EF4-FFF2-40B4-BE49-F238E27FC236}">
                <a16:creationId xmlns:a16="http://schemas.microsoft.com/office/drawing/2014/main" id="{1E0BA00E-110C-6A67-830C-1E04BFAABABD}"/>
              </a:ext>
            </a:extLst>
          </p:cNvPr>
          <p:cNvSpPr>
            <a:spLocks noGrp="1"/>
          </p:cNvSpPr>
          <p:nvPr>
            <p:ph type="title"/>
          </p:nvPr>
        </p:nvSpPr>
        <p:spPr>
          <a:xfrm>
            <a:off x="834445" y="923364"/>
            <a:ext cx="10519354" cy="902261"/>
          </a:xfrm>
        </p:spPr>
        <p:txBody>
          <a:bodyPr/>
          <a:lstStyle>
            <a:lvl1pPr>
              <a:defRPr>
                <a:solidFill>
                  <a:schemeClr val="accent2"/>
                </a:solidFill>
              </a:defRPr>
            </a:lvl1pPr>
          </a:lstStyle>
          <a:p>
            <a:r>
              <a:rPr lang="en-US"/>
              <a:t>Click to edit Master title style</a:t>
            </a:r>
          </a:p>
        </p:txBody>
      </p:sp>
    </p:spTree>
    <p:extLst>
      <p:ext uri="{BB962C8B-B14F-4D97-AF65-F5344CB8AC3E}">
        <p14:creationId xmlns:p14="http://schemas.microsoft.com/office/powerpoint/2010/main" val="2564652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953DF0-B3E3-4CA0-901B-3E9940F70D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F47C2B6-AE5B-4C95-AFBB-4E4C0CAEA11F}"/>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9343F-3D17-496B-B837-C1FFB896E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30EFB-AB28-4A68-9CF2-24FEA7CF3D98}" type="datetimeFigureOut">
              <a:rPr lang="en-US" smtClean="0"/>
              <a:t>5/7/26</a:t>
            </a:fld>
            <a:endParaRPr lang="en-US"/>
          </a:p>
        </p:txBody>
      </p:sp>
      <p:sp>
        <p:nvSpPr>
          <p:cNvPr id="5" name="Footer Placeholder 4">
            <a:extLst>
              <a:ext uri="{FF2B5EF4-FFF2-40B4-BE49-F238E27FC236}">
                <a16:creationId xmlns:a16="http://schemas.microsoft.com/office/drawing/2014/main" id="{9F8C3BB4-6034-4D3F-9DBD-013180527E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31F1FB-D371-4F1E-A37C-3BD40CF8FC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F0EB9D-8EC8-4EF4-9A95-65EE5F6F83A2}" type="slidenum">
              <a:rPr lang="en-US" smtClean="0"/>
              <a:t>‹#›</a:t>
            </a:fld>
            <a:endParaRPr lang="en-US"/>
          </a:p>
        </p:txBody>
      </p:sp>
    </p:spTree>
    <p:extLst>
      <p:ext uri="{BB962C8B-B14F-4D97-AF65-F5344CB8AC3E}">
        <p14:creationId xmlns:p14="http://schemas.microsoft.com/office/powerpoint/2010/main" val="11646047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84" r:id="rId3"/>
    <p:sldLayoutId id="2147483685" r:id="rId4"/>
    <p:sldLayoutId id="2147483686" r:id="rId5"/>
    <p:sldLayoutId id="2147483662" r:id="rId6"/>
    <p:sldLayoutId id="2147483667" r:id="rId7"/>
    <p:sldLayoutId id="2147483663" r:id="rId8"/>
    <p:sldLayoutId id="2147483650" r:id="rId9"/>
    <p:sldLayoutId id="2147483671" r:id="rId10"/>
    <p:sldLayoutId id="2147483670" r:id="rId11"/>
    <p:sldLayoutId id="2147483661" r:id="rId12"/>
    <p:sldLayoutId id="2147483664" r:id="rId13"/>
    <p:sldLayoutId id="2147483687" r:id="rId14"/>
    <p:sldLayoutId id="2147483688" r:id="rId15"/>
    <p:sldLayoutId id="2147483689" r:id="rId16"/>
    <p:sldLayoutId id="2147483690" r:id="rId17"/>
    <p:sldLayoutId id="2147483668" r:id="rId18"/>
    <p:sldLayoutId id="2147483665" r:id="rId19"/>
    <p:sldLayoutId id="2147483669" r:id="rId20"/>
    <p:sldLayoutId id="2147483666" r:id="rId21"/>
    <p:sldLayoutId id="2147483672" r:id="rId22"/>
    <p:sldLayoutId id="2147483674" r:id="rId23"/>
    <p:sldLayoutId id="2147483675" r:id="rId24"/>
    <p:sldLayoutId id="2147483691" r:id="rId2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sv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hyperlink" Target="https://github.com/X-lab-3D/swiftmhc-inference" TargetMode="External"/><Relationship Id="rId5" Type="http://schemas.openxmlformats.org/officeDocument/2006/relationships/image" Target="../media/image22.png"/><Relationship Id="rId4" Type="http://schemas.openxmlformats.org/officeDocument/2006/relationships/hyperlink" Target="https://doi.org/10.1016/j.crmeth.2026.101364"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16/j.crmeth.2026.101364" TargetMode="External"/><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hyperlink" Target="https://github.com/X-lab-3D/swiftmhc-inferenc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5.xml"/><Relationship Id="rId4" Type="http://schemas.openxmlformats.org/officeDocument/2006/relationships/hyperlink" Target="https://ui.perfetto.dev/"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5.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230B2-4301-77D0-A2F4-3613155B403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449E1FF-870E-FCAB-3C34-9F687EFDF98E}"/>
              </a:ext>
            </a:extLst>
          </p:cNvPr>
          <p:cNvSpPr>
            <a:spLocks noGrp="1"/>
          </p:cNvSpPr>
          <p:nvPr>
            <p:ph type="ctrTitle"/>
          </p:nvPr>
        </p:nvSpPr>
        <p:spPr>
          <a:xfrm>
            <a:off x="2005491" y="2553418"/>
            <a:ext cx="7934569" cy="1233516"/>
          </a:xfrm>
        </p:spPr>
        <p:txBody>
          <a:bodyPr/>
          <a:lstStyle/>
          <a:p>
            <a:r>
              <a:rPr lang="en-GB" sz="4600" dirty="0"/>
              <a:t>Scaling </a:t>
            </a:r>
            <a:r>
              <a:rPr lang="en-GB" sz="4600" dirty="0" err="1"/>
              <a:t>SwiftMHC</a:t>
            </a:r>
            <a:r>
              <a:rPr lang="en-GB" sz="4600" dirty="0"/>
              <a:t> Training: </a:t>
            </a:r>
            <a:br>
              <a:rPr lang="en-GB" dirty="0"/>
            </a:br>
            <a:r>
              <a:rPr lang="en-GB" sz="2000" dirty="0"/>
              <a:t>A 100× Speedup Through Systematic Pipeline Optimisation</a:t>
            </a:r>
          </a:p>
        </p:txBody>
      </p:sp>
      <p:sp>
        <p:nvSpPr>
          <p:cNvPr id="3" name="Ondertitel 2">
            <a:extLst>
              <a:ext uri="{FF2B5EF4-FFF2-40B4-BE49-F238E27FC236}">
                <a16:creationId xmlns:a16="http://schemas.microsoft.com/office/drawing/2014/main" id="{44F3B4F6-953A-9C87-7527-5356044E2E58}"/>
              </a:ext>
            </a:extLst>
          </p:cNvPr>
          <p:cNvSpPr>
            <a:spLocks noGrp="1"/>
          </p:cNvSpPr>
          <p:nvPr>
            <p:ph type="subTitle" idx="1"/>
          </p:nvPr>
        </p:nvSpPr>
        <p:spPr>
          <a:xfrm>
            <a:off x="2501481" y="4594496"/>
            <a:ext cx="7237742" cy="1840809"/>
          </a:xfrm>
        </p:spPr>
        <p:txBody>
          <a:bodyPr vert="horz" lIns="91440" tIns="45720" rIns="91440" bIns="45720" rtlCol="0" anchor="t">
            <a:noAutofit/>
          </a:bodyPr>
          <a:lstStyle/>
          <a:p>
            <a:r>
              <a:rPr lang="en-GB" b="1" dirty="0">
                <a:cs typeface="Assistant"/>
              </a:rPr>
              <a:t>Cunliang Geng</a:t>
            </a:r>
          </a:p>
          <a:p>
            <a:r>
              <a:rPr lang="en-GB" sz="2000" dirty="0">
                <a:cs typeface="Assistant"/>
              </a:rPr>
              <a:t>AI SIG | 2026-05-07</a:t>
            </a:r>
          </a:p>
        </p:txBody>
      </p:sp>
    </p:spTree>
    <p:extLst>
      <p:ext uri="{BB962C8B-B14F-4D97-AF65-F5344CB8AC3E}">
        <p14:creationId xmlns:p14="http://schemas.microsoft.com/office/powerpoint/2010/main" val="1737959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F52E-69D2-D53F-26E0-6D002BBB166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06AFFB2-9647-DD92-0E2E-AD40EC772625}"/>
              </a:ext>
            </a:extLst>
          </p:cNvPr>
          <p:cNvSpPr>
            <a:spLocks noGrp="1"/>
          </p:cNvSpPr>
          <p:nvPr>
            <p:ph type="ctrTitle"/>
          </p:nvPr>
        </p:nvSpPr>
        <p:spPr>
          <a:xfrm>
            <a:off x="2005491" y="2553418"/>
            <a:ext cx="7934569" cy="1233516"/>
          </a:xfrm>
        </p:spPr>
        <p:txBody>
          <a:bodyPr/>
          <a:lstStyle/>
          <a:p>
            <a:r>
              <a:rPr lang="en-GB" sz="4600"/>
              <a:t>Finding the Bottleneck in PyTorch Training</a:t>
            </a:r>
            <a:br>
              <a:rPr lang="en-GB"/>
            </a:br>
            <a:r>
              <a:rPr lang="en-GB" sz="2000"/>
              <a:t>No guesswork: measure first, optimise second</a:t>
            </a:r>
          </a:p>
        </p:txBody>
      </p:sp>
      <p:sp>
        <p:nvSpPr>
          <p:cNvPr id="6" name="Ondertitel 2">
            <a:extLst>
              <a:ext uri="{FF2B5EF4-FFF2-40B4-BE49-F238E27FC236}">
                <a16:creationId xmlns:a16="http://schemas.microsoft.com/office/drawing/2014/main" id="{01F6E95F-9852-0039-F4D8-17E96F350DC6}"/>
              </a:ext>
            </a:extLst>
          </p:cNvPr>
          <p:cNvSpPr>
            <a:spLocks noGrp="1"/>
          </p:cNvSpPr>
          <p:nvPr>
            <p:ph type="subTitle" idx="1"/>
          </p:nvPr>
        </p:nvSpPr>
        <p:spPr>
          <a:xfrm>
            <a:off x="2501481" y="4594496"/>
            <a:ext cx="7237742" cy="1840809"/>
          </a:xfrm>
        </p:spPr>
        <p:txBody>
          <a:bodyPr vert="horz" lIns="91440" tIns="45720" rIns="91440" bIns="45720" rtlCol="0" anchor="t">
            <a:noAutofit/>
          </a:bodyPr>
          <a:lstStyle/>
          <a:p>
            <a:r>
              <a:rPr lang="en-GB" b="1" dirty="0">
                <a:cs typeface="Assistant"/>
              </a:rPr>
              <a:t>Cunliang Geng</a:t>
            </a:r>
          </a:p>
          <a:p>
            <a:r>
              <a:rPr lang="en-GB" sz="2000" dirty="0">
                <a:cs typeface="Assistant"/>
              </a:rPr>
              <a:t>AI SIG | 2026-05-07</a:t>
            </a:r>
          </a:p>
        </p:txBody>
      </p:sp>
    </p:spTree>
    <p:extLst>
      <p:ext uri="{BB962C8B-B14F-4D97-AF65-F5344CB8AC3E}">
        <p14:creationId xmlns:p14="http://schemas.microsoft.com/office/powerpoint/2010/main" val="300724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24E9-237B-965F-F33B-DFD7284AC08A}"/>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13CC7F96-D1E5-D46C-F0DC-5161B276094F}"/>
              </a:ext>
            </a:extLst>
          </p:cNvPr>
          <p:cNvPicPr>
            <a:picLocks noChangeAspect="1"/>
          </p:cNvPicPr>
          <p:nvPr/>
        </p:nvPicPr>
        <p:blipFill>
          <a:blip r:embed="rId3"/>
          <a:stretch>
            <a:fillRect/>
          </a:stretch>
        </p:blipFill>
        <p:spPr>
          <a:xfrm>
            <a:off x="5188941" y="1495496"/>
            <a:ext cx="6279497" cy="4921657"/>
          </a:xfrm>
          <a:prstGeom prst="rect">
            <a:avLst/>
          </a:prstGeom>
        </p:spPr>
      </p:pic>
      <p:sp>
        <p:nvSpPr>
          <p:cNvPr id="2" name="Title 1">
            <a:extLst>
              <a:ext uri="{FF2B5EF4-FFF2-40B4-BE49-F238E27FC236}">
                <a16:creationId xmlns:a16="http://schemas.microsoft.com/office/drawing/2014/main" id="{50DFCC7C-928E-A4AA-1F37-D15B9CFDD929}"/>
              </a:ext>
            </a:extLst>
          </p:cNvPr>
          <p:cNvSpPr>
            <a:spLocks noGrp="1"/>
          </p:cNvSpPr>
          <p:nvPr>
            <p:ph type="title"/>
          </p:nvPr>
        </p:nvSpPr>
        <p:spPr>
          <a:xfrm>
            <a:off x="838200" y="91141"/>
            <a:ext cx="10515600" cy="1325563"/>
          </a:xfrm>
        </p:spPr>
        <p:txBody>
          <a:bodyPr/>
          <a:lstStyle/>
          <a:p>
            <a:pPr algn="ctr"/>
            <a:r>
              <a:rPr lang="en-NL" sz="4000" dirty="0"/>
              <a:t>TCR-peptide-MHC complex </a:t>
            </a:r>
            <a:br>
              <a:rPr lang="en-NL" sz="4000" dirty="0"/>
            </a:br>
            <a:r>
              <a:rPr lang="en-NL" sz="4000" dirty="0"/>
              <a:t>critical to immune system</a:t>
            </a:r>
          </a:p>
        </p:txBody>
      </p:sp>
      <p:pic>
        <p:nvPicPr>
          <p:cNvPr id="4" name="Picture 3">
            <a:extLst>
              <a:ext uri="{FF2B5EF4-FFF2-40B4-BE49-F238E27FC236}">
                <a16:creationId xmlns:a16="http://schemas.microsoft.com/office/drawing/2014/main" id="{720D1350-6BED-88AA-A19A-0E2502FC90F7}"/>
              </a:ext>
            </a:extLst>
          </p:cNvPr>
          <p:cNvPicPr>
            <a:picLocks noChangeAspect="1"/>
          </p:cNvPicPr>
          <p:nvPr/>
        </p:nvPicPr>
        <p:blipFill>
          <a:blip r:embed="rId4"/>
          <a:srcRect r="38056"/>
          <a:stretch>
            <a:fillRect/>
          </a:stretch>
        </p:blipFill>
        <p:spPr>
          <a:xfrm>
            <a:off x="954623" y="1564233"/>
            <a:ext cx="3676246" cy="4852920"/>
          </a:xfrm>
          <a:prstGeom prst="rect">
            <a:avLst/>
          </a:prstGeom>
        </p:spPr>
      </p:pic>
      <p:sp>
        <p:nvSpPr>
          <p:cNvPr id="5" name="TextBox 4">
            <a:extLst>
              <a:ext uri="{FF2B5EF4-FFF2-40B4-BE49-F238E27FC236}">
                <a16:creationId xmlns:a16="http://schemas.microsoft.com/office/drawing/2014/main" id="{61540980-B6D3-91AF-F107-BDAF210467A4}"/>
              </a:ext>
            </a:extLst>
          </p:cNvPr>
          <p:cNvSpPr txBox="1"/>
          <p:nvPr/>
        </p:nvSpPr>
        <p:spPr>
          <a:xfrm>
            <a:off x="3055411" y="6417153"/>
            <a:ext cx="1604927" cy="276999"/>
          </a:xfrm>
          <a:prstGeom prst="rect">
            <a:avLst/>
          </a:prstGeom>
          <a:noFill/>
        </p:spPr>
        <p:txBody>
          <a:bodyPr wrap="none" rtlCol="0">
            <a:spAutoFit/>
          </a:bodyPr>
          <a:lstStyle/>
          <a:p>
            <a:r>
              <a:rPr lang="en-GB" sz="1200">
                <a:solidFill>
                  <a:schemeClr val="bg1">
                    <a:lumMod val="75000"/>
                  </a:schemeClr>
                </a:solidFill>
              </a:rPr>
              <a:t>Source: </a:t>
            </a:r>
            <a:r>
              <a:rPr lang="en-GB" sz="1200" err="1">
                <a:solidFill>
                  <a:schemeClr val="bg1">
                    <a:lumMod val="75000"/>
                  </a:schemeClr>
                </a:solidFill>
              </a:rPr>
              <a:t>www.imgt.org</a:t>
            </a:r>
            <a:endParaRPr lang="en-NL" sz="1200">
              <a:solidFill>
                <a:schemeClr val="bg1">
                  <a:lumMod val="75000"/>
                </a:schemeClr>
              </a:solidFill>
            </a:endParaRPr>
          </a:p>
        </p:txBody>
      </p:sp>
      <p:sp>
        <p:nvSpPr>
          <p:cNvPr id="16" name="Rounded Rectangle 15">
            <a:extLst>
              <a:ext uri="{FF2B5EF4-FFF2-40B4-BE49-F238E27FC236}">
                <a16:creationId xmlns:a16="http://schemas.microsoft.com/office/drawing/2014/main" id="{7D549C10-516C-4C8A-45C8-070575DAA99F}"/>
              </a:ext>
            </a:extLst>
          </p:cNvPr>
          <p:cNvSpPr/>
          <p:nvPr/>
        </p:nvSpPr>
        <p:spPr>
          <a:xfrm>
            <a:off x="2378766" y="1416704"/>
            <a:ext cx="1981200" cy="1914940"/>
          </a:xfrm>
          <a:prstGeom prst="roundRect">
            <a:avLst/>
          </a:prstGeom>
          <a:noFill/>
          <a:ln>
            <a:solidFill>
              <a:schemeClr val="bg1">
                <a:lumMod val="65000"/>
              </a:schemeClr>
            </a:solidFill>
            <a:prstDash val="sysDash"/>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NL"/>
          </a:p>
        </p:txBody>
      </p:sp>
      <p:cxnSp>
        <p:nvCxnSpPr>
          <p:cNvPr id="8" name="Straight Connector 7">
            <a:extLst>
              <a:ext uri="{FF2B5EF4-FFF2-40B4-BE49-F238E27FC236}">
                <a16:creationId xmlns:a16="http://schemas.microsoft.com/office/drawing/2014/main" id="{16A0CACE-45CE-1974-9259-01A5C5195359}"/>
              </a:ext>
            </a:extLst>
          </p:cNvPr>
          <p:cNvCxnSpPr>
            <a:cxnSpLocks/>
          </p:cNvCxnSpPr>
          <p:nvPr/>
        </p:nvCxnSpPr>
        <p:spPr>
          <a:xfrm flipV="1">
            <a:off x="4359966" y="1485441"/>
            <a:ext cx="1424143" cy="184795"/>
          </a:xfrm>
          <a:prstGeom prst="line">
            <a:avLst/>
          </a:prstGeom>
          <a:ln w="19050">
            <a:solidFill>
              <a:schemeClr val="bg1">
                <a:lumMod val="65000"/>
              </a:schemeClr>
            </a:solidFill>
            <a:prstDash val="sysDot"/>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29C13EFC-17CD-AC97-1DB7-A017130CF816}"/>
              </a:ext>
            </a:extLst>
          </p:cNvPr>
          <p:cNvCxnSpPr>
            <a:cxnSpLocks/>
          </p:cNvCxnSpPr>
          <p:nvPr/>
        </p:nvCxnSpPr>
        <p:spPr>
          <a:xfrm>
            <a:off x="4366831" y="3071004"/>
            <a:ext cx="1328640" cy="2690430"/>
          </a:xfrm>
          <a:prstGeom prst="line">
            <a:avLst/>
          </a:prstGeom>
          <a:ln w="19050">
            <a:solidFill>
              <a:schemeClr val="bg1">
                <a:lumMod val="65000"/>
              </a:schemeClr>
            </a:solidFill>
            <a:prstDash val="sysDot"/>
          </a:ln>
        </p:spPr>
        <p:style>
          <a:lnRef idx="1">
            <a:schemeClr val="accent2"/>
          </a:lnRef>
          <a:fillRef idx="0">
            <a:schemeClr val="accent2"/>
          </a:fillRef>
          <a:effectRef idx="0">
            <a:schemeClr val="accent2"/>
          </a:effectRef>
          <a:fontRef idx="minor">
            <a:schemeClr val="tx1"/>
          </a:fontRef>
        </p:style>
      </p:cxnSp>
      <p:sp>
        <p:nvSpPr>
          <p:cNvPr id="24" name="Rounded Rectangle 23">
            <a:extLst>
              <a:ext uri="{FF2B5EF4-FFF2-40B4-BE49-F238E27FC236}">
                <a16:creationId xmlns:a16="http://schemas.microsoft.com/office/drawing/2014/main" id="{BFE7AC2A-3B2A-5E17-8AF2-FC4DBF0C648B}"/>
              </a:ext>
            </a:extLst>
          </p:cNvPr>
          <p:cNvSpPr/>
          <p:nvPr/>
        </p:nvSpPr>
        <p:spPr>
          <a:xfrm>
            <a:off x="4481257" y="2258572"/>
            <a:ext cx="664029" cy="73866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TextBox 28">
            <a:extLst>
              <a:ext uri="{FF2B5EF4-FFF2-40B4-BE49-F238E27FC236}">
                <a16:creationId xmlns:a16="http://schemas.microsoft.com/office/drawing/2014/main" id="{EC3DC648-78D0-B64C-63E0-4557190E0F7A}"/>
              </a:ext>
            </a:extLst>
          </p:cNvPr>
          <p:cNvSpPr txBox="1"/>
          <p:nvPr/>
        </p:nvSpPr>
        <p:spPr>
          <a:xfrm>
            <a:off x="8650514" y="6355598"/>
            <a:ext cx="3077029" cy="338554"/>
          </a:xfrm>
          <a:prstGeom prst="rect">
            <a:avLst/>
          </a:prstGeom>
          <a:noFill/>
        </p:spPr>
        <p:txBody>
          <a:bodyPr wrap="square" rtlCol="0">
            <a:spAutoFit/>
          </a:bodyPr>
          <a:lstStyle/>
          <a:p>
            <a:r>
              <a:rPr lang="en-GB" sz="1600" b="1">
                <a:solidFill>
                  <a:schemeClr val="tx1">
                    <a:lumMod val="50000"/>
                    <a:lumOff val="50000"/>
                  </a:schemeClr>
                </a:solidFill>
              </a:rPr>
              <a:t>M</a:t>
            </a:r>
            <a:r>
              <a:rPr lang="en-GB" sz="1600">
                <a:solidFill>
                  <a:schemeClr val="tx1">
                    <a:lumMod val="50000"/>
                    <a:lumOff val="50000"/>
                  </a:schemeClr>
                </a:solidFill>
              </a:rPr>
              <a:t>ajor </a:t>
            </a:r>
            <a:r>
              <a:rPr lang="en-GB" sz="1600" b="1">
                <a:solidFill>
                  <a:schemeClr val="tx1">
                    <a:lumMod val="50000"/>
                    <a:lumOff val="50000"/>
                  </a:schemeClr>
                </a:solidFill>
              </a:rPr>
              <a:t>H</a:t>
            </a:r>
            <a:r>
              <a:rPr lang="en-GB" sz="1600">
                <a:solidFill>
                  <a:schemeClr val="tx1">
                    <a:lumMod val="50000"/>
                    <a:lumOff val="50000"/>
                  </a:schemeClr>
                </a:solidFill>
              </a:rPr>
              <a:t>istocompatibility </a:t>
            </a:r>
            <a:r>
              <a:rPr lang="en-GB" sz="1600" b="1">
                <a:solidFill>
                  <a:schemeClr val="tx1">
                    <a:lumMod val="50000"/>
                    <a:lumOff val="50000"/>
                  </a:schemeClr>
                </a:solidFill>
              </a:rPr>
              <a:t>C</a:t>
            </a:r>
            <a:r>
              <a:rPr lang="en-GB" sz="1600">
                <a:solidFill>
                  <a:schemeClr val="tx1">
                    <a:lumMod val="50000"/>
                    <a:lumOff val="50000"/>
                  </a:schemeClr>
                </a:solidFill>
              </a:rPr>
              <a:t>omplex</a:t>
            </a:r>
            <a:endParaRPr lang="en-GB" sz="1600" b="1">
              <a:solidFill>
                <a:schemeClr val="tx1">
                  <a:lumMod val="50000"/>
                  <a:lumOff val="50000"/>
                </a:schemeClr>
              </a:solidFill>
            </a:endParaRPr>
          </a:p>
        </p:txBody>
      </p:sp>
      <p:pic>
        <p:nvPicPr>
          <p:cNvPr id="3" name="Picture 2">
            <a:extLst>
              <a:ext uri="{FF2B5EF4-FFF2-40B4-BE49-F238E27FC236}">
                <a16:creationId xmlns:a16="http://schemas.microsoft.com/office/drawing/2014/main" id="{99BE9A44-C5F6-0278-BEA3-90A6DF57C6B9}"/>
              </a:ext>
            </a:extLst>
          </p:cNvPr>
          <p:cNvPicPr>
            <a:picLocks noChangeAspect="1"/>
          </p:cNvPicPr>
          <p:nvPr/>
        </p:nvPicPr>
        <p:blipFill>
          <a:blip r:embed="rId5"/>
          <a:stretch>
            <a:fillRect/>
          </a:stretch>
        </p:blipFill>
        <p:spPr>
          <a:xfrm>
            <a:off x="7926108" y="1529864"/>
            <a:ext cx="3519077" cy="4852920"/>
          </a:xfrm>
          <a:prstGeom prst="rect">
            <a:avLst/>
          </a:prstGeom>
        </p:spPr>
      </p:pic>
    </p:spTree>
    <p:extLst>
      <p:ext uri="{BB962C8B-B14F-4D97-AF65-F5344CB8AC3E}">
        <p14:creationId xmlns:p14="http://schemas.microsoft.com/office/powerpoint/2010/main" val="338574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77D0D1D6-2430-A74A-925B-A068C0B22D58}"/>
              </a:ext>
            </a:extLst>
          </p:cNvPr>
          <p:cNvPicPr>
            <a:picLocks noChangeAspect="1"/>
          </p:cNvPicPr>
          <p:nvPr/>
        </p:nvPicPr>
        <p:blipFill>
          <a:blip r:embed="rId3"/>
          <a:stretch>
            <a:fillRect/>
          </a:stretch>
        </p:blipFill>
        <p:spPr>
          <a:xfrm>
            <a:off x="6192842" y="1955801"/>
            <a:ext cx="4977906" cy="4120289"/>
          </a:xfrm>
          <a:prstGeom prst="rect">
            <a:avLst/>
          </a:prstGeom>
        </p:spPr>
      </p:pic>
      <p:sp>
        <p:nvSpPr>
          <p:cNvPr id="5" name="Title 1">
            <a:extLst>
              <a:ext uri="{FF2B5EF4-FFF2-40B4-BE49-F238E27FC236}">
                <a16:creationId xmlns:a16="http://schemas.microsoft.com/office/drawing/2014/main" id="{8E5D6E89-B1D1-5091-D31D-3596841BAC66}"/>
              </a:ext>
            </a:extLst>
          </p:cNvPr>
          <p:cNvSpPr>
            <a:spLocks noGrp="1"/>
          </p:cNvSpPr>
          <p:nvPr>
            <p:ph type="title"/>
          </p:nvPr>
        </p:nvSpPr>
        <p:spPr>
          <a:xfrm>
            <a:off x="838200" y="91141"/>
            <a:ext cx="10515600" cy="1325563"/>
          </a:xfrm>
        </p:spPr>
        <p:txBody>
          <a:bodyPr/>
          <a:lstStyle/>
          <a:p>
            <a:pPr algn="ctr"/>
            <a:r>
              <a:rPr lang="en-NL" sz="4000"/>
              <a:t>Predicting peptide strongly binding to MHC critical to vaccine design</a:t>
            </a:r>
          </a:p>
        </p:txBody>
      </p:sp>
      <p:pic>
        <p:nvPicPr>
          <p:cNvPr id="6" name="Picture 5">
            <a:extLst>
              <a:ext uri="{FF2B5EF4-FFF2-40B4-BE49-F238E27FC236}">
                <a16:creationId xmlns:a16="http://schemas.microsoft.com/office/drawing/2014/main" id="{9A8016D8-89D9-2DFA-5FE9-959DFF531E2A}"/>
              </a:ext>
            </a:extLst>
          </p:cNvPr>
          <p:cNvPicPr>
            <a:picLocks noChangeAspect="1"/>
          </p:cNvPicPr>
          <p:nvPr/>
        </p:nvPicPr>
        <p:blipFill>
          <a:blip r:embed="rId4"/>
          <a:stretch>
            <a:fillRect/>
          </a:stretch>
        </p:blipFill>
        <p:spPr>
          <a:xfrm>
            <a:off x="1191632" y="1539828"/>
            <a:ext cx="3519077" cy="4852920"/>
          </a:xfrm>
          <a:prstGeom prst="rect">
            <a:avLst/>
          </a:prstGeom>
        </p:spPr>
      </p:pic>
      <p:cxnSp>
        <p:nvCxnSpPr>
          <p:cNvPr id="9" name="Straight Connector 8">
            <a:extLst>
              <a:ext uri="{FF2B5EF4-FFF2-40B4-BE49-F238E27FC236}">
                <a16:creationId xmlns:a16="http://schemas.microsoft.com/office/drawing/2014/main" id="{F09B6002-825B-BEE5-2D60-89AACA8035B0}"/>
              </a:ext>
            </a:extLst>
          </p:cNvPr>
          <p:cNvCxnSpPr>
            <a:cxnSpLocks/>
          </p:cNvCxnSpPr>
          <p:nvPr/>
        </p:nvCxnSpPr>
        <p:spPr>
          <a:xfrm flipV="1">
            <a:off x="3447535" y="2143897"/>
            <a:ext cx="2922373" cy="1872049"/>
          </a:xfrm>
          <a:prstGeom prst="line">
            <a:avLst/>
          </a:prstGeom>
          <a:ln w="19050">
            <a:solidFill>
              <a:schemeClr val="bg1">
                <a:lumMod val="65000"/>
              </a:schemeClr>
            </a:solidFill>
            <a:prstDash val="sysDot"/>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4ED46BA0-61ED-8766-B0CD-2AED774DF344}"/>
              </a:ext>
            </a:extLst>
          </p:cNvPr>
          <p:cNvCxnSpPr>
            <a:cxnSpLocks/>
          </p:cNvCxnSpPr>
          <p:nvPr/>
        </p:nvCxnSpPr>
        <p:spPr>
          <a:xfrm>
            <a:off x="3564924" y="4744995"/>
            <a:ext cx="2804984" cy="1331095"/>
          </a:xfrm>
          <a:prstGeom prst="line">
            <a:avLst/>
          </a:prstGeom>
          <a:ln w="19050">
            <a:solidFill>
              <a:schemeClr val="bg1">
                <a:lumMod val="65000"/>
              </a:schemeClr>
            </a:solidFill>
            <a:prstDash val="sys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22272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AF58D-EC79-9666-D7E7-D4FE854D5A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C6DF15-0545-703C-74EB-C0C6AB618706}"/>
              </a:ext>
            </a:extLst>
          </p:cNvPr>
          <p:cNvPicPr>
            <a:picLocks noChangeAspect="1"/>
          </p:cNvPicPr>
          <p:nvPr/>
        </p:nvPicPr>
        <p:blipFill>
          <a:blip r:embed="rId3"/>
          <a:srcRect b="11697"/>
          <a:stretch>
            <a:fillRect/>
          </a:stretch>
        </p:blipFill>
        <p:spPr>
          <a:xfrm>
            <a:off x="3364171" y="3484786"/>
            <a:ext cx="5837571" cy="2578823"/>
          </a:xfrm>
          <a:prstGeom prst="rect">
            <a:avLst/>
          </a:prstGeom>
        </p:spPr>
      </p:pic>
      <p:sp>
        <p:nvSpPr>
          <p:cNvPr id="6" name="TextBox 5">
            <a:extLst>
              <a:ext uri="{FF2B5EF4-FFF2-40B4-BE49-F238E27FC236}">
                <a16:creationId xmlns:a16="http://schemas.microsoft.com/office/drawing/2014/main" id="{1C665DB1-A92C-EF78-6790-80BE7B19D462}"/>
              </a:ext>
            </a:extLst>
          </p:cNvPr>
          <p:cNvSpPr txBox="1"/>
          <p:nvPr/>
        </p:nvSpPr>
        <p:spPr>
          <a:xfrm>
            <a:off x="8688082" y="6473497"/>
            <a:ext cx="3510898" cy="369332"/>
          </a:xfrm>
          <a:prstGeom prst="rect">
            <a:avLst/>
          </a:prstGeom>
          <a:noFill/>
        </p:spPr>
        <p:txBody>
          <a:bodyPr wrap="none" rtlCol="0">
            <a:spAutoFit/>
          </a:bodyPr>
          <a:lstStyle/>
          <a:p>
            <a:r>
              <a:rPr lang="en-GB" dirty="0">
                <a:solidFill>
                  <a:schemeClr val="bg1">
                    <a:lumMod val="50000"/>
                  </a:schemeClr>
                </a:solidFill>
              </a:rPr>
              <a:t>DOI: </a:t>
            </a:r>
            <a:r>
              <a:rPr lang="en-GB" dirty="0">
                <a:solidFill>
                  <a:schemeClr val="bg1">
                    <a:lumMod val="50000"/>
                  </a:schemeClr>
                </a:solidFill>
                <a:hlinkClick r:id="rId4">
                  <a:extLst>
                    <a:ext uri="{A12FA001-AC4F-418D-AE19-62706E023703}">
                      <ahyp:hlinkClr xmlns:ahyp="http://schemas.microsoft.com/office/drawing/2018/hyperlinkcolor" val="tx"/>
                    </a:ext>
                  </a:extLst>
                </a:hlinkClick>
              </a:rPr>
              <a:t>10.1016/j.crmeth.2026.101364 </a:t>
            </a:r>
            <a:endParaRPr lang="en-NL" dirty="0">
              <a:solidFill>
                <a:schemeClr val="bg1">
                  <a:lumMod val="50000"/>
                </a:schemeClr>
              </a:solidFill>
            </a:endParaRPr>
          </a:p>
        </p:txBody>
      </p:sp>
      <p:pic>
        <p:nvPicPr>
          <p:cNvPr id="8" name="Picture 7">
            <a:extLst>
              <a:ext uri="{FF2B5EF4-FFF2-40B4-BE49-F238E27FC236}">
                <a16:creationId xmlns:a16="http://schemas.microsoft.com/office/drawing/2014/main" id="{47A5FFB8-CD1E-F529-9EC6-D0667F9DCF15}"/>
              </a:ext>
            </a:extLst>
          </p:cNvPr>
          <p:cNvPicPr>
            <a:picLocks noChangeAspect="1"/>
          </p:cNvPicPr>
          <p:nvPr/>
        </p:nvPicPr>
        <p:blipFill>
          <a:blip r:embed="rId5"/>
          <a:srcRect l="1349" t="58055" r="16491" b="7663"/>
          <a:stretch>
            <a:fillRect/>
          </a:stretch>
        </p:blipFill>
        <p:spPr>
          <a:xfrm>
            <a:off x="2933541" y="1233027"/>
            <a:ext cx="6548284" cy="1880419"/>
          </a:xfrm>
          <a:prstGeom prst="rect">
            <a:avLst/>
          </a:prstGeom>
        </p:spPr>
      </p:pic>
      <p:sp>
        <p:nvSpPr>
          <p:cNvPr id="9" name="Title 1">
            <a:extLst>
              <a:ext uri="{FF2B5EF4-FFF2-40B4-BE49-F238E27FC236}">
                <a16:creationId xmlns:a16="http://schemas.microsoft.com/office/drawing/2014/main" id="{FA73695D-4159-103C-070A-E9D49C688D97}"/>
              </a:ext>
            </a:extLst>
          </p:cNvPr>
          <p:cNvSpPr>
            <a:spLocks noGrp="1"/>
          </p:cNvSpPr>
          <p:nvPr>
            <p:ph type="title"/>
          </p:nvPr>
        </p:nvSpPr>
        <p:spPr>
          <a:xfrm>
            <a:off x="838200" y="91141"/>
            <a:ext cx="10515600" cy="1325563"/>
          </a:xfrm>
        </p:spPr>
        <p:txBody>
          <a:bodyPr/>
          <a:lstStyle/>
          <a:p>
            <a:pPr algn="ctr"/>
            <a:r>
              <a:rPr lang="en-NL" sz="4000"/>
              <a:t>SwiftMHC</a:t>
            </a:r>
          </a:p>
        </p:txBody>
      </p:sp>
      <p:sp>
        <p:nvSpPr>
          <p:cNvPr id="10" name="TextBox 9">
            <a:extLst>
              <a:ext uri="{FF2B5EF4-FFF2-40B4-BE49-F238E27FC236}">
                <a16:creationId xmlns:a16="http://schemas.microsoft.com/office/drawing/2014/main" id="{F1DAFE1C-ECA2-594A-073E-28E941532012}"/>
              </a:ext>
            </a:extLst>
          </p:cNvPr>
          <p:cNvSpPr txBox="1"/>
          <p:nvPr/>
        </p:nvSpPr>
        <p:spPr>
          <a:xfrm>
            <a:off x="9156122" y="6136661"/>
            <a:ext cx="2924198" cy="369332"/>
          </a:xfrm>
          <a:prstGeom prst="rect">
            <a:avLst/>
          </a:prstGeom>
          <a:noFill/>
        </p:spPr>
        <p:txBody>
          <a:bodyPr wrap="square" rtlCol="0">
            <a:spAutoFit/>
          </a:bodyPr>
          <a:lstStyle/>
          <a:p>
            <a:r>
              <a:rPr lang="en-GB">
                <a:solidFill>
                  <a:schemeClr val="tx1">
                    <a:lumMod val="50000"/>
                    <a:lumOff val="50000"/>
                  </a:schemeClr>
                </a:solidFill>
                <a:hlinkClick r:id="rId6">
                  <a:extLst>
                    <a:ext uri="{A12FA001-AC4F-418D-AE19-62706E023703}">
                      <ahyp:hlinkClr xmlns:ahyp="http://schemas.microsoft.com/office/drawing/2018/hyperlinkcolor" val="tx"/>
                    </a:ext>
                  </a:extLst>
                </a:hlinkClick>
              </a:rPr>
              <a:t>X-lab-3D/</a:t>
            </a:r>
            <a:r>
              <a:rPr lang="en-GB" err="1">
                <a:solidFill>
                  <a:schemeClr val="tx1">
                    <a:lumMod val="50000"/>
                    <a:lumOff val="50000"/>
                  </a:schemeClr>
                </a:solidFill>
                <a:hlinkClick r:id="rId6">
                  <a:extLst>
                    <a:ext uri="{A12FA001-AC4F-418D-AE19-62706E023703}">
                      <ahyp:hlinkClr xmlns:ahyp="http://schemas.microsoft.com/office/drawing/2018/hyperlinkcolor" val="tx"/>
                    </a:ext>
                  </a:extLst>
                </a:hlinkClick>
              </a:rPr>
              <a:t>swiftmhc</a:t>
            </a:r>
            <a:r>
              <a:rPr lang="en-GB">
                <a:solidFill>
                  <a:schemeClr val="tx1">
                    <a:lumMod val="50000"/>
                    <a:lumOff val="50000"/>
                  </a:schemeClr>
                </a:solidFill>
                <a:hlinkClick r:id="rId6">
                  <a:extLst>
                    <a:ext uri="{A12FA001-AC4F-418D-AE19-62706E023703}">
                      <ahyp:hlinkClr xmlns:ahyp="http://schemas.microsoft.com/office/drawing/2018/hyperlinkcolor" val="tx"/>
                    </a:ext>
                  </a:extLst>
                </a:hlinkClick>
              </a:rPr>
              <a:t>-inference</a:t>
            </a:r>
            <a:endParaRPr lang="en-NL">
              <a:solidFill>
                <a:schemeClr val="tx1">
                  <a:lumMod val="50000"/>
                  <a:lumOff val="50000"/>
                </a:schemeClr>
              </a:solidFill>
            </a:endParaRPr>
          </a:p>
        </p:txBody>
      </p:sp>
      <p:pic>
        <p:nvPicPr>
          <p:cNvPr id="11" name="Graphic 10">
            <a:extLst>
              <a:ext uri="{FF2B5EF4-FFF2-40B4-BE49-F238E27FC236}">
                <a16:creationId xmlns:a16="http://schemas.microsoft.com/office/drawing/2014/main" id="{5E589336-A2D0-FEA4-5508-8ECCE62ABFC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56745" y="6195399"/>
            <a:ext cx="264477" cy="264477"/>
          </a:xfrm>
          <a:prstGeom prst="rect">
            <a:avLst/>
          </a:prstGeom>
        </p:spPr>
      </p:pic>
      <p:pic>
        <p:nvPicPr>
          <p:cNvPr id="12" name="Picture 11">
            <a:extLst>
              <a:ext uri="{FF2B5EF4-FFF2-40B4-BE49-F238E27FC236}">
                <a16:creationId xmlns:a16="http://schemas.microsoft.com/office/drawing/2014/main" id="{61846F94-7380-FDDE-3AF7-477BD2D28BF2}"/>
              </a:ext>
            </a:extLst>
          </p:cNvPr>
          <p:cNvPicPr>
            <a:picLocks noChangeAspect="1"/>
          </p:cNvPicPr>
          <p:nvPr/>
        </p:nvPicPr>
        <p:blipFill>
          <a:blip r:embed="rId8"/>
          <a:stretch>
            <a:fillRect/>
          </a:stretch>
        </p:blipFill>
        <p:spPr>
          <a:xfrm>
            <a:off x="5766210" y="1020547"/>
            <a:ext cx="442861" cy="454830"/>
          </a:xfrm>
          <a:prstGeom prst="rect">
            <a:avLst/>
          </a:prstGeom>
        </p:spPr>
      </p:pic>
      <p:sp>
        <p:nvSpPr>
          <p:cNvPr id="2" name="TextBox 1">
            <a:extLst>
              <a:ext uri="{FF2B5EF4-FFF2-40B4-BE49-F238E27FC236}">
                <a16:creationId xmlns:a16="http://schemas.microsoft.com/office/drawing/2014/main" id="{5DE9ED54-00E1-33B3-23AF-0392BF296387}"/>
              </a:ext>
            </a:extLst>
          </p:cNvPr>
          <p:cNvSpPr txBox="1"/>
          <p:nvPr/>
        </p:nvSpPr>
        <p:spPr>
          <a:xfrm>
            <a:off x="3749612" y="6195399"/>
            <a:ext cx="3560590" cy="400110"/>
          </a:xfrm>
          <a:prstGeom prst="rect">
            <a:avLst/>
          </a:prstGeom>
          <a:noFill/>
        </p:spPr>
        <p:txBody>
          <a:bodyPr wrap="none" rtlCol="0">
            <a:spAutoFit/>
          </a:bodyPr>
          <a:lstStyle/>
          <a:p>
            <a:pPr algn="ctr"/>
            <a:r>
              <a:rPr lang="en-NL" sz="2000" i="1" dirty="0">
                <a:solidFill>
                  <a:schemeClr val="tx1">
                    <a:lumMod val="65000"/>
                    <a:lumOff val="35000"/>
                  </a:schemeClr>
                </a:solidFill>
              </a:rPr>
              <a:t>Colab is available for quick start</a:t>
            </a:r>
          </a:p>
        </p:txBody>
      </p:sp>
      <p:sp>
        <p:nvSpPr>
          <p:cNvPr id="4" name="TextBox 3">
            <a:extLst>
              <a:ext uri="{FF2B5EF4-FFF2-40B4-BE49-F238E27FC236}">
                <a16:creationId xmlns:a16="http://schemas.microsoft.com/office/drawing/2014/main" id="{A1970018-4B1F-756B-A85F-5B6842042F66}"/>
              </a:ext>
            </a:extLst>
          </p:cNvPr>
          <p:cNvSpPr txBox="1"/>
          <p:nvPr/>
        </p:nvSpPr>
        <p:spPr>
          <a:xfrm>
            <a:off x="0" y="6573410"/>
            <a:ext cx="8568371" cy="307777"/>
          </a:xfrm>
          <a:prstGeom prst="rect">
            <a:avLst/>
          </a:prstGeom>
          <a:noFill/>
        </p:spPr>
        <p:txBody>
          <a:bodyPr wrap="none" rtlCol="0">
            <a:spAutoFit/>
          </a:bodyPr>
          <a:lstStyle/>
          <a:p>
            <a:r>
              <a:rPr lang="en-GB" sz="1400" i="1" dirty="0"/>
              <a:t>https://</a:t>
            </a:r>
            <a:r>
              <a:rPr lang="en-GB" sz="1400" i="1" dirty="0" err="1"/>
              <a:t>colab.research.google.com</a:t>
            </a:r>
            <a:r>
              <a:rPr lang="en-GB" sz="1400" i="1" dirty="0"/>
              <a:t>/</a:t>
            </a:r>
            <a:r>
              <a:rPr lang="en-GB" sz="1400" i="1" dirty="0" err="1"/>
              <a:t>github</a:t>
            </a:r>
            <a:r>
              <a:rPr lang="en-GB" sz="1400" i="1" dirty="0"/>
              <a:t>/X-lab-3D/</a:t>
            </a:r>
            <a:r>
              <a:rPr lang="en-GB" sz="1400" i="1" dirty="0" err="1"/>
              <a:t>swiftmhc</a:t>
            </a:r>
            <a:r>
              <a:rPr lang="en-GB" sz="1400" i="1" dirty="0"/>
              <a:t>-inference/blob/main/</a:t>
            </a:r>
            <a:r>
              <a:rPr lang="en-GB" sz="1400" i="1" dirty="0" err="1"/>
              <a:t>colab</a:t>
            </a:r>
            <a:r>
              <a:rPr lang="en-GB" sz="1400" i="1" dirty="0"/>
              <a:t>/</a:t>
            </a:r>
            <a:r>
              <a:rPr lang="en-GB" sz="1400" i="1" dirty="0" err="1"/>
              <a:t>SwiftMHC_colab.ipynb</a:t>
            </a:r>
            <a:endParaRPr lang="en-NL" sz="1400" i="1" dirty="0"/>
          </a:p>
        </p:txBody>
      </p:sp>
    </p:spTree>
    <p:extLst>
      <p:ext uri="{BB962C8B-B14F-4D97-AF65-F5344CB8AC3E}">
        <p14:creationId xmlns:p14="http://schemas.microsoft.com/office/powerpoint/2010/main" val="79130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7EA7-8532-E693-ACB9-77C9C4C0DE4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08D4CB4-CDC9-141D-B0DD-5E15286B60F7}"/>
              </a:ext>
            </a:extLst>
          </p:cNvPr>
          <p:cNvSpPr txBox="1"/>
          <p:nvPr/>
        </p:nvSpPr>
        <p:spPr>
          <a:xfrm>
            <a:off x="8688082" y="6473497"/>
            <a:ext cx="3510898" cy="369332"/>
          </a:xfrm>
          <a:prstGeom prst="rect">
            <a:avLst/>
          </a:prstGeom>
          <a:noFill/>
        </p:spPr>
        <p:txBody>
          <a:bodyPr wrap="none" rtlCol="0">
            <a:spAutoFit/>
          </a:bodyPr>
          <a:lstStyle/>
          <a:p>
            <a:r>
              <a:rPr lang="en-GB" dirty="0">
                <a:solidFill>
                  <a:schemeClr val="bg1">
                    <a:lumMod val="50000"/>
                  </a:schemeClr>
                </a:solidFill>
              </a:rPr>
              <a:t>DOI: </a:t>
            </a:r>
            <a:r>
              <a:rPr lang="en-GB" dirty="0">
                <a:solidFill>
                  <a:schemeClr val="bg1">
                    <a:lumMod val="50000"/>
                  </a:schemeClr>
                </a:solidFill>
                <a:hlinkClick r:id="rId3">
                  <a:extLst>
                    <a:ext uri="{A12FA001-AC4F-418D-AE19-62706E023703}">
                      <ahyp:hlinkClr xmlns:ahyp="http://schemas.microsoft.com/office/drawing/2018/hyperlinkcolor" val="tx"/>
                    </a:ext>
                  </a:extLst>
                </a:hlinkClick>
              </a:rPr>
              <a:t>10.1016/j.crmeth.2026.101364 </a:t>
            </a:r>
            <a:endParaRPr lang="en-NL" dirty="0">
              <a:solidFill>
                <a:schemeClr val="bg1">
                  <a:lumMod val="50000"/>
                </a:schemeClr>
              </a:solidFill>
            </a:endParaRPr>
          </a:p>
        </p:txBody>
      </p:sp>
      <p:sp>
        <p:nvSpPr>
          <p:cNvPr id="9" name="Title 1">
            <a:extLst>
              <a:ext uri="{FF2B5EF4-FFF2-40B4-BE49-F238E27FC236}">
                <a16:creationId xmlns:a16="http://schemas.microsoft.com/office/drawing/2014/main" id="{69BA54B1-FDC3-585C-FA06-C207EFCAE5B3}"/>
              </a:ext>
            </a:extLst>
          </p:cNvPr>
          <p:cNvSpPr>
            <a:spLocks noGrp="1"/>
          </p:cNvSpPr>
          <p:nvPr>
            <p:ph type="title"/>
          </p:nvPr>
        </p:nvSpPr>
        <p:spPr>
          <a:xfrm>
            <a:off x="838200" y="91141"/>
            <a:ext cx="10515600" cy="1325563"/>
          </a:xfrm>
        </p:spPr>
        <p:txBody>
          <a:bodyPr/>
          <a:lstStyle/>
          <a:p>
            <a:pPr algn="ctr"/>
            <a:r>
              <a:rPr lang="en-NL" sz="4000" dirty="0"/>
              <a:t>SwiftMHC architecture</a:t>
            </a:r>
          </a:p>
        </p:txBody>
      </p:sp>
      <p:sp>
        <p:nvSpPr>
          <p:cNvPr id="10" name="TextBox 9">
            <a:extLst>
              <a:ext uri="{FF2B5EF4-FFF2-40B4-BE49-F238E27FC236}">
                <a16:creationId xmlns:a16="http://schemas.microsoft.com/office/drawing/2014/main" id="{6C217D5E-460F-3B7A-42E1-737FB3AFD3A1}"/>
              </a:ext>
            </a:extLst>
          </p:cNvPr>
          <p:cNvSpPr txBox="1"/>
          <p:nvPr/>
        </p:nvSpPr>
        <p:spPr>
          <a:xfrm>
            <a:off x="9156122" y="6136661"/>
            <a:ext cx="2924198" cy="369332"/>
          </a:xfrm>
          <a:prstGeom prst="rect">
            <a:avLst/>
          </a:prstGeom>
          <a:noFill/>
        </p:spPr>
        <p:txBody>
          <a:bodyPr wrap="square" rtlCol="0">
            <a:spAutoFit/>
          </a:bodyPr>
          <a:lstStyle/>
          <a:p>
            <a:r>
              <a:rPr lang="en-GB">
                <a:solidFill>
                  <a:schemeClr val="tx1">
                    <a:lumMod val="50000"/>
                    <a:lumOff val="50000"/>
                  </a:schemeClr>
                </a:solidFill>
                <a:hlinkClick r:id="rId4">
                  <a:extLst>
                    <a:ext uri="{A12FA001-AC4F-418D-AE19-62706E023703}">
                      <ahyp:hlinkClr xmlns:ahyp="http://schemas.microsoft.com/office/drawing/2018/hyperlinkcolor" val="tx"/>
                    </a:ext>
                  </a:extLst>
                </a:hlinkClick>
              </a:rPr>
              <a:t>X-lab-3D/</a:t>
            </a:r>
            <a:r>
              <a:rPr lang="en-GB" err="1">
                <a:solidFill>
                  <a:schemeClr val="tx1">
                    <a:lumMod val="50000"/>
                    <a:lumOff val="50000"/>
                  </a:schemeClr>
                </a:solidFill>
                <a:hlinkClick r:id="rId4">
                  <a:extLst>
                    <a:ext uri="{A12FA001-AC4F-418D-AE19-62706E023703}">
                      <ahyp:hlinkClr xmlns:ahyp="http://schemas.microsoft.com/office/drawing/2018/hyperlinkcolor" val="tx"/>
                    </a:ext>
                  </a:extLst>
                </a:hlinkClick>
              </a:rPr>
              <a:t>swiftmhc</a:t>
            </a:r>
            <a:r>
              <a:rPr lang="en-GB">
                <a:solidFill>
                  <a:schemeClr val="tx1">
                    <a:lumMod val="50000"/>
                    <a:lumOff val="50000"/>
                  </a:schemeClr>
                </a:solidFill>
                <a:hlinkClick r:id="rId4">
                  <a:extLst>
                    <a:ext uri="{A12FA001-AC4F-418D-AE19-62706E023703}">
                      <ahyp:hlinkClr xmlns:ahyp="http://schemas.microsoft.com/office/drawing/2018/hyperlinkcolor" val="tx"/>
                    </a:ext>
                  </a:extLst>
                </a:hlinkClick>
              </a:rPr>
              <a:t>-inference</a:t>
            </a:r>
            <a:endParaRPr lang="en-NL">
              <a:solidFill>
                <a:schemeClr val="tx1">
                  <a:lumMod val="50000"/>
                  <a:lumOff val="50000"/>
                </a:schemeClr>
              </a:solidFill>
            </a:endParaRPr>
          </a:p>
        </p:txBody>
      </p:sp>
      <p:pic>
        <p:nvPicPr>
          <p:cNvPr id="11" name="Graphic 10">
            <a:extLst>
              <a:ext uri="{FF2B5EF4-FFF2-40B4-BE49-F238E27FC236}">
                <a16:creationId xmlns:a16="http://schemas.microsoft.com/office/drawing/2014/main" id="{C037F7E2-DA2A-12B5-556C-F7F8FBC362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56745" y="6195399"/>
            <a:ext cx="264477" cy="264477"/>
          </a:xfrm>
          <a:prstGeom prst="rect">
            <a:avLst/>
          </a:prstGeom>
        </p:spPr>
      </p:pic>
      <p:pic>
        <p:nvPicPr>
          <p:cNvPr id="12" name="Picture 11">
            <a:extLst>
              <a:ext uri="{FF2B5EF4-FFF2-40B4-BE49-F238E27FC236}">
                <a16:creationId xmlns:a16="http://schemas.microsoft.com/office/drawing/2014/main" id="{045FAAD3-8595-5D2F-728C-3D7651FFB592}"/>
              </a:ext>
            </a:extLst>
          </p:cNvPr>
          <p:cNvPicPr>
            <a:picLocks noChangeAspect="1"/>
          </p:cNvPicPr>
          <p:nvPr/>
        </p:nvPicPr>
        <p:blipFill>
          <a:blip r:embed="rId6"/>
          <a:stretch>
            <a:fillRect/>
          </a:stretch>
        </p:blipFill>
        <p:spPr>
          <a:xfrm>
            <a:off x="5766210" y="1020547"/>
            <a:ext cx="442861" cy="454830"/>
          </a:xfrm>
          <a:prstGeom prst="rect">
            <a:avLst/>
          </a:prstGeom>
        </p:spPr>
      </p:pic>
      <p:pic>
        <p:nvPicPr>
          <p:cNvPr id="2" name="Picture 1">
            <a:extLst>
              <a:ext uri="{FF2B5EF4-FFF2-40B4-BE49-F238E27FC236}">
                <a16:creationId xmlns:a16="http://schemas.microsoft.com/office/drawing/2014/main" id="{A5D4E764-B0F7-C542-3663-AB6612D00CFF}"/>
              </a:ext>
            </a:extLst>
          </p:cNvPr>
          <p:cNvPicPr>
            <a:picLocks noChangeAspect="1"/>
          </p:cNvPicPr>
          <p:nvPr/>
        </p:nvPicPr>
        <p:blipFill>
          <a:blip r:embed="rId7"/>
          <a:stretch>
            <a:fillRect/>
          </a:stretch>
        </p:blipFill>
        <p:spPr>
          <a:xfrm>
            <a:off x="1618682" y="1489063"/>
            <a:ext cx="9567525" cy="3922641"/>
          </a:xfrm>
          <a:prstGeom prst="rect">
            <a:avLst/>
          </a:prstGeom>
        </p:spPr>
      </p:pic>
      <p:sp>
        <p:nvSpPr>
          <p:cNvPr id="3" name="TextBox 2">
            <a:extLst>
              <a:ext uri="{FF2B5EF4-FFF2-40B4-BE49-F238E27FC236}">
                <a16:creationId xmlns:a16="http://schemas.microsoft.com/office/drawing/2014/main" id="{5BFA2174-2D51-C55C-74D3-42CB3707F38E}"/>
              </a:ext>
            </a:extLst>
          </p:cNvPr>
          <p:cNvSpPr txBox="1"/>
          <p:nvPr/>
        </p:nvSpPr>
        <p:spPr>
          <a:xfrm>
            <a:off x="3838811" y="5704775"/>
            <a:ext cx="4514377" cy="461665"/>
          </a:xfrm>
          <a:prstGeom prst="rect">
            <a:avLst/>
          </a:prstGeom>
          <a:noFill/>
        </p:spPr>
        <p:txBody>
          <a:bodyPr wrap="none" rtlCol="0">
            <a:spAutoFit/>
          </a:bodyPr>
          <a:lstStyle/>
          <a:p>
            <a:pPr algn="ctr"/>
            <a:r>
              <a:rPr lang="en-NL" sz="2400" b="1" dirty="0">
                <a:solidFill>
                  <a:schemeClr val="tx1">
                    <a:lumMod val="65000"/>
                    <a:lumOff val="35000"/>
                  </a:schemeClr>
                </a:solidFill>
              </a:rPr>
              <a:t>Transformer-based architecture</a:t>
            </a:r>
          </a:p>
        </p:txBody>
      </p:sp>
    </p:spTree>
    <p:extLst>
      <p:ext uri="{BB962C8B-B14F-4D97-AF65-F5344CB8AC3E}">
        <p14:creationId xmlns:p14="http://schemas.microsoft.com/office/powerpoint/2010/main" val="3938151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DEBB6-6E36-442D-EF41-D6858CEFE73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FD24530-80CA-2056-1BC1-8ED5697149FD}"/>
              </a:ext>
            </a:extLst>
          </p:cNvPr>
          <p:cNvSpPr>
            <a:spLocks noGrp="1"/>
          </p:cNvSpPr>
          <p:nvPr>
            <p:ph type="title"/>
          </p:nvPr>
        </p:nvSpPr>
        <p:spPr>
          <a:xfrm>
            <a:off x="838200" y="128465"/>
            <a:ext cx="10515600" cy="1325563"/>
          </a:xfrm>
        </p:spPr>
        <p:txBody>
          <a:bodyPr/>
          <a:lstStyle/>
          <a:p>
            <a:pPr algn="ctr"/>
            <a:r>
              <a:rPr lang="en-NL" sz="4000"/>
              <a:t>Challenge faced </a:t>
            </a:r>
            <a:br>
              <a:rPr lang="en-NL" sz="4000"/>
            </a:br>
            <a:r>
              <a:rPr lang="en-NL" sz="4000"/>
              <a:t>when scaling training set from 8K to 2M</a:t>
            </a:r>
          </a:p>
        </p:txBody>
      </p:sp>
      <p:sp>
        <p:nvSpPr>
          <p:cNvPr id="6" name="TextBox 5">
            <a:extLst>
              <a:ext uri="{FF2B5EF4-FFF2-40B4-BE49-F238E27FC236}">
                <a16:creationId xmlns:a16="http://schemas.microsoft.com/office/drawing/2014/main" id="{4BE004B6-B65A-48CD-1C2D-365760D2764C}"/>
              </a:ext>
            </a:extLst>
          </p:cNvPr>
          <p:cNvSpPr txBox="1"/>
          <p:nvPr/>
        </p:nvSpPr>
        <p:spPr>
          <a:xfrm>
            <a:off x="4524896" y="5683911"/>
            <a:ext cx="3142207" cy="461665"/>
          </a:xfrm>
          <a:prstGeom prst="rect">
            <a:avLst/>
          </a:prstGeom>
          <a:noFill/>
        </p:spPr>
        <p:txBody>
          <a:bodyPr wrap="none" rtlCol="0">
            <a:spAutoFit/>
          </a:bodyPr>
          <a:lstStyle/>
          <a:p>
            <a:r>
              <a:rPr lang="en-NL" sz="2400" b="1">
                <a:solidFill>
                  <a:schemeClr val="tx1">
                    <a:lumMod val="65000"/>
                    <a:lumOff val="35000"/>
                  </a:schemeClr>
                </a:solidFill>
              </a:rPr>
              <a:t>Training is slow, why?</a:t>
            </a:r>
          </a:p>
        </p:txBody>
      </p:sp>
      <p:pic>
        <p:nvPicPr>
          <p:cNvPr id="7" name="Picture 6">
            <a:extLst>
              <a:ext uri="{FF2B5EF4-FFF2-40B4-BE49-F238E27FC236}">
                <a16:creationId xmlns:a16="http://schemas.microsoft.com/office/drawing/2014/main" id="{25EC5A5A-526A-955F-93E4-3A5DEB8B088C}"/>
              </a:ext>
            </a:extLst>
          </p:cNvPr>
          <p:cNvPicPr>
            <a:picLocks noChangeAspect="1"/>
          </p:cNvPicPr>
          <p:nvPr/>
        </p:nvPicPr>
        <p:blipFill>
          <a:blip r:embed="rId3"/>
          <a:stretch>
            <a:fillRect/>
          </a:stretch>
        </p:blipFill>
        <p:spPr>
          <a:xfrm>
            <a:off x="2209800" y="2064989"/>
            <a:ext cx="7772400" cy="2506797"/>
          </a:xfrm>
          <a:prstGeom prst="rect">
            <a:avLst/>
          </a:prstGeom>
        </p:spPr>
      </p:pic>
      <p:sp>
        <p:nvSpPr>
          <p:cNvPr id="8" name="TextBox 7">
            <a:extLst>
              <a:ext uri="{FF2B5EF4-FFF2-40B4-BE49-F238E27FC236}">
                <a16:creationId xmlns:a16="http://schemas.microsoft.com/office/drawing/2014/main" id="{3FF93E5D-FEF9-288A-6DD6-D041010CF0BB}"/>
              </a:ext>
            </a:extLst>
          </p:cNvPr>
          <p:cNvSpPr txBox="1"/>
          <p:nvPr/>
        </p:nvSpPr>
        <p:spPr>
          <a:xfrm>
            <a:off x="2209800" y="4626940"/>
            <a:ext cx="5857694" cy="307777"/>
          </a:xfrm>
          <a:prstGeom prst="rect">
            <a:avLst/>
          </a:prstGeom>
          <a:noFill/>
        </p:spPr>
        <p:txBody>
          <a:bodyPr wrap="none" rtlCol="0">
            <a:spAutoFit/>
          </a:bodyPr>
          <a:lstStyle/>
          <a:p>
            <a:r>
              <a:rPr lang="en-GB" sz="1400">
                <a:solidFill>
                  <a:schemeClr val="bg1">
                    <a:lumMod val="65000"/>
                  </a:schemeClr>
                </a:solidFill>
              </a:rPr>
              <a:t>* </a:t>
            </a:r>
            <a:r>
              <a:rPr lang="en-GB" sz="1400" err="1">
                <a:solidFill>
                  <a:schemeClr val="bg1">
                    <a:lumMod val="65000"/>
                  </a:schemeClr>
                </a:solidFill>
              </a:rPr>
              <a:t>SwiftMHC</a:t>
            </a:r>
            <a:r>
              <a:rPr lang="en-GB" sz="1400">
                <a:solidFill>
                  <a:schemeClr val="bg1">
                    <a:lumMod val="65000"/>
                  </a:schemeClr>
                </a:solidFill>
              </a:rPr>
              <a:t> t</a:t>
            </a:r>
            <a:r>
              <a:rPr lang="en-NL" sz="1400">
                <a:solidFill>
                  <a:schemeClr val="bg1">
                    <a:lumMod val="65000"/>
                  </a:schemeClr>
                </a:solidFill>
              </a:rPr>
              <a:t>raining has two phases due to the use of different loss functions.</a:t>
            </a:r>
          </a:p>
        </p:txBody>
      </p:sp>
    </p:spTree>
    <p:extLst>
      <p:ext uri="{BB962C8B-B14F-4D97-AF65-F5344CB8AC3E}">
        <p14:creationId xmlns:p14="http://schemas.microsoft.com/office/powerpoint/2010/main" val="3315724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24AB7-C961-482C-5661-580FE377717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40BC44E-EDD0-077C-0C37-4E67BFF8227E}"/>
              </a:ext>
            </a:extLst>
          </p:cNvPr>
          <p:cNvSpPr>
            <a:spLocks noGrp="1"/>
          </p:cNvSpPr>
          <p:nvPr>
            <p:ph type="title"/>
          </p:nvPr>
        </p:nvSpPr>
        <p:spPr>
          <a:xfrm>
            <a:off x="838200" y="128465"/>
            <a:ext cx="10515600" cy="1325563"/>
          </a:xfrm>
        </p:spPr>
        <p:txBody>
          <a:bodyPr/>
          <a:lstStyle/>
          <a:p>
            <a:pPr algn="ctr"/>
            <a:r>
              <a:rPr lang="en-NL" sz="4000"/>
              <a:t>Training pipeline</a:t>
            </a:r>
          </a:p>
        </p:txBody>
      </p:sp>
      <p:sp>
        <p:nvSpPr>
          <p:cNvPr id="22" name="Rectangle 21">
            <a:extLst>
              <a:ext uri="{FF2B5EF4-FFF2-40B4-BE49-F238E27FC236}">
                <a16:creationId xmlns:a16="http://schemas.microsoft.com/office/drawing/2014/main" id="{A2DE7DCA-0956-2748-BA0C-B4F5A830F1E0}"/>
              </a:ext>
            </a:extLst>
          </p:cNvPr>
          <p:cNvSpPr/>
          <p:nvPr/>
        </p:nvSpPr>
        <p:spPr>
          <a:xfrm>
            <a:off x="381000" y="2476500"/>
            <a:ext cx="1228725" cy="762000"/>
          </a:xfrm>
          <a:prstGeom prst="rect">
            <a:avLst/>
          </a:prstGeom>
          <a:noFill/>
          <a:ln w="1270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000000"/>
                </a:solidFill>
              </a:rPr>
              <a:t>Data </a:t>
            </a:r>
          </a:p>
          <a:p>
            <a:pPr algn="ctr"/>
            <a:r>
              <a:rPr lang="en-GB" b="1">
                <a:solidFill>
                  <a:srgbClr val="000000"/>
                </a:solidFill>
              </a:rPr>
              <a:t>loading</a:t>
            </a:r>
            <a:endParaRPr lang="en-NL" b="1">
              <a:solidFill>
                <a:srgbClr val="000000"/>
              </a:solidFill>
            </a:endParaRPr>
          </a:p>
        </p:txBody>
      </p:sp>
      <p:sp>
        <p:nvSpPr>
          <p:cNvPr id="23" name="Right Arrow 22">
            <a:extLst>
              <a:ext uri="{FF2B5EF4-FFF2-40B4-BE49-F238E27FC236}">
                <a16:creationId xmlns:a16="http://schemas.microsoft.com/office/drawing/2014/main" id="{2597D836-472B-4447-8228-D339B4209DDF}"/>
              </a:ext>
            </a:extLst>
          </p:cNvPr>
          <p:cNvSpPr/>
          <p:nvPr/>
        </p:nvSpPr>
        <p:spPr>
          <a:xfrm>
            <a:off x="1609725"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24" name="Rectangle 23">
            <a:extLst>
              <a:ext uri="{FF2B5EF4-FFF2-40B4-BE49-F238E27FC236}">
                <a16:creationId xmlns:a16="http://schemas.microsoft.com/office/drawing/2014/main" id="{CBB21C60-73E5-F24D-8E90-C4BA4755742E}"/>
              </a:ext>
            </a:extLst>
          </p:cNvPr>
          <p:cNvSpPr/>
          <p:nvPr/>
        </p:nvSpPr>
        <p:spPr>
          <a:xfrm>
            <a:off x="1838325" y="2476500"/>
            <a:ext cx="1228725" cy="762000"/>
          </a:xfrm>
          <a:prstGeom prst="rect">
            <a:avLst/>
          </a:prstGeom>
          <a:noFill/>
          <a:ln w="1270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000000"/>
                </a:solidFill>
              </a:rPr>
              <a:t>Data</a:t>
            </a:r>
            <a:r>
              <a:rPr lang="en-GB" sz="1400" b="1">
                <a:solidFill>
                  <a:srgbClr val="000000"/>
                </a:solidFill>
              </a:rPr>
              <a:t> </a:t>
            </a:r>
          </a:p>
          <a:p>
            <a:pPr algn="ctr"/>
            <a:r>
              <a:rPr lang="en-GB" sz="1400" b="1">
                <a:solidFill>
                  <a:srgbClr val="000000"/>
                </a:solidFill>
              </a:rPr>
              <a:t>preprocessing</a:t>
            </a:r>
            <a:endParaRPr lang="en-NL" b="1">
              <a:solidFill>
                <a:srgbClr val="000000"/>
              </a:solidFill>
            </a:endParaRPr>
          </a:p>
        </p:txBody>
      </p:sp>
      <p:sp>
        <p:nvSpPr>
          <p:cNvPr id="25" name="Right Arrow 24">
            <a:extLst>
              <a:ext uri="{FF2B5EF4-FFF2-40B4-BE49-F238E27FC236}">
                <a16:creationId xmlns:a16="http://schemas.microsoft.com/office/drawing/2014/main" id="{94F3E103-0629-7E4D-83D5-11E85E46CD5D}"/>
              </a:ext>
            </a:extLst>
          </p:cNvPr>
          <p:cNvSpPr/>
          <p:nvPr/>
        </p:nvSpPr>
        <p:spPr>
          <a:xfrm>
            <a:off x="3067050"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26" name="Rectangle 25">
            <a:extLst>
              <a:ext uri="{FF2B5EF4-FFF2-40B4-BE49-F238E27FC236}">
                <a16:creationId xmlns:a16="http://schemas.microsoft.com/office/drawing/2014/main" id="{D33982B9-A5D2-3E48-A62A-8EFBFF74BB06}"/>
              </a:ext>
            </a:extLst>
          </p:cNvPr>
          <p:cNvSpPr/>
          <p:nvPr/>
        </p:nvSpPr>
        <p:spPr>
          <a:xfrm>
            <a:off x="3295650" y="2476500"/>
            <a:ext cx="1228725" cy="762000"/>
          </a:xfrm>
          <a:prstGeom prst="rect">
            <a:avLst/>
          </a:prstGeom>
          <a:noFill/>
          <a:ln w="1270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000000"/>
                </a:solidFill>
              </a:rPr>
              <a:t>Data</a:t>
            </a:r>
          </a:p>
          <a:p>
            <a:pPr algn="ctr"/>
            <a:r>
              <a:rPr lang="en-GB" b="1">
                <a:solidFill>
                  <a:srgbClr val="000000"/>
                </a:solidFill>
              </a:rPr>
              <a:t>transfer</a:t>
            </a:r>
            <a:endParaRPr lang="en-NL" b="1">
              <a:solidFill>
                <a:srgbClr val="000000"/>
              </a:solidFill>
            </a:endParaRPr>
          </a:p>
        </p:txBody>
      </p:sp>
      <p:sp>
        <p:nvSpPr>
          <p:cNvPr id="27" name="Right Arrow 26">
            <a:extLst>
              <a:ext uri="{FF2B5EF4-FFF2-40B4-BE49-F238E27FC236}">
                <a16:creationId xmlns:a16="http://schemas.microsoft.com/office/drawing/2014/main" id="{C79D95CF-38FA-6F46-BC18-0FB00D0972FC}"/>
              </a:ext>
            </a:extLst>
          </p:cNvPr>
          <p:cNvSpPr/>
          <p:nvPr/>
        </p:nvSpPr>
        <p:spPr>
          <a:xfrm>
            <a:off x="4524375"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28" name="Rectangle 27">
            <a:extLst>
              <a:ext uri="{FF2B5EF4-FFF2-40B4-BE49-F238E27FC236}">
                <a16:creationId xmlns:a16="http://schemas.microsoft.com/office/drawing/2014/main" id="{6198D93B-00B1-4343-8DFC-CAB6FF56D483}"/>
              </a:ext>
            </a:extLst>
          </p:cNvPr>
          <p:cNvSpPr/>
          <p:nvPr/>
        </p:nvSpPr>
        <p:spPr>
          <a:xfrm>
            <a:off x="4752975" y="2476500"/>
            <a:ext cx="1228725" cy="762000"/>
          </a:xfrm>
          <a:prstGeom prst="rect">
            <a:avLst/>
          </a:prstGeom>
          <a:noFill/>
          <a:ln w="12700" cap="flat" cmpd="sng" algn="ctr">
            <a:solidFill>
              <a:srgbClr val="F2A9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F2A900"/>
                </a:solidFill>
              </a:rPr>
              <a:t>Forward</a:t>
            </a:r>
          </a:p>
          <a:p>
            <a:pPr algn="ctr"/>
            <a:r>
              <a:rPr lang="en-GB" b="1">
                <a:solidFill>
                  <a:srgbClr val="F2A900"/>
                </a:solidFill>
              </a:rPr>
              <a:t>pass</a:t>
            </a:r>
            <a:endParaRPr lang="en-NL" b="1">
              <a:solidFill>
                <a:srgbClr val="F2A900"/>
              </a:solidFill>
            </a:endParaRPr>
          </a:p>
        </p:txBody>
      </p:sp>
      <p:sp>
        <p:nvSpPr>
          <p:cNvPr id="29" name="Right Arrow 28">
            <a:extLst>
              <a:ext uri="{FF2B5EF4-FFF2-40B4-BE49-F238E27FC236}">
                <a16:creationId xmlns:a16="http://schemas.microsoft.com/office/drawing/2014/main" id="{EA673009-71D5-0644-9753-42FA1DF58CFA}"/>
              </a:ext>
            </a:extLst>
          </p:cNvPr>
          <p:cNvSpPr/>
          <p:nvPr/>
        </p:nvSpPr>
        <p:spPr>
          <a:xfrm>
            <a:off x="5981700"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30" name="Rectangle 29">
            <a:extLst>
              <a:ext uri="{FF2B5EF4-FFF2-40B4-BE49-F238E27FC236}">
                <a16:creationId xmlns:a16="http://schemas.microsoft.com/office/drawing/2014/main" id="{FC2B6447-5CE0-E748-AE79-6718F36D50B0}"/>
              </a:ext>
            </a:extLst>
          </p:cNvPr>
          <p:cNvSpPr/>
          <p:nvPr/>
        </p:nvSpPr>
        <p:spPr>
          <a:xfrm>
            <a:off x="6210300" y="2476500"/>
            <a:ext cx="1228725" cy="762000"/>
          </a:xfrm>
          <a:prstGeom prst="rect">
            <a:avLst/>
          </a:prstGeom>
          <a:noFill/>
          <a:ln w="12700" cap="flat" cmpd="sng" algn="ctr">
            <a:solidFill>
              <a:srgbClr val="F2A9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F2A900"/>
                </a:solidFill>
              </a:rPr>
              <a:t>Loss</a:t>
            </a:r>
          </a:p>
          <a:p>
            <a:pPr algn="ctr"/>
            <a:r>
              <a:rPr lang="en-GB" sz="1600" b="1">
                <a:solidFill>
                  <a:srgbClr val="F2A900"/>
                </a:solidFill>
              </a:rPr>
              <a:t>computation</a:t>
            </a:r>
            <a:endParaRPr lang="en-NL" b="1">
              <a:solidFill>
                <a:srgbClr val="F2A900"/>
              </a:solidFill>
            </a:endParaRPr>
          </a:p>
        </p:txBody>
      </p:sp>
      <p:sp>
        <p:nvSpPr>
          <p:cNvPr id="31" name="Right Arrow 30">
            <a:extLst>
              <a:ext uri="{FF2B5EF4-FFF2-40B4-BE49-F238E27FC236}">
                <a16:creationId xmlns:a16="http://schemas.microsoft.com/office/drawing/2014/main" id="{6ECE7277-8E2B-B64D-921B-78577BFCE73F}"/>
              </a:ext>
            </a:extLst>
          </p:cNvPr>
          <p:cNvSpPr/>
          <p:nvPr/>
        </p:nvSpPr>
        <p:spPr>
          <a:xfrm>
            <a:off x="7439025"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32" name="Rectangle 31">
            <a:extLst>
              <a:ext uri="{FF2B5EF4-FFF2-40B4-BE49-F238E27FC236}">
                <a16:creationId xmlns:a16="http://schemas.microsoft.com/office/drawing/2014/main" id="{C755DD72-9790-584A-9881-D67DC9137968}"/>
              </a:ext>
            </a:extLst>
          </p:cNvPr>
          <p:cNvSpPr/>
          <p:nvPr/>
        </p:nvSpPr>
        <p:spPr>
          <a:xfrm>
            <a:off x="7667625" y="2476500"/>
            <a:ext cx="1228725" cy="762000"/>
          </a:xfrm>
          <a:prstGeom prst="rect">
            <a:avLst/>
          </a:prstGeom>
          <a:noFill/>
          <a:ln w="12700" cap="flat" cmpd="sng" algn="ctr">
            <a:solidFill>
              <a:srgbClr val="F2A9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F2A900"/>
                </a:solidFill>
              </a:rPr>
              <a:t>Backward</a:t>
            </a:r>
          </a:p>
          <a:p>
            <a:pPr algn="ctr"/>
            <a:r>
              <a:rPr lang="en-GB" b="1">
                <a:solidFill>
                  <a:srgbClr val="F2A900"/>
                </a:solidFill>
              </a:rPr>
              <a:t>pass</a:t>
            </a:r>
            <a:endParaRPr lang="en-NL" b="1">
              <a:solidFill>
                <a:srgbClr val="F2A900"/>
              </a:solidFill>
            </a:endParaRPr>
          </a:p>
        </p:txBody>
      </p:sp>
      <p:sp>
        <p:nvSpPr>
          <p:cNvPr id="33" name="Right Arrow 32">
            <a:extLst>
              <a:ext uri="{FF2B5EF4-FFF2-40B4-BE49-F238E27FC236}">
                <a16:creationId xmlns:a16="http://schemas.microsoft.com/office/drawing/2014/main" id="{2AE89933-77E6-3B40-A05C-91F5AC08650C}"/>
              </a:ext>
            </a:extLst>
          </p:cNvPr>
          <p:cNvSpPr/>
          <p:nvPr/>
        </p:nvSpPr>
        <p:spPr>
          <a:xfrm>
            <a:off x="8896350"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34" name="Rectangle 33">
            <a:extLst>
              <a:ext uri="{FF2B5EF4-FFF2-40B4-BE49-F238E27FC236}">
                <a16:creationId xmlns:a16="http://schemas.microsoft.com/office/drawing/2014/main" id="{93354D0C-06F1-AE45-A5DF-68675929AB7B}"/>
              </a:ext>
            </a:extLst>
          </p:cNvPr>
          <p:cNvSpPr/>
          <p:nvPr/>
        </p:nvSpPr>
        <p:spPr>
          <a:xfrm>
            <a:off x="9124950" y="2476500"/>
            <a:ext cx="1228725" cy="762000"/>
          </a:xfrm>
          <a:prstGeom prst="rect">
            <a:avLst/>
          </a:prstGeom>
          <a:noFill/>
          <a:ln w="12700" cap="flat" cmpd="sng" algn="ctr">
            <a:solidFill>
              <a:srgbClr val="F2A9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F2A900"/>
                </a:solidFill>
              </a:rPr>
              <a:t>Optimizer</a:t>
            </a:r>
          </a:p>
          <a:p>
            <a:pPr algn="ctr"/>
            <a:r>
              <a:rPr lang="en-GB" b="1">
                <a:solidFill>
                  <a:srgbClr val="F2A900"/>
                </a:solidFill>
              </a:rPr>
              <a:t>step</a:t>
            </a:r>
            <a:endParaRPr lang="en-NL" b="1">
              <a:solidFill>
                <a:srgbClr val="F2A900"/>
              </a:solidFill>
            </a:endParaRPr>
          </a:p>
        </p:txBody>
      </p:sp>
      <p:sp>
        <p:nvSpPr>
          <p:cNvPr id="35" name="Right Arrow 34">
            <a:extLst>
              <a:ext uri="{FF2B5EF4-FFF2-40B4-BE49-F238E27FC236}">
                <a16:creationId xmlns:a16="http://schemas.microsoft.com/office/drawing/2014/main" id="{CF7588E0-2460-AF4E-8EDF-0DF65EC0FBDE}"/>
              </a:ext>
            </a:extLst>
          </p:cNvPr>
          <p:cNvSpPr/>
          <p:nvPr/>
        </p:nvSpPr>
        <p:spPr>
          <a:xfrm>
            <a:off x="10353675"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36" name="Rectangle 35">
            <a:extLst>
              <a:ext uri="{FF2B5EF4-FFF2-40B4-BE49-F238E27FC236}">
                <a16:creationId xmlns:a16="http://schemas.microsoft.com/office/drawing/2014/main" id="{5E3D2803-25A2-7F4D-96D9-B65557F39BFF}"/>
              </a:ext>
            </a:extLst>
          </p:cNvPr>
          <p:cNvSpPr/>
          <p:nvPr/>
        </p:nvSpPr>
        <p:spPr>
          <a:xfrm>
            <a:off x="10582275" y="2476500"/>
            <a:ext cx="1228725" cy="762000"/>
          </a:xfrm>
          <a:prstGeom prst="rect">
            <a:avLst/>
          </a:prstGeom>
          <a:no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chemeClr val="tx1"/>
                </a:solidFill>
              </a:rPr>
              <a:t>Logging &amp;</a:t>
            </a:r>
          </a:p>
          <a:p>
            <a:pPr algn="ctr"/>
            <a:r>
              <a:rPr lang="en-GB" sz="1400" b="1">
                <a:solidFill>
                  <a:schemeClr val="tx1"/>
                </a:solidFill>
              </a:rPr>
              <a:t>checkpointing</a:t>
            </a:r>
            <a:endParaRPr lang="en-NL" sz="1400" b="1">
              <a:solidFill>
                <a:schemeClr val="tx1"/>
              </a:solidFill>
            </a:endParaRPr>
          </a:p>
        </p:txBody>
      </p:sp>
      <p:sp>
        <p:nvSpPr>
          <p:cNvPr id="2" name="TextBox 1">
            <a:extLst>
              <a:ext uri="{FF2B5EF4-FFF2-40B4-BE49-F238E27FC236}">
                <a16:creationId xmlns:a16="http://schemas.microsoft.com/office/drawing/2014/main" id="{48269E2A-C561-4DCD-611D-EA705B0F6F2F}"/>
              </a:ext>
            </a:extLst>
          </p:cNvPr>
          <p:cNvSpPr txBox="1"/>
          <p:nvPr/>
        </p:nvSpPr>
        <p:spPr>
          <a:xfrm>
            <a:off x="2229484" y="5610485"/>
            <a:ext cx="8741496" cy="830997"/>
          </a:xfrm>
          <a:prstGeom prst="rect">
            <a:avLst/>
          </a:prstGeom>
          <a:noFill/>
        </p:spPr>
        <p:txBody>
          <a:bodyPr wrap="none" rtlCol="0">
            <a:spAutoFit/>
          </a:bodyPr>
          <a:lstStyle/>
          <a:p>
            <a:pPr algn="ctr"/>
            <a:r>
              <a:rPr lang="en-GB" sz="2400" b="1" dirty="0">
                <a:solidFill>
                  <a:schemeClr val="tx1">
                    <a:lumMod val="65000"/>
                    <a:lumOff val="35000"/>
                  </a:schemeClr>
                </a:solidFill>
              </a:rPr>
              <a:t>Training is a pipeline, not just “a model runs on GPU”.</a:t>
            </a:r>
          </a:p>
          <a:p>
            <a:pPr algn="ctr"/>
            <a:r>
              <a:rPr lang="en-GB" sz="2400" b="1" dirty="0">
                <a:solidFill>
                  <a:schemeClr val="tx1">
                    <a:lumMod val="65000"/>
                    <a:lumOff val="35000"/>
                  </a:schemeClr>
                </a:solidFill>
              </a:rPr>
              <a:t>If training is slow, any stage in the pipeline could be responsible</a:t>
            </a:r>
            <a:endParaRPr lang="en-NL" sz="2400" b="1" dirty="0">
              <a:solidFill>
                <a:schemeClr val="tx1">
                  <a:lumMod val="65000"/>
                  <a:lumOff val="35000"/>
                </a:schemeClr>
              </a:solidFill>
            </a:endParaRPr>
          </a:p>
        </p:txBody>
      </p:sp>
    </p:spTree>
    <p:extLst>
      <p:ext uri="{BB962C8B-B14F-4D97-AF65-F5344CB8AC3E}">
        <p14:creationId xmlns:p14="http://schemas.microsoft.com/office/powerpoint/2010/main" val="1978196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DAA41-980C-5731-5EE6-482ABAD7452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67A2F67-3F57-2BDD-2935-DFB95DC72A22}"/>
              </a:ext>
            </a:extLst>
          </p:cNvPr>
          <p:cNvSpPr>
            <a:spLocks noGrp="1"/>
          </p:cNvSpPr>
          <p:nvPr>
            <p:ph type="title"/>
          </p:nvPr>
        </p:nvSpPr>
        <p:spPr>
          <a:xfrm>
            <a:off x="838200" y="128465"/>
            <a:ext cx="10515600" cy="1325563"/>
          </a:xfrm>
        </p:spPr>
        <p:txBody>
          <a:bodyPr/>
          <a:lstStyle/>
          <a:p>
            <a:pPr algn="ctr"/>
            <a:r>
              <a:rPr lang="en-NL" sz="4000"/>
              <a:t>Training pipeline</a:t>
            </a:r>
          </a:p>
        </p:txBody>
      </p:sp>
      <p:sp>
        <p:nvSpPr>
          <p:cNvPr id="9" name="TextBox 8">
            <a:extLst>
              <a:ext uri="{FF2B5EF4-FFF2-40B4-BE49-F238E27FC236}">
                <a16:creationId xmlns:a16="http://schemas.microsoft.com/office/drawing/2014/main" id="{D153978E-9D9F-D6B0-77C8-CF72EA1701DA}"/>
              </a:ext>
            </a:extLst>
          </p:cNvPr>
          <p:cNvSpPr txBox="1"/>
          <p:nvPr/>
        </p:nvSpPr>
        <p:spPr>
          <a:xfrm>
            <a:off x="530330" y="3539535"/>
            <a:ext cx="930063" cy="369332"/>
          </a:xfrm>
          <a:prstGeom prst="rect">
            <a:avLst/>
          </a:prstGeom>
          <a:solidFill>
            <a:schemeClr val="bg1">
              <a:lumMod val="95000"/>
            </a:schemeClr>
          </a:solidFill>
          <a:ln>
            <a:solidFill>
              <a:schemeClr val="bg1">
                <a:lumMod val="85000"/>
              </a:schemeClr>
            </a:solidFill>
          </a:ln>
          <a:effectLst>
            <a:softEdge rad="31750"/>
          </a:effectLst>
        </p:spPr>
        <p:txBody>
          <a:bodyPr wrap="square" rtlCol="0">
            <a:spAutoFit/>
          </a:bodyPr>
          <a:lstStyle/>
          <a:p>
            <a:pPr algn="ctr"/>
            <a:r>
              <a:rPr lang="en-NL"/>
              <a:t>Disk</a:t>
            </a:r>
          </a:p>
        </p:txBody>
      </p:sp>
      <p:sp>
        <p:nvSpPr>
          <p:cNvPr id="10" name="TextBox 9">
            <a:extLst>
              <a:ext uri="{FF2B5EF4-FFF2-40B4-BE49-F238E27FC236}">
                <a16:creationId xmlns:a16="http://schemas.microsoft.com/office/drawing/2014/main" id="{6736A837-F0E2-E197-5390-A958172F9B35}"/>
              </a:ext>
            </a:extLst>
          </p:cNvPr>
          <p:cNvSpPr txBox="1"/>
          <p:nvPr/>
        </p:nvSpPr>
        <p:spPr>
          <a:xfrm>
            <a:off x="1609725" y="3539535"/>
            <a:ext cx="1563881" cy="369332"/>
          </a:xfrm>
          <a:prstGeom prst="rect">
            <a:avLst/>
          </a:prstGeom>
          <a:solidFill>
            <a:schemeClr val="bg1">
              <a:lumMod val="95000"/>
            </a:schemeClr>
          </a:solidFill>
          <a:ln>
            <a:solidFill>
              <a:schemeClr val="bg1">
                <a:lumMod val="85000"/>
              </a:schemeClr>
            </a:solidFill>
          </a:ln>
          <a:effectLst>
            <a:softEdge rad="31750"/>
          </a:effectLst>
        </p:spPr>
        <p:txBody>
          <a:bodyPr wrap="square" rtlCol="0">
            <a:spAutoFit/>
          </a:bodyPr>
          <a:lstStyle/>
          <a:p>
            <a:pPr algn="ctr"/>
            <a:r>
              <a:rPr lang="en-NL"/>
              <a:t>CPU, Memory</a:t>
            </a:r>
          </a:p>
        </p:txBody>
      </p:sp>
      <p:sp>
        <p:nvSpPr>
          <p:cNvPr id="11" name="TextBox 10">
            <a:extLst>
              <a:ext uri="{FF2B5EF4-FFF2-40B4-BE49-F238E27FC236}">
                <a16:creationId xmlns:a16="http://schemas.microsoft.com/office/drawing/2014/main" id="{D22B4273-EC49-28DE-AF07-9921AE2FE861}"/>
              </a:ext>
            </a:extLst>
          </p:cNvPr>
          <p:cNvSpPr txBox="1"/>
          <p:nvPr/>
        </p:nvSpPr>
        <p:spPr>
          <a:xfrm>
            <a:off x="3220764" y="3539535"/>
            <a:ext cx="1472724" cy="369332"/>
          </a:xfrm>
          <a:prstGeom prst="rect">
            <a:avLst/>
          </a:prstGeom>
          <a:solidFill>
            <a:schemeClr val="bg1">
              <a:lumMod val="95000"/>
            </a:schemeClr>
          </a:solidFill>
          <a:ln>
            <a:solidFill>
              <a:schemeClr val="bg1">
                <a:lumMod val="85000"/>
              </a:schemeClr>
            </a:solidFill>
          </a:ln>
          <a:effectLst>
            <a:softEdge rad="31750"/>
          </a:effectLst>
        </p:spPr>
        <p:txBody>
          <a:bodyPr wrap="square" rtlCol="0">
            <a:spAutoFit/>
          </a:bodyPr>
          <a:lstStyle/>
          <a:p>
            <a:pPr algn="ctr"/>
            <a:r>
              <a:rPr lang="en-NL"/>
              <a:t>CPU, GPU</a:t>
            </a:r>
          </a:p>
        </p:txBody>
      </p:sp>
      <p:sp>
        <p:nvSpPr>
          <p:cNvPr id="12" name="TextBox 11">
            <a:extLst>
              <a:ext uri="{FF2B5EF4-FFF2-40B4-BE49-F238E27FC236}">
                <a16:creationId xmlns:a16="http://schemas.microsoft.com/office/drawing/2014/main" id="{ED027199-D5EA-4CED-DF35-E45831EBAF2D}"/>
              </a:ext>
            </a:extLst>
          </p:cNvPr>
          <p:cNvSpPr txBox="1"/>
          <p:nvPr/>
        </p:nvSpPr>
        <p:spPr>
          <a:xfrm>
            <a:off x="4824059" y="3539535"/>
            <a:ext cx="5529615" cy="369332"/>
          </a:xfrm>
          <a:prstGeom prst="rect">
            <a:avLst/>
          </a:prstGeom>
          <a:solidFill>
            <a:schemeClr val="bg1">
              <a:lumMod val="95000"/>
            </a:schemeClr>
          </a:solidFill>
          <a:ln>
            <a:solidFill>
              <a:schemeClr val="bg1">
                <a:lumMod val="85000"/>
              </a:schemeClr>
            </a:solidFill>
          </a:ln>
          <a:effectLst>
            <a:softEdge rad="31750"/>
          </a:effectLst>
        </p:spPr>
        <p:txBody>
          <a:bodyPr wrap="square" rtlCol="0">
            <a:spAutoFit/>
          </a:bodyPr>
          <a:lstStyle/>
          <a:p>
            <a:pPr algn="ctr"/>
            <a:r>
              <a:rPr lang="en-NL"/>
              <a:t>GPU, GPU memory, </a:t>
            </a:r>
            <a:r>
              <a:rPr lang="en-NL">
                <a:solidFill>
                  <a:schemeClr val="tx1">
                    <a:lumMod val="50000"/>
                    <a:lumOff val="50000"/>
                  </a:schemeClr>
                </a:solidFill>
              </a:rPr>
              <a:t>CPU, network</a:t>
            </a:r>
          </a:p>
        </p:txBody>
      </p:sp>
      <p:sp>
        <p:nvSpPr>
          <p:cNvPr id="13" name="TextBox 12">
            <a:extLst>
              <a:ext uri="{FF2B5EF4-FFF2-40B4-BE49-F238E27FC236}">
                <a16:creationId xmlns:a16="http://schemas.microsoft.com/office/drawing/2014/main" id="{7BFFC532-A22A-7C18-6CE9-9FAB876DFD7B}"/>
              </a:ext>
            </a:extLst>
          </p:cNvPr>
          <p:cNvSpPr txBox="1"/>
          <p:nvPr/>
        </p:nvSpPr>
        <p:spPr>
          <a:xfrm>
            <a:off x="10496278" y="3539535"/>
            <a:ext cx="1412694" cy="369332"/>
          </a:xfrm>
          <a:prstGeom prst="rect">
            <a:avLst/>
          </a:prstGeom>
          <a:solidFill>
            <a:schemeClr val="bg1">
              <a:lumMod val="95000"/>
            </a:schemeClr>
          </a:solidFill>
          <a:ln>
            <a:solidFill>
              <a:schemeClr val="bg1">
                <a:lumMod val="85000"/>
              </a:schemeClr>
            </a:solidFill>
          </a:ln>
          <a:effectLst>
            <a:softEdge rad="31750"/>
          </a:effectLst>
        </p:spPr>
        <p:txBody>
          <a:bodyPr wrap="square" rtlCol="0">
            <a:spAutoFit/>
          </a:bodyPr>
          <a:lstStyle/>
          <a:p>
            <a:pPr algn="ctr"/>
            <a:r>
              <a:rPr lang="en-NL"/>
              <a:t>CPU, Disk</a:t>
            </a:r>
          </a:p>
        </p:txBody>
      </p:sp>
      <p:sp>
        <p:nvSpPr>
          <p:cNvPr id="2" name="Rectangle 1">
            <a:extLst>
              <a:ext uri="{FF2B5EF4-FFF2-40B4-BE49-F238E27FC236}">
                <a16:creationId xmlns:a16="http://schemas.microsoft.com/office/drawing/2014/main" id="{834A5C4B-465C-8270-5956-3DBAFFAFF573}"/>
              </a:ext>
            </a:extLst>
          </p:cNvPr>
          <p:cNvSpPr/>
          <p:nvPr/>
        </p:nvSpPr>
        <p:spPr>
          <a:xfrm>
            <a:off x="381000" y="2476500"/>
            <a:ext cx="1228725" cy="762000"/>
          </a:xfrm>
          <a:prstGeom prst="rect">
            <a:avLst/>
          </a:prstGeom>
          <a:noFill/>
          <a:ln w="1270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000000"/>
                </a:solidFill>
              </a:rPr>
              <a:t>Data </a:t>
            </a:r>
          </a:p>
          <a:p>
            <a:pPr algn="ctr"/>
            <a:r>
              <a:rPr lang="en-GB" b="1">
                <a:solidFill>
                  <a:srgbClr val="000000"/>
                </a:solidFill>
              </a:rPr>
              <a:t>loading</a:t>
            </a:r>
            <a:endParaRPr lang="en-NL" b="1">
              <a:solidFill>
                <a:srgbClr val="000000"/>
              </a:solidFill>
            </a:endParaRPr>
          </a:p>
        </p:txBody>
      </p:sp>
      <p:sp>
        <p:nvSpPr>
          <p:cNvPr id="4" name="Right Arrow 3">
            <a:extLst>
              <a:ext uri="{FF2B5EF4-FFF2-40B4-BE49-F238E27FC236}">
                <a16:creationId xmlns:a16="http://schemas.microsoft.com/office/drawing/2014/main" id="{F25425CD-DB5C-1CD0-5165-EDFC168A7764}"/>
              </a:ext>
            </a:extLst>
          </p:cNvPr>
          <p:cNvSpPr/>
          <p:nvPr/>
        </p:nvSpPr>
        <p:spPr>
          <a:xfrm>
            <a:off x="1609725"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5" name="Rectangle 4">
            <a:extLst>
              <a:ext uri="{FF2B5EF4-FFF2-40B4-BE49-F238E27FC236}">
                <a16:creationId xmlns:a16="http://schemas.microsoft.com/office/drawing/2014/main" id="{1AFC9323-28F0-256D-F439-A265F6D3C91D}"/>
              </a:ext>
            </a:extLst>
          </p:cNvPr>
          <p:cNvSpPr/>
          <p:nvPr/>
        </p:nvSpPr>
        <p:spPr>
          <a:xfrm>
            <a:off x="1838325" y="2476500"/>
            <a:ext cx="1228725" cy="762000"/>
          </a:xfrm>
          <a:prstGeom prst="rect">
            <a:avLst/>
          </a:prstGeom>
          <a:noFill/>
          <a:ln w="1270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000000"/>
                </a:solidFill>
              </a:rPr>
              <a:t>Data</a:t>
            </a:r>
            <a:r>
              <a:rPr lang="en-GB" sz="1400" b="1">
                <a:solidFill>
                  <a:srgbClr val="000000"/>
                </a:solidFill>
              </a:rPr>
              <a:t> </a:t>
            </a:r>
          </a:p>
          <a:p>
            <a:pPr algn="ctr"/>
            <a:r>
              <a:rPr lang="en-GB" sz="1400" b="1">
                <a:solidFill>
                  <a:srgbClr val="000000"/>
                </a:solidFill>
              </a:rPr>
              <a:t>preprocessing</a:t>
            </a:r>
            <a:endParaRPr lang="en-NL" b="1">
              <a:solidFill>
                <a:srgbClr val="000000"/>
              </a:solidFill>
            </a:endParaRPr>
          </a:p>
        </p:txBody>
      </p:sp>
      <p:sp>
        <p:nvSpPr>
          <p:cNvPr id="6" name="Right Arrow 5">
            <a:extLst>
              <a:ext uri="{FF2B5EF4-FFF2-40B4-BE49-F238E27FC236}">
                <a16:creationId xmlns:a16="http://schemas.microsoft.com/office/drawing/2014/main" id="{A0DE4610-2271-57F4-447D-56EF13053A1D}"/>
              </a:ext>
            </a:extLst>
          </p:cNvPr>
          <p:cNvSpPr/>
          <p:nvPr/>
        </p:nvSpPr>
        <p:spPr>
          <a:xfrm>
            <a:off x="3067050"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7" name="Rectangle 6">
            <a:extLst>
              <a:ext uri="{FF2B5EF4-FFF2-40B4-BE49-F238E27FC236}">
                <a16:creationId xmlns:a16="http://schemas.microsoft.com/office/drawing/2014/main" id="{BEB95E6A-7DB9-A90A-7D3B-970ED31CC88C}"/>
              </a:ext>
            </a:extLst>
          </p:cNvPr>
          <p:cNvSpPr/>
          <p:nvPr/>
        </p:nvSpPr>
        <p:spPr>
          <a:xfrm>
            <a:off x="3295650" y="2476500"/>
            <a:ext cx="1228725" cy="762000"/>
          </a:xfrm>
          <a:prstGeom prst="rect">
            <a:avLst/>
          </a:prstGeom>
          <a:noFill/>
          <a:ln w="1270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000000"/>
                </a:solidFill>
              </a:rPr>
              <a:t>Data</a:t>
            </a:r>
          </a:p>
          <a:p>
            <a:pPr algn="ctr"/>
            <a:r>
              <a:rPr lang="en-GB" b="1">
                <a:solidFill>
                  <a:srgbClr val="000000"/>
                </a:solidFill>
              </a:rPr>
              <a:t>transfer</a:t>
            </a:r>
            <a:endParaRPr lang="en-NL" b="1">
              <a:solidFill>
                <a:srgbClr val="000000"/>
              </a:solidFill>
            </a:endParaRPr>
          </a:p>
        </p:txBody>
      </p:sp>
      <p:sp>
        <p:nvSpPr>
          <p:cNvPr id="8" name="Right Arrow 7">
            <a:extLst>
              <a:ext uri="{FF2B5EF4-FFF2-40B4-BE49-F238E27FC236}">
                <a16:creationId xmlns:a16="http://schemas.microsoft.com/office/drawing/2014/main" id="{DEE8FEED-9D86-93A7-9E13-97E41EF4CBCE}"/>
              </a:ext>
            </a:extLst>
          </p:cNvPr>
          <p:cNvSpPr/>
          <p:nvPr/>
        </p:nvSpPr>
        <p:spPr>
          <a:xfrm>
            <a:off x="4524375"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14" name="Rectangle 13">
            <a:extLst>
              <a:ext uri="{FF2B5EF4-FFF2-40B4-BE49-F238E27FC236}">
                <a16:creationId xmlns:a16="http://schemas.microsoft.com/office/drawing/2014/main" id="{532BE193-1FCF-43F7-6CD3-3E6EB6620DBE}"/>
              </a:ext>
            </a:extLst>
          </p:cNvPr>
          <p:cNvSpPr/>
          <p:nvPr/>
        </p:nvSpPr>
        <p:spPr>
          <a:xfrm>
            <a:off x="4752975" y="2476500"/>
            <a:ext cx="1228725" cy="762000"/>
          </a:xfrm>
          <a:prstGeom prst="rect">
            <a:avLst/>
          </a:prstGeom>
          <a:noFill/>
          <a:ln w="12700" cap="flat" cmpd="sng" algn="ctr">
            <a:solidFill>
              <a:srgbClr val="F2A9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F2A900"/>
                </a:solidFill>
              </a:rPr>
              <a:t>Forward</a:t>
            </a:r>
          </a:p>
          <a:p>
            <a:pPr algn="ctr"/>
            <a:r>
              <a:rPr lang="en-GB" b="1">
                <a:solidFill>
                  <a:srgbClr val="F2A900"/>
                </a:solidFill>
              </a:rPr>
              <a:t>pass</a:t>
            </a:r>
            <a:endParaRPr lang="en-NL" b="1">
              <a:solidFill>
                <a:srgbClr val="F2A900"/>
              </a:solidFill>
            </a:endParaRPr>
          </a:p>
        </p:txBody>
      </p:sp>
      <p:sp>
        <p:nvSpPr>
          <p:cNvPr id="15" name="Right Arrow 14">
            <a:extLst>
              <a:ext uri="{FF2B5EF4-FFF2-40B4-BE49-F238E27FC236}">
                <a16:creationId xmlns:a16="http://schemas.microsoft.com/office/drawing/2014/main" id="{D578AA7A-80B2-3FDD-1FA9-11FDCE75CE6C}"/>
              </a:ext>
            </a:extLst>
          </p:cNvPr>
          <p:cNvSpPr/>
          <p:nvPr/>
        </p:nvSpPr>
        <p:spPr>
          <a:xfrm>
            <a:off x="5981700"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16" name="Rectangle 15">
            <a:extLst>
              <a:ext uri="{FF2B5EF4-FFF2-40B4-BE49-F238E27FC236}">
                <a16:creationId xmlns:a16="http://schemas.microsoft.com/office/drawing/2014/main" id="{9BA2C3B4-BE06-0615-7134-B6CB61BD838B}"/>
              </a:ext>
            </a:extLst>
          </p:cNvPr>
          <p:cNvSpPr/>
          <p:nvPr/>
        </p:nvSpPr>
        <p:spPr>
          <a:xfrm>
            <a:off x="6210300" y="2476500"/>
            <a:ext cx="1228725" cy="762000"/>
          </a:xfrm>
          <a:prstGeom prst="rect">
            <a:avLst/>
          </a:prstGeom>
          <a:noFill/>
          <a:ln w="12700" cap="flat" cmpd="sng" algn="ctr">
            <a:solidFill>
              <a:srgbClr val="F2A9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F2A900"/>
                </a:solidFill>
              </a:rPr>
              <a:t>Loss</a:t>
            </a:r>
          </a:p>
          <a:p>
            <a:pPr algn="ctr"/>
            <a:r>
              <a:rPr lang="en-GB" sz="1600" b="1">
                <a:solidFill>
                  <a:srgbClr val="F2A900"/>
                </a:solidFill>
              </a:rPr>
              <a:t>computation</a:t>
            </a:r>
            <a:endParaRPr lang="en-NL" b="1">
              <a:solidFill>
                <a:srgbClr val="F2A900"/>
              </a:solidFill>
            </a:endParaRPr>
          </a:p>
        </p:txBody>
      </p:sp>
      <p:sp>
        <p:nvSpPr>
          <p:cNvPr id="17" name="Right Arrow 16">
            <a:extLst>
              <a:ext uri="{FF2B5EF4-FFF2-40B4-BE49-F238E27FC236}">
                <a16:creationId xmlns:a16="http://schemas.microsoft.com/office/drawing/2014/main" id="{E71F2AA4-8347-F5F5-1886-9CB61013156F}"/>
              </a:ext>
            </a:extLst>
          </p:cNvPr>
          <p:cNvSpPr/>
          <p:nvPr/>
        </p:nvSpPr>
        <p:spPr>
          <a:xfrm>
            <a:off x="7439025"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18" name="Rectangle 17">
            <a:extLst>
              <a:ext uri="{FF2B5EF4-FFF2-40B4-BE49-F238E27FC236}">
                <a16:creationId xmlns:a16="http://schemas.microsoft.com/office/drawing/2014/main" id="{F89362CA-C289-D2F5-09F8-ADC8EEC089FB}"/>
              </a:ext>
            </a:extLst>
          </p:cNvPr>
          <p:cNvSpPr/>
          <p:nvPr/>
        </p:nvSpPr>
        <p:spPr>
          <a:xfrm>
            <a:off x="7667625" y="2476500"/>
            <a:ext cx="1228725" cy="762000"/>
          </a:xfrm>
          <a:prstGeom prst="rect">
            <a:avLst/>
          </a:prstGeom>
          <a:noFill/>
          <a:ln w="12700" cap="flat" cmpd="sng" algn="ctr">
            <a:solidFill>
              <a:srgbClr val="F2A9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F2A900"/>
                </a:solidFill>
              </a:rPr>
              <a:t>Backward</a:t>
            </a:r>
          </a:p>
          <a:p>
            <a:pPr algn="ctr"/>
            <a:r>
              <a:rPr lang="en-GB" b="1">
                <a:solidFill>
                  <a:srgbClr val="F2A900"/>
                </a:solidFill>
              </a:rPr>
              <a:t>pass</a:t>
            </a:r>
            <a:endParaRPr lang="en-NL" b="1">
              <a:solidFill>
                <a:srgbClr val="F2A900"/>
              </a:solidFill>
            </a:endParaRPr>
          </a:p>
        </p:txBody>
      </p:sp>
      <p:sp>
        <p:nvSpPr>
          <p:cNvPr id="19" name="Right Arrow 18">
            <a:extLst>
              <a:ext uri="{FF2B5EF4-FFF2-40B4-BE49-F238E27FC236}">
                <a16:creationId xmlns:a16="http://schemas.microsoft.com/office/drawing/2014/main" id="{49F2357E-910A-4FF1-B264-8235D052371C}"/>
              </a:ext>
            </a:extLst>
          </p:cNvPr>
          <p:cNvSpPr/>
          <p:nvPr/>
        </p:nvSpPr>
        <p:spPr>
          <a:xfrm>
            <a:off x="8896350"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20" name="Rectangle 19">
            <a:extLst>
              <a:ext uri="{FF2B5EF4-FFF2-40B4-BE49-F238E27FC236}">
                <a16:creationId xmlns:a16="http://schemas.microsoft.com/office/drawing/2014/main" id="{AFCABD39-EF83-6A1F-2FCC-4F51A225084A}"/>
              </a:ext>
            </a:extLst>
          </p:cNvPr>
          <p:cNvSpPr/>
          <p:nvPr/>
        </p:nvSpPr>
        <p:spPr>
          <a:xfrm>
            <a:off x="9124950" y="2476500"/>
            <a:ext cx="1228725" cy="762000"/>
          </a:xfrm>
          <a:prstGeom prst="rect">
            <a:avLst/>
          </a:prstGeom>
          <a:noFill/>
          <a:ln w="12700" cap="flat" cmpd="sng" algn="ctr">
            <a:solidFill>
              <a:srgbClr val="F2A9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rgbClr val="F2A900"/>
                </a:solidFill>
              </a:rPr>
              <a:t>Optimizer</a:t>
            </a:r>
          </a:p>
          <a:p>
            <a:pPr algn="ctr"/>
            <a:r>
              <a:rPr lang="en-GB" b="1">
                <a:solidFill>
                  <a:srgbClr val="F2A900"/>
                </a:solidFill>
              </a:rPr>
              <a:t>step</a:t>
            </a:r>
            <a:endParaRPr lang="en-NL" b="1">
              <a:solidFill>
                <a:srgbClr val="F2A900"/>
              </a:solidFill>
            </a:endParaRPr>
          </a:p>
        </p:txBody>
      </p:sp>
      <p:sp>
        <p:nvSpPr>
          <p:cNvPr id="21" name="Right Arrow 20">
            <a:extLst>
              <a:ext uri="{FF2B5EF4-FFF2-40B4-BE49-F238E27FC236}">
                <a16:creationId xmlns:a16="http://schemas.microsoft.com/office/drawing/2014/main" id="{B5D3FB41-0A77-7D4E-D331-A100C0C067F2}"/>
              </a:ext>
            </a:extLst>
          </p:cNvPr>
          <p:cNvSpPr/>
          <p:nvPr/>
        </p:nvSpPr>
        <p:spPr>
          <a:xfrm>
            <a:off x="10353675" y="2768600"/>
            <a:ext cx="228600" cy="177800"/>
          </a:xfrm>
          <a:prstGeom prst="rightArrow">
            <a:avLst/>
          </a:prstGeom>
          <a:solidFill>
            <a:schemeClr val="accent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NL" b="1">
              <a:solidFill>
                <a:schemeClr val="accent1"/>
              </a:solidFill>
            </a:endParaRPr>
          </a:p>
        </p:txBody>
      </p:sp>
      <p:sp>
        <p:nvSpPr>
          <p:cNvPr id="37" name="Rectangle 36">
            <a:extLst>
              <a:ext uri="{FF2B5EF4-FFF2-40B4-BE49-F238E27FC236}">
                <a16:creationId xmlns:a16="http://schemas.microsoft.com/office/drawing/2014/main" id="{A963EF2E-2F38-CEAB-BBB7-F0A2013F3055}"/>
              </a:ext>
            </a:extLst>
          </p:cNvPr>
          <p:cNvSpPr/>
          <p:nvPr/>
        </p:nvSpPr>
        <p:spPr>
          <a:xfrm>
            <a:off x="10582275" y="2476500"/>
            <a:ext cx="1228725" cy="762000"/>
          </a:xfrm>
          <a:prstGeom prst="rect">
            <a:avLst/>
          </a:prstGeom>
          <a:no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GB" b="1">
                <a:solidFill>
                  <a:schemeClr val="tx1"/>
                </a:solidFill>
              </a:rPr>
              <a:t>Logging &amp;</a:t>
            </a:r>
          </a:p>
          <a:p>
            <a:pPr algn="ctr"/>
            <a:r>
              <a:rPr lang="en-GB" sz="1400" b="1">
                <a:solidFill>
                  <a:schemeClr val="tx1"/>
                </a:solidFill>
              </a:rPr>
              <a:t>checkpointing</a:t>
            </a:r>
            <a:endParaRPr lang="en-NL" sz="1400" b="1">
              <a:solidFill>
                <a:schemeClr val="tx1"/>
              </a:solidFill>
            </a:endParaRPr>
          </a:p>
        </p:txBody>
      </p:sp>
      <p:sp>
        <p:nvSpPr>
          <p:cNvPr id="38" name="TextBox 37">
            <a:extLst>
              <a:ext uri="{FF2B5EF4-FFF2-40B4-BE49-F238E27FC236}">
                <a16:creationId xmlns:a16="http://schemas.microsoft.com/office/drawing/2014/main" id="{AF4144B1-86C5-30AD-592E-35AD8CA2D6A8}"/>
              </a:ext>
            </a:extLst>
          </p:cNvPr>
          <p:cNvSpPr txBox="1"/>
          <p:nvPr/>
        </p:nvSpPr>
        <p:spPr>
          <a:xfrm>
            <a:off x="2132511" y="5610485"/>
            <a:ext cx="8935459" cy="830997"/>
          </a:xfrm>
          <a:prstGeom prst="rect">
            <a:avLst/>
          </a:prstGeom>
          <a:noFill/>
        </p:spPr>
        <p:txBody>
          <a:bodyPr wrap="none" rtlCol="0">
            <a:spAutoFit/>
          </a:bodyPr>
          <a:lstStyle/>
          <a:p>
            <a:pPr algn="ctr"/>
            <a:r>
              <a:rPr lang="en-GB" sz="2400" b="1">
                <a:solidFill>
                  <a:schemeClr val="tx1">
                    <a:lumMod val="65000"/>
                    <a:lumOff val="35000"/>
                  </a:schemeClr>
                </a:solidFill>
              </a:rPr>
              <a:t>Training is a pipeline across </a:t>
            </a:r>
            <a:r>
              <a:rPr lang="en-GB" sz="2400" b="1" i="1">
                <a:solidFill>
                  <a:schemeClr val="tx1">
                    <a:lumMod val="65000"/>
                    <a:lumOff val="35000"/>
                  </a:schemeClr>
                </a:solidFill>
              </a:rPr>
              <a:t>multiple hardware components.</a:t>
            </a:r>
          </a:p>
          <a:p>
            <a:pPr algn="ctr"/>
            <a:r>
              <a:rPr lang="en-GB" sz="2400" b="1">
                <a:solidFill>
                  <a:schemeClr val="tx1">
                    <a:lumMod val="65000"/>
                    <a:lumOff val="35000"/>
                  </a:schemeClr>
                </a:solidFill>
              </a:rPr>
              <a:t>If training is slow, any hardware component could be responsible</a:t>
            </a:r>
            <a:endParaRPr lang="en-NL" sz="2400" b="1">
              <a:solidFill>
                <a:schemeClr val="tx1">
                  <a:lumMod val="65000"/>
                  <a:lumOff val="35000"/>
                </a:schemeClr>
              </a:solidFill>
            </a:endParaRPr>
          </a:p>
        </p:txBody>
      </p:sp>
      <p:sp>
        <p:nvSpPr>
          <p:cNvPr id="23" name="TextBox 22">
            <a:extLst>
              <a:ext uri="{FF2B5EF4-FFF2-40B4-BE49-F238E27FC236}">
                <a16:creationId xmlns:a16="http://schemas.microsoft.com/office/drawing/2014/main" id="{0F2381D2-7636-3298-6E4B-7BB44437FBD5}"/>
              </a:ext>
            </a:extLst>
          </p:cNvPr>
          <p:cNvSpPr txBox="1"/>
          <p:nvPr/>
        </p:nvSpPr>
        <p:spPr>
          <a:xfrm>
            <a:off x="530330" y="4210682"/>
            <a:ext cx="3986181" cy="1200329"/>
          </a:xfrm>
          <a:prstGeom prst="rect">
            <a:avLst/>
          </a:prstGeom>
          <a:noFill/>
        </p:spPr>
        <p:txBody>
          <a:bodyPr wrap="square" rtlCol="0">
            <a:spAutoFit/>
          </a:bodyPr>
          <a:lstStyle/>
          <a:p>
            <a:r>
              <a:rPr lang="en-NL" b="1" dirty="0">
                <a:solidFill>
                  <a:schemeClr val="accent1"/>
                </a:solidFill>
              </a:rPr>
              <a:t>I/O: </a:t>
            </a:r>
            <a:r>
              <a:rPr lang="en-NL" dirty="0">
                <a:solidFill>
                  <a:schemeClr val="accent1"/>
                </a:solidFill>
              </a:rPr>
              <a:t>Disk</a:t>
            </a:r>
          </a:p>
          <a:p>
            <a:r>
              <a:rPr lang="en-NL" b="1" dirty="0">
                <a:solidFill>
                  <a:schemeClr val="accent1"/>
                </a:solidFill>
              </a:rPr>
              <a:t>Memory: </a:t>
            </a:r>
            <a:r>
              <a:rPr lang="en-NL" dirty="0">
                <a:solidFill>
                  <a:schemeClr val="accent1"/>
                </a:solidFill>
              </a:rPr>
              <a:t>host memory, GPU memory</a:t>
            </a:r>
          </a:p>
          <a:p>
            <a:r>
              <a:rPr lang="en-NL" b="1" dirty="0">
                <a:solidFill>
                  <a:schemeClr val="accent1"/>
                </a:solidFill>
              </a:rPr>
              <a:t>Compute: </a:t>
            </a:r>
            <a:r>
              <a:rPr lang="en-NL" dirty="0">
                <a:solidFill>
                  <a:schemeClr val="accent1"/>
                </a:solidFill>
              </a:rPr>
              <a:t>CPU, GPU</a:t>
            </a:r>
          </a:p>
          <a:p>
            <a:r>
              <a:rPr lang="en-NL" b="1" dirty="0">
                <a:solidFill>
                  <a:schemeClr val="accent1"/>
                </a:solidFill>
              </a:rPr>
              <a:t>Communication</a:t>
            </a:r>
            <a:r>
              <a:rPr lang="en-NL" dirty="0">
                <a:solidFill>
                  <a:schemeClr val="accent1"/>
                </a:solidFill>
              </a:rPr>
              <a:t>: network</a:t>
            </a:r>
          </a:p>
        </p:txBody>
      </p:sp>
    </p:spTree>
    <p:extLst>
      <p:ext uri="{BB962C8B-B14F-4D97-AF65-F5344CB8AC3E}">
        <p14:creationId xmlns:p14="http://schemas.microsoft.com/office/powerpoint/2010/main" val="225802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heckerboard(across)">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568CC-2EA5-D360-833E-A100233B0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C5889-1315-4F33-E7E4-3907BD7EC4CF}"/>
              </a:ext>
            </a:extLst>
          </p:cNvPr>
          <p:cNvSpPr>
            <a:spLocks noGrp="1"/>
          </p:cNvSpPr>
          <p:nvPr>
            <p:ph type="title"/>
          </p:nvPr>
        </p:nvSpPr>
        <p:spPr>
          <a:xfrm>
            <a:off x="838200" y="128465"/>
            <a:ext cx="10515600" cy="1325563"/>
          </a:xfrm>
        </p:spPr>
        <p:txBody>
          <a:bodyPr/>
          <a:lstStyle/>
          <a:p>
            <a:pPr algn="ctr"/>
            <a:r>
              <a:rPr lang="en-NL" sz="4000"/>
              <a:t>To profile is to measure</a:t>
            </a:r>
          </a:p>
        </p:txBody>
      </p:sp>
      <p:sp>
        <p:nvSpPr>
          <p:cNvPr id="3" name="TextBox 2">
            <a:extLst>
              <a:ext uri="{FF2B5EF4-FFF2-40B4-BE49-F238E27FC236}">
                <a16:creationId xmlns:a16="http://schemas.microsoft.com/office/drawing/2014/main" id="{4E37D414-180D-3649-42B7-37404B467A47}"/>
              </a:ext>
            </a:extLst>
          </p:cNvPr>
          <p:cNvSpPr txBox="1"/>
          <p:nvPr/>
        </p:nvSpPr>
        <p:spPr>
          <a:xfrm>
            <a:off x="1866583" y="5885445"/>
            <a:ext cx="9365064" cy="461665"/>
          </a:xfrm>
          <a:prstGeom prst="rect">
            <a:avLst/>
          </a:prstGeom>
          <a:noFill/>
        </p:spPr>
        <p:txBody>
          <a:bodyPr wrap="none" rtlCol="0">
            <a:spAutoFit/>
          </a:bodyPr>
          <a:lstStyle/>
          <a:p>
            <a:pPr algn="ctr"/>
            <a:r>
              <a:rPr lang="en-GB" sz="2400" b="1">
                <a:solidFill>
                  <a:schemeClr val="tx1">
                    <a:lumMod val="65000"/>
                    <a:lumOff val="35000"/>
                  </a:schemeClr>
                </a:solidFill>
              </a:rPr>
              <a:t>PyTorch profiler tells where time is spent and where memory is used</a:t>
            </a:r>
          </a:p>
        </p:txBody>
      </p:sp>
      <p:pic>
        <p:nvPicPr>
          <p:cNvPr id="4" name="Picture 3">
            <a:extLst>
              <a:ext uri="{FF2B5EF4-FFF2-40B4-BE49-F238E27FC236}">
                <a16:creationId xmlns:a16="http://schemas.microsoft.com/office/drawing/2014/main" id="{CE2A7EA7-80B2-B374-4682-71330FF6A968}"/>
              </a:ext>
            </a:extLst>
          </p:cNvPr>
          <p:cNvPicPr>
            <a:picLocks noChangeAspect="1"/>
          </p:cNvPicPr>
          <p:nvPr/>
        </p:nvPicPr>
        <p:blipFill>
          <a:blip r:embed="rId3"/>
          <a:stretch>
            <a:fillRect/>
          </a:stretch>
        </p:blipFill>
        <p:spPr>
          <a:xfrm>
            <a:off x="2209800" y="1113882"/>
            <a:ext cx="7772400" cy="4630235"/>
          </a:xfrm>
          <a:prstGeom prst="rect">
            <a:avLst/>
          </a:prstGeom>
        </p:spPr>
      </p:pic>
    </p:spTree>
    <p:extLst>
      <p:ext uri="{BB962C8B-B14F-4D97-AF65-F5344CB8AC3E}">
        <p14:creationId xmlns:p14="http://schemas.microsoft.com/office/powerpoint/2010/main" val="2276647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573BA-5ED4-3E51-C6DD-D790C613F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3FC4C-855A-9926-C7D4-FB960F3FAE9E}"/>
              </a:ext>
            </a:extLst>
          </p:cNvPr>
          <p:cNvSpPr>
            <a:spLocks noGrp="1"/>
          </p:cNvSpPr>
          <p:nvPr>
            <p:ph type="title"/>
          </p:nvPr>
        </p:nvSpPr>
        <p:spPr>
          <a:xfrm>
            <a:off x="838200" y="128465"/>
            <a:ext cx="10515600" cy="1325563"/>
          </a:xfrm>
        </p:spPr>
        <p:txBody>
          <a:bodyPr/>
          <a:lstStyle/>
          <a:p>
            <a:pPr algn="ctr"/>
            <a:r>
              <a:rPr lang="en-NL" sz="4000"/>
              <a:t>Visualise profile traces</a:t>
            </a:r>
          </a:p>
        </p:txBody>
      </p:sp>
      <p:sp>
        <p:nvSpPr>
          <p:cNvPr id="5" name="TextBox 4">
            <a:extLst>
              <a:ext uri="{FF2B5EF4-FFF2-40B4-BE49-F238E27FC236}">
                <a16:creationId xmlns:a16="http://schemas.microsoft.com/office/drawing/2014/main" id="{B0DA920F-6643-5052-FA41-7A5F15512697}"/>
              </a:ext>
            </a:extLst>
          </p:cNvPr>
          <p:cNvSpPr txBox="1"/>
          <p:nvPr/>
        </p:nvSpPr>
        <p:spPr>
          <a:xfrm>
            <a:off x="2966165" y="5898352"/>
            <a:ext cx="7338868" cy="461665"/>
          </a:xfrm>
          <a:prstGeom prst="rect">
            <a:avLst/>
          </a:prstGeom>
          <a:noFill/>
        </p:spPr>
        <p:txBody>
          <a:bodyPr wrap="none" rtlCol="0">
            <a:spAutoFit/>
          </a:bodyPr>
          <a:lstStyle/>
          <a:p>
            <a:pPr algn="ctr"/>
            <a:r>
              <a:rPr lang="en-GB" sz="2400" b="1" dirty="0">
                <a:solidFill>
                  <a:schemeClr val="tx1">
                    <a:lumMod val="65000"/>
                    <a:lumOff val="35000"/>
                  </a:schemeClr>
                </a:solidFill>
              </a:rPr>
              <a:t>Perfetto is a powerful tool to visualise profiler results</a:t>
            </a:r>
          </a:p>
        </p:txBody>
      </p:sp>
      <p:pic>
        <p:nvPicPr>
          <p:cNvPr id="7" name="Picture 6">
            <a:extLst>
              <a:ext uri="{FF2B5EF4-FFF2-40B4-BE49-F238E27FC236}">
                <a16:creationId xmlns:a16="http://schemas.microsoft.com/office/drawing/2014/main" id="{AC60D228-C941-7378-3B9E-543351EB4F15}"/>
              </a:ext>
            </a:extLst>
          </p:cNvPr>
          <p:cNvPicPr>
            <a:picLocks noChangeAspect="1"/>
          </p:cNvPicPr>
          <p:nvPr/>
        </p:nvPicPr>
        <p:blipFill>
          <a:blip r:embed="rId3"/>
          <a:stretch>
            <a:fillRect/>
          </a:stretch>
        </p:blipFill>
        <p:spPr>
          <a:xfrm>
            <a:off x="954774" y="1451180"/>
            <a:ext cx="10464419" cy="3955639"/>
          </a:xfrm>
          <a:prstGeom prst="rect">
            <a:avLst/>
          </a:prstGeom>
        </p:spPr>
      </p:pic>
      <p:sp>
        <p:nvSpPr>
          <p:cNvPr id="8" name="TextBox 7">
            <a:extLst>
              <a:ext uri="{FF2B5EF4-FFF2-40B4-BE49-F238E27FC236}">
                <a16:creationId xmlns:a16="http://schemas.microsoft.com/office/drawing/2014/main" id="{0A8B31D9-8AAA-F0A1-08F8-7AB9075E7579}"/>
              </a:ext>
            </a:extLst>
          </p:cNvPr>
          <p:cNvSpPr txBox="1"/>
          <p:nvPr/>
        </p:nvSpPr>
        <p:spPr>
          <a:xfrm>
            <a:off x="9787174" y="6481709"/>
            <a:ext cx="2404826" cy="369332"/>
          </a:xfrm>
          <a:prstGeom prst="rect">
            <a:avLst/>
          </a:prstGeom>
          <a:noFill/>
        </p:spPr>
        <p:txBody>
          <a:bodyPr wrap="none" rtlCol="0">
            <a:spAutoFit/>
          </a:bodyPr>
          <a:lstStyle/>
          <a:p>
            <a:r>
              <a:rPr lang="en-GB">
                <a:solidFill>
                  <a:schemeClr val="accent1"/>
                </a:solidFill>
                <a:hlinkClick r:id="rId4">
                  <a:extLst>
                    <a:ext uri="{A12FA001-AC4F-418D-AE19-62706E023703}">
                      <ahyp:hlinkClr xmlns:ahyp="http://schemas.microsoft.com/office/drawing/2018/hyperlinkcolor" val="tx"/>
                    </a:ext>
                  </a:extLst>
                </a:hlinkClick>
              </a:rPr>
              <a:t>https://ui.perfetto.dev/</a:t>
            </a:r>
            <a:endParaRPr lang="en-GB">
              <a:solidFill>
                <a:schemeClr val="accent1"/>
              </a:solidFill>
            </a:endParaRPr>
          </a:p>
        </p:txBody>
      </p:sp>
      <p:sp>
        <p:nvSpPr>
          <p:cNvPr id="9" name="TextBox 8">
            <a:extLst>
              <a:ext uri="{FF2B5EF4-FFF2-40B4-BE49-F238E27FC236}">
                <a16:creationId xmlns:a16="http://schemas.microsoft.com/office/drawing/2014/main" id="{0EFD3782-A70F-C6FD-5A6E-5A8BA7302EB5}"/>
              </a:ext>
            </a:extLst>
          </p:cNvPr>
          <p:cNvSpPr txBox="1"/>
          <p:nvPr/>
        </p:nvSpPr>
        <p:spPr>
          <a:xfrm>
            <a:off x="2977116" y="2407411"/>
            <a:ext cx="607859" cy="369332"/>
          </a:xfrm>
          <a:prstGeom prst="rect">
            <a:avLst/>
          </a:prstGeom>
          <a:noFill/>
        </p:spPr>
        <p:txBody>
          <a:bodyPr wrap="none" rtlCol="0">
            <a:spAutoFit/>
          </a:bodyPr>
          <a:lstStyle/>
          <a:p>
            <a:r>
              <a:rPr lang="en-NL" b="1">
                <a:solidFill>
                  <a:srgbClr val="FF0000"/>
                </a:solidFill>
              </a:rPr>
              <a:t>CPU</a:t>
            </a:r>
          </a:p>
        </p:txBody>
      </p:sp>
      <p:sp>
        <p:nvSpPr>
          <p:cNvPr id="10" name="TextBox 9">
            <a:extLst>
              <a:ext uri="{FF2B5EF4-FFF2-40B4-BE49-F238E27FC236}">
                <a16:creationId xmlns:a16="http://schemas.microsoft.com/office/drawing/2014/main" id="{F18D5711-344A-E924-457A-259089830645}"/>
              </a:ext>
            </a:extLst>
          </p:cNvPr>
          <p:cNvSpPr txBox="1"/>
          <p:nvPr/>
        </p:nvSpPr>
        <p:spPr>
          <a:xfrm>
            <a:off x="2998381" y="4291212"/>
            <a:ext cx="779721" cy="369332"/>
          </a:xfrm>
          <a:prstGeom prst="rect">
            <a:avLst/>
          </a:prstGeom>
          <a:noFill/>
        </p:spPr>
        <p:txBody>
          <a:bodyPr wrap="square" rtlCol="0">
            <a:spAutoFit/>
          </a:bodyPr>
          <a:lstStyle/>
          <a:p>
            <a:r>
              <a:rPr lang="en-NL" b="1">
                <a:solidFill>
                  <a:srgbClr val="FF0000"/>
                </a:solidFill>
              </a:rPr>
              <a:t>GPU</a:t>
            </a:r>
          </a:p>
        </p:txBody>
      </p:sp>
    </p:spTree>
    <p:extLst>
      <p:ext uri="{BB962C8B-B14F-4D97-AF65-F5344CB8AC3E}">
        <p14:creationId xmlns:p14="http://schemas.microsoft.com/office/powerpoint/2010/main" val="2592369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3D090-3E4C-A8AF-048B-5BFAD9F1B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7EB09-F2CD-EEAB-2B24-D81FBEC2C2EB}"/>
              </a:ext>
            </a:extLst>
          </p:cNvPr>
          <p:cNvSpPr>
            <a:spLocks noGrp="1"/>
          </p:cNvSpPr>
          <p:nvPr>
            <p:ph type="title"/>
          </p:nvPr>
        </p:nvSpPr>
        <p:spPr>
          <a:xfrm>
            <a:off x="838200" y="128465"/>
            <a:ext cx="10515600" cy="1325563"/>
          </a:xfrm>
        </p:spPr>
        <p:txBody>
          <a:bodyPr/>
          <a:lstStyle/>
          <a:p>
            <a:pPr algn="ctr"/>
            <a:r>
              <a:rPr lang="en-GB" b="0" dirty="0"/>
              <a:t>Holistic Trace Analysis (HTA)</a:t>
            </a:r>
            <a:endParaRPr lang="en-NL" sz="4000" dirty="0"/>
          </a:p>
        </p:txBody>
      </p:sp>
      <p:sp>
        <p:nvSpPr>
          <p:cNvPr id="5" name="TextBox 4">
            <a:extLst>
              <a:ext uri="{FF2B5EF4-FFF2-40B4-BE49-F238E27FC236}">
                <a16:creationId xmlns:a16="http://schemas.microsoft.com/office/drawing/2014/main" id="{4FE44850-18B1-EA7F-FAA3-F453120797AE}"/>
              </a:ext>
            </a:extLst>
          </p:cNvPr>
          <p:cNvSpPr txBox="1"/>
          <p:nvPr/>
        </p:nvSpPr>
        <p:spPr>
          <a:xfrm>
            <a:off x="3322032" y="5898352"/>
            <a:ext cx="6627134" cy="461665"/>
          </a:xfrm>
          <a:prstGeom prst="rect">
            <a:avLst/>
          </a:prstGeom>
          <a:noFill/>
        </p:spPr>
        <p:txBody>
          <a:bodyPr wrap="none" rtlCol="0">
            <a:spAutoFit/>
          </a:bodyPr>
          <a:lstStyle/>
          <a:p>
            <a:pPr algn="ctr"/>
            <a:r>
              <a:rPr lang="en-GB" sz="2400" b="1" dirty="0">
                <a:solidFill>
                  <a:schemeClr val="tx1">
                    <a:lumMod val="65000"/>
                    <a:lumOff val="35000"/>
                  </a:schemeClr>
                </a:solidFill>
              </a:rPr>
              <a:t>HTA is a powerful tool to analyse profiler results</a:t>
            </a:r>
          </a:p>
        </p:txBody>
      </p:sp>
      <p:sp>
        <p:nvSpPr>
          <p:cNvPr id="8" name="TextBox 7">
            <a:extLst>
              <a:ext uri="{FF2B5EF4-FFF2-40B4-BE49-F238E27FC236}">
                <a16:creationId xmlns:a16="http://schemas.microsoft.com/office/drawing/2014/main" id="{E5F0DEB3-073C-A2EE-072A-B8E32454423F}"/>
              </a:ext>
            </a:extLst>
          </p:cNvPr>
          <p:cNvSpPr txBox="1"/>
          <p:nvPr/>
        </p:nvSpPr>
        <p:spPr>
          <a:xfrm>
            <a:off x="9463902" y="6488668"/>
            <a:ext cx="2800767" cy="369332"/>
          </a:xfrm>
          <a:prstGeom prst="rect">
            <a:avLst/>
          </a:prstGeom>
          <a:noFill/>
        </p:spPr>
        <p:txBody>
          <a:bodyPr wrap="none" rtlCol="0">
            <a:spAutoFit/>
          </a:bodyPr>
          <a:lstStyle/>
          <a:p>
            <a:r>
              <a:rPr lang="en-GB" dirty="0">
                <a:solidFill>
                  <a:schemeClr val="accent1"/>
                </a:solidFill>
              </a:rPr>
              <a:t>https://</a:t>
            </a:r>
            <a:r>
              <a:rPr lang="en-GB" dirty="0" err="1">
                <a:solidFill>
                  <a:schemeClr val="accent1"/>
                </a:solidFill>
              </a:rPr>
              <a:t>hta.readthedocs.io</a:t>
            </a:r>
            <a:r>
              <a:rPr lang="en-GB" dirty="0">
                <a:solidFill>
                  <a:schemeClr val="accent1"/>
                </a:solidFill>
              </a:rPr>
              <a:t>/</a:t>
            </a:r>
          </a:p>
        </p:txBody>
      </p:sp>
      <p:sp>
        <p:nvSpPr>
          <p:cNvPr id="3" name="TextBox 2">
            <a:extLst>
              <a:ext uri="{FF2B5EF4-FFF2-40B4-BE49-F238E27FC236}">
                <a16:creationId xmlns:a16="http://schemas.microsoft.com/office/drawing/2014/main" id="{948684EC-C9F6-C2BF-C8BF-AD86CB44A48F}"/>
              </a:ext>
            </a:extLst>
          </p:cNvPr>
          <p:cNvSpPr txBox="1"/>
          <p:nvPr/>
        </p:nvSpPr>
        <p:spPr>
          <a:xfrm>
            <a:off x="1202308" y="1464246"/>
            <a:ext cx="4893692" cy="2000548"/>
          </a:xfrm>
          <a:prstGeom prst="rect">
            <a:avLst/>
          </a:prstGeom>
          <a:noFill/>
        </p:spPr>
        <p:txBody>
          <a:bodyPr wrap="square" rtlCol="0">
            <a:spAutoFit/>
          </a:bodyPr>
          <a:lstStyle/>
          <a:p>
            <a:r>
              <a:rPr lang="en-NL" sz="2400" b="1" dirty="0">
                <a:solidFill>
                  <a:schemeClr val="accent1"/>
                </a:solidFill>
              </a:rPr>
              <a:t>GPU time breakdown:</a:t>
            </a:r>
          </a:p>
          <a:p>
            <a:pPr marL="285750" indent="-285750">
              <a:buFontTx/>
              <a:buChar char="-"/>
            </a:pPr>
            <a:r>
              <a:rPr lang="en-GB" sz="2000" dirty="0"/>
              <a:t>Idle time</a:t>
            </a:r>
          </a:p>
          <a:p>
            <a:pPr marL="285750" indent="-285750">
              <a:buFontTx/>
              <a:buChar char="-"/>
            </a:pPr>
            <a:r>
              <a:rPr lang="en-GB" sz="2000" dirty="0"/>
              <a:t>Compute time (e.g. matrix multiplications)</a:t>
            </a:r>
          </a:p>
          <a:p>
            <a:pPr marL="285750" indent="-285750">
              <a:buFontTx/>
              <a:buChar char="-"/>
            </a:pPr>
            <a:r>
              <a:rPr lang="en-GB" sz="2000" dirty="0"/>
              <a:t>Non-compute time (communication or memory events)</a:t>
            </a:r>
          </a:p>
        </p:txBody>
      </p:sp>
      <p:sp>
        <p:nvSpPr>
          <p:cNvPr id="4" name="TextBox 3">
            <a:extLst>
              <a:ext uri="{FF2B5EF4-FFF2-40B4-BE49-F238E27FC236}">
                <a16:creationId xmlns:a16="http://schemas.microsoft.com/office/drawing/2014/main" id="{633E5142-ACF5-5599-5CC3-1BD6E911C82A}"/>
              </a:ext>
            </a:extLst>
          </p:cNvPr>
          <p:cNvSpPr txBox="1"/>
          <p:nvPr/>
        </p:nvSpPr>
        <p:spPr>
          <a:xfrm>
            <a:off x="1202308" y="3749087"/>
            <a:ext cx="3698448" cy="1384995"/>
          </a:xfrm>
          <a:prstGeom prst="rect">
            <a:avLst/>
          </a:prstGeom>
          <a:noFill/>
        </p:spPr>
        <p:txBody>
          <a:bodyPr wrap="none" rtlCol="0">
            <a:spAutoFit/>
          </a:bodyPr>
          <a:lstStyle/>
          <a:p>
            <a:r>
              <a:rPr lang="en-NL" sz="2400" b="1" dirty="0">
                <a:solidFill>
                  <a:schemeClr val="accent1"/>
                </a:solidFill>
              </a:rPr>
              <a:t>GPU idle time breakdown:</a:t>
            </a:r>
          </a:p>
          <a:p>
            <a:pPr marL="285750" indent="-285750">
              <a:buFontTx/>
              <a:buChar char="-"/>
            </a:pPr>
            <a:r>
              <a:rPr lang="en-NL" sz="2000" dirty="0"/>
              <a:t>Host wait</a:t>
            </a:r>
          </a:p>
          <a:p>
            <a:pPr marL="285750" indent="-285750">
              <a:buFontTx/>
              <a:buChar char="-"/>
            </a:pPr>
            <a:r>
              <a:rPr lang="en-NL" sz="2000" dirty="0"/>
              <a:t>Kernel wait</a:t>
            </a:r>
          </a:p>
          <a:p>
            <a:pPr marL="285750" indent="-285750">
              <a:buFontTx/>
              <a:buChar char="-"/>
            </a:pPr>
            <a:r>
              <a:rPr lang="en-NL" sz="2000" dirty="0"/>
              <a:t>Other wait</a:t>
            </a:r>
          </a:p>
        </p:txBody>
      </p:sp>
      <p:sp>
        <p:nvSpPr>
          <p:cNvPr id="6" name="TextBox 5">
            <a:extLst>
              <a:ext uri="{FF2B5EF4-FFF2-40B4-BE49-F238E27FC236}">
                <a16:creationId xmlns:a16="http://schemas.microsoft.com/office/drawing/2014/main" id="{D0C92E0D-B7AD-F1E3-43E8-D434EB0E545E}"/>
              </a:ext>
            </a:extLst>
          </p:cNvPr>
          <p:cNvSpPr txBox="1"/>
          <p:nvPr/>
        </p:nvSpPr>
        <p:spPr>
          <a:xfrm>
            <a:off x="6712525" y="1464246"/>
            <a:ext cx="4445977" cy="1692771"/>
          </a:xfrm>
          <a:prstGeom prst="rect">
            <a:avLst/>
          </a:prstGeom>
          <a:noFill/>
        </p:spPr>
        <p:txBody>
          <a:bodyPr wrap="square" rtlCol="0">
            <a:spAutoFit/>
          </a:bodyPr>
          <a:lstStyle/>
          <a:p>
            <a:r>
              <a:rPr lang="en-NL" sz="2400" b="1" dirty="0">
                <a:solidFill>
                  <a:schemeClr val="accent1"/>
                </a:solidFill>
              </a:rPr>
              <a:t>CUDA kernel launch statistics:</a:t>
            </a:r>
          </a:p>
          <a:p>
            <a:r>
              <a:rPr lang="en-GB" sz="2000" dirty="0"/>
              <a:t>Distributions of GPU kernels with </a:t>
            </a:r>
          </a:p>
          <a:p>
            <a:r>
              <a:rPr lang="en-GB" sz="2000" dirty="0"/>
              <a:t>very small duration, </a:t>
            </a:r>
          </a:p>
          <a:p>
            <a:r>
              <a:rPr lang="en-GB" sz="2000" dirty="0"/>
              <a:t>large duration, </a:t>
            </a:r>
          </a:p>
          <a:p>
            <a:r>
              <a:rPr lang="en-GB" sz="2000" dirty="0"/>
              <a:t>and excessive launch time</a:t>
            </a:r>
          </a:p>
        </p:txBody>
      </p:sp>
      <p:sp>
        <p:nvSpPr>
          <p:cNvPr id="11" name="TextBox 10">
            <a:extLst>
              <a:ext uri="{FF2B5EF4-FFF2-40B4-BE49-F238E27FC236}">
                <a16:creationId xmlns:a16="http://schemas.microsoft.com/office/drawing/2014/main" id="{B5B8B301-81F4-8E6B-D206-9929674C0724}"/>
              </a:ext>
            </a:extLst>
          </p:cNvPr>
          <p:cNvSpPr txBox="1"/>
          <p:nvPr/>
        </p:nvSpPr>
        <p:spPr>
          <a:xfrm>
            <a:off x="6712526" y="3749087"/>
            <a:ext cx="4445976" cy="1384995"/>
          </a:xfrm>
          <a:prstGeom prst="rect">
            <a:avLst/>
          </a:prstGeom>
          <a:noFill/>
        </p:spPr>
        <p:txBody>
          <a:bodyPr wrap="square" rtlCol="0">
            <a:spAutoFit/>
          </a:bodyPr>
          <a:lstStyle/>
          <a:p>
            <a:r>
              <a:rPr lang="en-GB" sz="2400" b="1" dirty="0">
                <a:solidFill>
                  <a:schemeClr val="accent1"/>
                </a:solidFill>
              </a:rPr>
              <a:t>Trace diff:</a:t>
            </a:r>
          </a:p>
          <a:p>
            <a:r>
              <a:rPr lang="en-GB" sz="2000" dirty="0"/>
              <a:t>Compare the frequency and total duration of CPU operators </a:t>
            </a:r>
          </a:p>
          <a:p>
            <a:r>
              <a:rPr lang="en-GB" sz="2000" dirty="0"/>
              <a:t>and GPU kernels from two sets of traces</a:t>
            </a:r>
          </a:p>
        </p:txBody>
      </p:sp>
    </p:spTree>
    <p:extLst>
      <p:ext uri="{BB962C8B-B14F-4D97-AF65-F5344CB8AC3E}">
        <p14:creationId xmlns:p14="http://schemas.microsoft.com/office/powerpoint/2010/main" val="1350350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71CFC-4C76-8FE3-ED73-B3C799AA0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33920-ADDE-700D-8662-934CEE7BF05C}"/>
              </a:ext>
            </a:extLst>
          </p:cNvPr>
          <p:cNvSpPr>
            <a:spLocks noGrp="1"/>
          </p:cNvSpPr>
          <p:nvPr>
            <p:ph type="title"/>
          </p:nvPr>
        </p:nvSpPr>
        <p:spPr>
          <a:xfrm>
            <a:off x="838200" y="128465"/>
            <a:ext cx="10515600" cy="1325563"/>
          </a:xfrm>
        </p:spPr>
        <p:txBody>
          <a:bodyPr/>
          <a:lstStyle/>
          <a:p>
            <a:pPr algn="ctr"/>
            <a:r>
              <a:rPr lang="en-NL" sz="4000" dirty="0">
                <a:solidFill>
                  <a:schemeClr val="accent3"/>
                </a:solidFill>
              </a:rPr>
              <a:t>Comments on profiling tools</a:t>
            </a:r>
          </a:p>
        </p:txBody>
      </p:sp>
      <p:sp>
        <p:nvSpPr>
          <p:cNvPr id="3" name="TextBox 2">
            <a:extLst>
              <a:ext uri="{FF2B5EF4-FFF2-40B4-BE49-F238E27FC236}">
                <a16:creationId xmlns:a16="http://schemas.microsoft.com/office/drawing/2014/main" id="{1369F6CD-07B5-9412-FF3D-51F7AC4EB51C}"/>
              </a:ext>
            </a:extLst>
          </p:cNvPr>
          <p:cNvSpPr txBox="1"/>
          <p:nvPr/>
        </p:nvSpPr>
        <p:spPr>
          <a:xfrm>
            <a:off x="1590316" y="1645401"/>
            <a:ext cx="9011367" cy="4093428"/>
          </a:xfrm>
          <a:prstGeom prst="rect">
            <a:avLst/>
          </a:prstGeom>
          <a:noFill/>
        </p:spPr>
        <p:txBody>
          <a:bodyPr wrap="square" rtlCol="0">
            <a:spAutoFit/>
          </a:bodyPr>
          <a:lstStyle/>
          <a:p>
            <a:r>
              <a:rPr lang="en-GB" sz="2000" b="1" dirty="0"/>
              <a:t>PyTorch Profiler</a:t>
            </a:r>
            <a:r>
              <a:rPr lang="en-GB" sz="2000" dirty="0"/>
              <a:t> is usually the right first tool for diagnosing PyTorch training/inference performance at the </a:t>
            </a:r>
            <a:r>
              <a:rPr lang="en-GB" sz="2000" i="1" dirty="0"/>
              <a:t>Python/application level.</a:t>
            </a:r>
            <a:endParaRPr lang="en-GB" sz="2000" dirty="0"/>
          </a:p>
          <a:p>
            <a:endParaRPr lang="en-GB" sz="2000" dirty="0"/>
          </a:p>
          <a:p>
            <a:r>
              <a:rPr lang="en-GB" sz="2000" dirty="0"/>
              <a:t>Use </a:t>
            </a:r>
            <a:r>
              <a:rPr lang="en-GB" sz="2000" b="1" dirty="0"/>
              <a:t>Nsight Systems</a:t>
            </a:r>
            <a:r>
              <a:rPr lang="en-GB" sz="2000" dirty="0"/>
              <a:t> when PyTorch Profiler points to CPU/GPU overlap, data transfer, GPU under-utilization, or distributed/system-level issues. </a:t>
            </a:r>
          </a:p>
          <a:p>
            <a:endParaRPr lang="en-GB" sz="2000" dirty="0"/>
          </a:p>
          <a:p>
            <a:r>
              <a:rPr lang="en-GB" sz="2000" dirty="0"/>
              <a:t>Use </a:t>
            </a:r>
            <a:r>
              <a:rPr lang="en-GB" sz="2000" b="1" dirty="0"/>
              <a:t>Nsight Compute</a:t>
            </a:r>
            <a:r>
              <a:rPr lang="en-GB" sz="2000" dirty="0"/>
              <a:t> when you need to diagnose at </a:t>
            </a:r>
            <a:r>
              <a:rPr lang="en-GB" sz="2000" i="1" dirty="0"/>
              <a:t>CUDA-kernel-level</a:t>
            </a:r>
            <a:r>
              <a:rPr lang="en-GB" sz="2000" dirty="0"/>
              <a:t>  or are developing/customizing kernels.</a:t>
            </a:r>
            <a:br>
              <a:rPr lang="en-GB" sz="2000" dirty="0"/>
            </a:br>
            <a:endParaRPr lang="en-GB" sz="2000" dirty="0"/>
          </a:p>
          <a:p>
            <a:r>
              <a:rPr lang="en-GB" sz="2000" dirty="0"/>
              <a:t>Do not use the </a:t>
            </a:r>
            <a:r>
              <a:rPr lang="en-GB" sz="2000" b="1" dirty="0"/>
              <a:t>deprecated PyTorch Profiler </a:t>
            </a:r>
            <a:r>
              <a:rPr lang="en-GB" sz="2000" b="1" dirty="0" err="1"/>
              <a:t>TensorBoard</a:t>
            </a:r>
            <a:r>
              <a:rPr lang="en-GB" sz="2000" b="1" dirty="0"/>
              <a:t> integration</a:t>
            </a:r>
            <a:r>
              <a:rPr lang="en-GB" sz="2000" dirty="0"/>
              <a:t>; use Perfetto for profiler traces. </a:t>
            </a:r>
          </a:p>
          <a:p>
            <a:r>
              <a:rPr lang="en-GB" sz="2000" dirty="0"/>
              <a:t>Note </a:t>
            </a:r>
            <a:r>
              <a:rPr lang="en-GB" sz="2000" b="1" dirty="0" err="1"/>
              <a:t>TensorBoard</a:t>
            </a:r>
            <a:r>
              <a:rPr lang="en-GB" sz="2000" b="1" dirty="0"/>
              <a:t> itself</a:t>
            </a:r>
            <a:r>
              <a:rPr lang="en-GB" sz="2000" dirty="0"/>
              <a:t> is not deprecated and can still be used for training metrics and experiment visualization.</a:t>
            </a:r>
          </a:p>
        </p:txBody>
      </p:sp>
    </p:spTree>
    <p:extLst>
      <p:ext uri="{BB962C8B-B14F-4D97-AF65-F5344CB8AC3E}">
        <p14:creationId xmlns:p14="http://schemas.microsoft.com/office/powerpoint/2010/main" val="3566608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4FF2C-EB18-B269-8249-52B1121B3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B41B9-827A-30DF-0B1F-0718CF877C79}"/>
              </a:ext>
            </a:extLst>
          </p:cNvPr>
          <p:cNvSpPr>
            <a:spLocks noGrp="1"/>
          </p:cNvSpPr>
          <p:nvPr>
            <p:ph type="title"/>
          </p:nvPr>
        </p:nvSpPr>
        <p:spPr>
          <a:xfrm>
            <a:off x="838200" y="128465"/>
            <a:ext cx="10515600" cy="1325563"/>
          </a:xfrm>
        </p:spPr>
        <p:txBody>
          <a:bodyPr/>
          <a:lstStyle/>
          <a:p>
            <a:pPr algn="ctr"/>
            <a:r>
              <a:rPr lang="en-NL" sz="4000"/>
              <a:t>Example pattern 1: slow data preparing</a:t>
            </a:r>
          </a:p>
        </p:txBody>
      </p:sp>
      <p:pic>
        <p:nvPicPr>
          <p:cNvPr id="3" name="Picture 2">
            <a:extLst>
              <a:ext uri="{FF2B5EF4-FFF2-40B4-BE49-F238E27FC236}">
                <a16:creationId xmlns:a16="http://schemas.microsoft.com/office/drawing/2014/main" id="{71A36567-3809-5584-75D7-A86C1584C478}"/>
              </a:ext>
            </a:extLst>
          </p:cNvPr>
          <p:cNvPicPr>
            <a:picLocks noChangeAspect="1"/>
          </p:cNvPicPr>
          <p:nvPr/>
        </p:nvPicPr>
        <p:blipFill>
          <a:blip r:embed="rId2"/>
          <a:stretch>
            <a:fillRect/>
          </a:stretch>
        </p:blipFill>
        <p:spPr>
          <a:xfrm>
            <a:off x="1278626" y="1188755"/>
            <a:ext cx="9442768" cy="1395650"/>
          </a:xfrm>
          <a:prstGeom prst="rect">
            <a:avLst/>
          </a:prstGeom>
        </p:spPr>
      </p:pic>
      <p:sp>
        <p:nvSpPr>
          <p:cNvPr id="4" name="TextBox 3">
            <a:extLst>
              <a:ext uri="{FF2B5EF4-FFF2-40B4-BE49-F238E27FC236}">
                <a16:creationId xmlns:a16="http://schemas.microsoft.com/office/drawing/2014/main" id="{35B8C639-739D-219F-F9A9-D69BF8B6DDD3}"/>
              </a:ext>
            </a:extLst>
          </p:cNvPr>
          <p:cNvSpPr txBox="1"/>
          <p:nvPr/>
        </p:nvSpPr>
        <p:spPr>
          <a:xfrm>
            <a:off x="626682" y="2993012"/>
            <a:ext cx="3437466" cy="1477328"/>
          </a:xfrm>
          <a:prstGeom prst="rect">
            <a:avLst/>
          </a:prstGeom>
          <a:noFill/>
        </p:spPr>
        <p:txBody>
          <a:bodyPr wrap="square" rtlCol="0">
            <a:spAutoFit/>
          </a:bodyPr>
          <a:lstStyle/>
          <a:p>
            <a:r>
              <a:rPr lang="en-NL" b="1"/>
              <a:t>Possible symptoms:</a:t>
            </a:r>
          </a:p>
          <a:p>
            <a:pPr marL="342900" indent="-342900">
              <a:buAutoNum type="arabicPeriod"/>
            </a:pPr>
            <a:r>
              <a:rPr lang="en-NL"/>
              <a:t>CPU is busy, and DataLoader takes a long time</a:t>
            </a:r>
          </a:p>
          <a:p>
            <a:pPr marL="342900" indent="-342900">
              <a:buAutoNum type="arabicPeriod"/>
            </a:pPr>
            <a:r>
              <a:rPr lang="en-NL"/>
              <a:t>GPU is idle, and there are gaps between each batch</a:t>
            </a:r>
          </a:p>
        </p:txBody>
      </p:sp>
      <p:sp>
        <p:nvSpPr>
          <p:cNvPr id="6" name="TextBox 5">
            <a:extLst>
              <a:ext uri="{FF2B5EF4-FFF2-40B4-BE49-F238E27FC236}">
                <a16:creationId xmlns:a16="http://schemas.microsoft.com/office/drawing/2014/main" id="{752BAC5E-E495-C108-757A-BCBEE26675F2}"/>
              </a:ext>
            </a:extLst>
          </p:cNvPr>
          <p:cNvSpPr txBox="1"/>
          <p:nvPr/>
        </p:nvSpPr>
        <p:spPr>
          <a:xfrm>
            <a:off x="4495949" y="2967335"/>
            <a:ext cx="3437466" cy="1200329"/>
          </a:xfrm>
          <a:prstGeom prst="rect">
            <a:avLst/>
          </a:prstGeom>
          <a:noFill/>
        </p:spPr>
        <p:txBody>
          <a:bodyPr wrap="square" rtlCol="0">
            <a:spAutoFit/>
          </a:bodyPr>
          <a:lstStyle/>
          <a:p>
            <a:r>
              <a:rPr lang="en-NL" b="1"/>
              <a:t>Possible causes:</a:t>
            </a:r>
          </a:p>
          <a:p>
            <a:pPr marL="342900" indent="-342900">
              <a:buAutoNum type="arabicPeriod"/>
            </a:pPr>
            <a:r>
              <a:rPr lang="en-NL"/>
              <a:t>Slow data loading</a:t>
            </a:r>
          </a:p>
          <a:p>
            <a:pPr marL="342900" indent="-342900">
              <a:buAutoNum type="arabicPeriod"/>
            </a:pPr>
            <a:r>
              <a:rPr lang="en-NL"/>
              <a:t>Slow data preprocessing</a:t>
            </a:r>
          </a:p>
          <a:p>
            <a:pPr marL="342900" indent="-342900">
              <a:buAutoNum type="arabicPeriod"/>
            </a:pPr>
            <a:r>
              <a:rPr lang="en-NL"/>
              <a:t>Slow data transfer</a:t>
            </a:r>
          </a:p>
        </p:txBody>
      </p:sp>
      <p:sp>
        <p:nvSpPr>
          <p:cNvPr id="7" name="TextBox 6">
            <a:extLst>
              <a:ext uri="{FF2B5EF4-FFF2-40B4-BE49-F238E27FC236}">
                <a16:creationId xmlns:a16="http://schemas.microsoft.com/office/drawing/2014/main" id="{09CEDDF0-21C7-6BFD-0A8C-0D84F8FE6CDB}"/>
              </a:ext>
            </a:extLst>
          </p:cNvPr>
          <p:cNvSpPr txBox="1"/>
          <p:nvPr/>
        </p:nvSpPr>
        <p:spPr>
          <a:xfrm>
            <a:off x="8127854" y="2967335"/>
            <a:ext cx="3437466" cy="3693319"/>
          </a:xfrm>
          <a:prstGeom prst="rect">
            <a:avLst/>
          </a:prstGeom>
          <a:noFill/>
        </p:spPr>
        <p:txBody>
          <a:bodyPr wrap="square" rtlCol="0">
            <a:spAutoFit/>
          </a:bodyPr>
          <a:lstStyle/>
          <a:p>
            <a:r>
              <a:rPr lang="en-NL" b="1"/>
              <a:t>Optimisation:</a:t>
            </a:r>
          </a:p>
          <a:p>
            <a:pPr marL="342900" indent="-342900">
              <a:buAutoNum type="arabicPeriod"/>
            </a:pPr>
            <a:r>
              <a:rPr lang="en-NL"/>
              <a:t>Store data on disk with faster I/O, or on temp RAM if training data is small</a:t>
            </a:r>
          </a:p>
          <a:p>
            <a:pPr marL="342900" indent="-342900">
              <a:buAutoNum type="arabicPeriod"/>
            </a:pPr>
            <a:r>
              <a:rPr lang="en-NL"/>
              <a:t>Use multiple CPUs and enable persistent workers</a:t>
            </a:r>
          </a:p>
          <a:p>
            <a:pPr marL="342900" indent="-342900">
              <a:buAutoNum type="arabicPeriod"/>
            </a:pPr>
            <a:r>
              <a:rPr lang="en-NL"/>
              <a:t>Load data to CPU memory with pinned memory. DO NOT directly load data to GPU memory.</a:t>
            </a:r>
          </a:p>
          <a:p>
            <a:pPr marL="342900" indent="-342900">
              <a:buAutoNum type="arabicPeriod"/>
            </a:pPr>
            <a:r>
              <a:rPr lang="en-NL"/>
              <a:t>Use non-blocking transfer</a:t>
            </a:r>
          </a:p>
          <a:p>
            <a:pPr marL="342900" indent="-342900">
              <a:buAutoNum type="arabicPeriod"/>
            </a:pPr>
            <a:r>
              <a:rPr lang="en-NL"/>
              <a:t>Optimise preprocessing computations</a:t>
            </a:r>
          </a:p>
        </p:txBody>
      </p:sp>
      <p:sp>
        <p:nvSpPr>
          <p:cNvPr id="9" name="TextBox 8">
            <a:extLst>
              <a:ext uri="{FF2B5EF4-FFF2-40B4-BE49-F238E27FC236}">
                <a16:creationId xmlns:a16="http://schemas.microsoft.com/office/drawing/2014/main" id="{6F151800-E680-A698-A105-FB4DD27CFC80}"/>
              </a:ext>
            </a:extLst>
          </p:cNvPr>
          <p:cNvSpPr txBox="1"/>
          <p:nvPr/>
        </p:nvSpPr>
        <p:spPr>
          <a:xfrm>
            <a:off x="1963596" y="5686158"/>
            <a:ext cx="3185487" cy="646331"/>
          </a:xfrm>
          <a:prstGeom prst="rect">
            <a:avLst/>
          </a:prstGeom>
          <a:noFill/>
        </p:spPr>
        <p:txBody>
          <a:bodyPr wrap="none" rtlCol="0">
            <a:spAutoFit/>
          </a:bodyPr>
          <a:lstStyle/>
          <a:p>
            <a:r>
              <a:rPr lang="en-NL" b="1">
                <a:solidFill>
                  <a:schemeClr val="accent1"/>
                </a:solidFill>
              </a:rPr>
              <a:t>SwiftMHC:</a:t>
            </a:r>
          </a:p>
          <a:p>
            <a:r>
              <a:rPr lang="en-NL">
                <a:solidFill>
                  <a:schemeClr val="accent1"/>
                </a:solidFill>
              </a:rPr>
              <a:t>53 ms/sample → 16 ms/sample</a:t>
            </a:r>
          </a:p>
        </p:txBody>
      </p:sp>
    </p:spTree>
    <p:extLst>
      <p:ext uri="{BB962C8B-B14F-4D97-AF65-F5344CB8AC3E}">
        <p14:creationId xmlns:p14="http://schemas.microsoft.com/office/powerpoint/2010/main" val="26912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87478-CC1F-558F-1D0E-C00AD625B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12445-B12C-32BE-1723-10CAE7BDF7D4}"/>
              </a:ext>
            </a:extLst>
          </p:cNvPr>
          <p:cNvSpPr>
            <a:spLocks noGrp="1"/>
          </p:cNvSpPr>
          <p:nvPr>
            <p:ph type="title"/>
          </p:nvPr>
        </p:nvSpPr>
        <p:spPr>
          <a:xfrm>
            <a:off x="838200" y="128465"/>
            <a:ext cx="10515600" cy="1325563"/>
          </a:xfrm>
        </p:spPr>
        <p:txBody>
          <a:bodyPr/>
          <a:lstStyle/>
          <a:p>
            <a:pPr algn="ctr"/>
            <a:r>
              <a:rPr lang="en-NL" sz="4000"/>
              <a:t>Pattern 2: out of memory (OOM)</a:t>
            </a:r>
          </a:p>
        </p:txBody>
      </p:sp>
      <p:pic>
        <p:nvPicPr>
          <p:cNvPr id="3" name="Picture 2">
            <a:extLst>
              <a:ext uri="{FF2B5EF4-FFF2-40B4-BE49-F238E27FC236}">
                <a16:creationId xmlns:a16="http://schemas.microsoft.com/office/drawing/2014/main" id="{9E12C0A3-3229-78E9-9085-99AD3F47FAD0}"/>
              </a:ext>
            </a:extLst>
          </p:cNvPr>
          <p:cNvPicPr>
            <a:picLocks noChangeAspect="1"/>
          </p:cNvPicPr>
          <p:nvPr/>
        </p:nvPicPr>
        <p:blipFill>
          <a:blip r:embed="rId2"/>
          <a:stretch>
            <a:fillRect/>
          </a:stretch>
        </p:blipFill>
        <p:spPr>
          <a:xfrm>
            <a:off x="1278626" y="1188755"/>
            <a:ext cx="9442768" cy="1395650"/>
          </a:xfrm>
          <a:prstGeom prst="rect">
            <a:avLst/>
          </a:prstGeom>
        </p:spPr>
      </p:pic>
      <p:sp>
        <p:nvSpPr>
          <p:cNvPr id="4" name="TextBox 3">
            <a:extLst>
              <a:ext uri="{FF2B5EF4-FFF2-40B4-BE49-F238E27FC236}">
                <a16:creationId xmlns:a16="http://schemas.microsoft.com/office/drawing/2014/main" id="{BE654F20-48EF-C060-C32F-ECDF930695DA}"/>
              </a:ext>
            </a:extLst>
          </p:cNvPr>
          <p:cNvSpPr txBox="1"/>
          <p:nvPr/>
        </p:nvSpPr>
        <p:spPr>
          <a:xfrm>
            <a:off x="626682" y="2993012"/>
            <a:ext cx="3437466" cy="2031325"/>
          </a:xfrm>
          <a:prstGeom prst="rect">
            <a:avLst/>
          </a:prstGeom>
          <a:noFill/>
        </p:spPr>
        <p:txBody>
          <a:bodyPr wrap="square" rtlCol="0">
            <a:spAutoFit/>
          </a:bodyPr>
          <a:lstStyle/>
          <a:p>
            <a:r>
              <a:rPr lang="en-NL" b="1"/>
              <a:t>Possible symptoms:</a:t>
            </a:r>
          </a:p>
          <a:p>
            <a:pPr marL="342900" indent="-342900">
              <a:buAutoNum type="arabicPeriod"/>
            </a:pPr>
            <a:r>
              <a:rPr lang="en-NL"/>
              <a:t>Batch size is small</a:t>
            </a:r>
          </a:p>
          <a:p>
            <a:pPr marL="342900" indent="-342900">
              <a:buFontTx/>
              <a:buAutoNum type="arabicPeriod"/>
            </a:pPr>
            <a:r>
              <a:rPr lang="en-NL"/>
              <a:t>GPU OOM if increasing batch size</a:t>
            </a:r>
          </a:p>
          <a:p>
            <a:pPr marL="342900" indent="-342900">
              <a:buFontTx/>
              <a:buAutoNum type="arabicPeriod"/>
            </a:pPr>
            <a:r>
              <a:rPr lang="en-NL"/>
              <a:t>Memory usage is low most of time, and peak memory is high</a:t>
            </a:r>
          </a:p>
          <a:p>
            <a:pPr marL="342900" indent="-342900">
              <a:buFontTx/>
              <a:buAutoNum type="arabicPeriod"/>
            </a:pPr>
            <a:endParaRPr lang="en-NL"/>
          </a:p>
        </p:txBody>
      </p:sp>
      <p:sp>
        <p:nvSpPr>
          <p:cNvPr id="6" name="TextBox 5">
            <a:extLst>
              <a:ext uri="{FF2B5EF4-FFF2-40B4-BE49-F238E27FC236}">
                <a16:creationId xmlns:a16="http://schemas.microsoft.com/office/drawing/2014/main" id="{C5C67737-62FC-D623-16A8-EADE3EC4FAC7}"/>
              </a:ext>
            </a:extLst>
          </p:cNvPr>
          <p:cNvSpPr txBox="1"/>
          <p:nvPr/>
        </p:nvSpPr>
        <p:spPr>
          <a:xfrm>
            <a:off x="4495949" y="2967335"/>
            <a:ext cx="3437466" cy="1477328"/>
          </a:xfrm>
          <a:prstGeom prst="rect">
            <a:avLst/>
          </a:prstGeom>
          <a:noFill/>
        </p:spPr>
        <p:txBody>
          <a:bodyPr wrap="square" rtlCol="0">
            <a:spAutoFit/>
          </a:bodyPr>
          <a:lstStyle/>
          <a:p>
            <a:r>
              <a:rPr lang="en-NL" b="1"/>
              <a:t>Possible causes:</a:t>
            </a:r>
          </a:p>
          <a:p>
            <a:pPr marL="342900" indent="-342900">
              <a:buAutoNum type="arabicPeriod"/>
            </a:pPr>
            <a:r>
              <a:rPr lang="en-NL"/>
              <a:t>GPU memory constraint</a:t>
            </a:r>
          </a:p>
          <a:p>
            <a:pPr marL="342900" indent="-342900">
              <a:buAutoNum type="arabicPeriod"/>
            </a:pPr>
            <a:r>
              <a:rPr lang="en-NL"/>
              <a:t>Some stages or operations have much higher memory usage than others</a:t>
            </a:r>
          </a:p>
        </p:txBody>
      </p:sp>
      <p:sp>
        <p:nvSpPr>
          <p:cNvPr id="7" name="TextBox 6">
            <a:extLst>
              <a:ext uri="{FF2B5EF4-FFF2-40B4-BE49-F238E27FC236}">
                <a16:creationId xmlns:a16="http://schemas.microsoft.com/office/drawing/2014/main" id="{1D9B775A-2750-7AA5-128E-791ECA34CA72}"/>
              </a:ext>
            </a:extLst>
          </p:cNvPr>
          <p:cNvSpPr txBox="1"/>
          <p:nvPr/>
        </p:nvSpPr>
        <p:spPr>
          <a:xfrm>
            <a:off x="8127854" y="2967335"/>
            <a:ext cx="3437466" cy="1754326"/>
          </a:xfrm>
          <a:prstGeom prst="rect">
            <a:avLst/>
          </a:prstGeom>
          <a:noFill/>
        </p:spPr>
        <p:txBody>
          <a:bodyPr wrap="square" rtlCol="0">
            <a:spAutoFit/>
          </a:bodyPr>
          <a:lstStyle/>
          <a:p>
            <a:r>
              <a:rPr lang="en-NL" b="1"/>
              <a:t>Optimisation:</a:t>
            </a:r>
          </a:p>
          <a:p>
            <a:pPr marL="342900" indent="-342900">
              <a:buAutoNum type="arabicPeriod"/>
            </a:pPr>
            <a:r>
              <a:rPr lang="en-NL"/>
              <a:t>Optimise the stages or operations with high memory usage</a:t>
            </a:r>
          </a:p>
          <a:p>
            <a:pPr marL="342900" indent="-342900">
              <a:buAutoNum type="arabicPeriod"/>
            </a:pPr>
            <a:r>
              <a:rPr lang="en-NL"/>
              <a:t>U</a:t>
            </a:r>
            <a:r>
              <a:rPr lang="en-GB"/>
              <a:t>s</a:t>
            </a:r>
            <a:r>
              <a:rPr lang="en-NL"/>
              <a:t>e mixed precision (BF16)</a:t>
            </a:r>
          </a:p>
          <a:p>
            <a:pPr marL="342900" indent="-342900">
              <a:buAutoNum type="arabicPeriod"/>
            </a:pPr>
            <a:r>
              <a:rPr lang="en-NL"/>
              <a:t>Use gradient checkpointing</a:t>
            </a:r>
          </a:p>
        </p:txBody>
      </p:sp>
      <p:sp>
        <p:nvSpPr>
          <p:cNvPr id="9" name="TextBox 8">
            <a:extLst>
              <a:ext uri="{FF2B5EF4-FFF2-40B4-BE49-F238E27FC236}">
                <a16:creationId xmlns:a16="http://schemas.microsoft.com/office/drawing/2014/main" id="{CB3C986A-B383-84A3-294C-719296F2CCEB}"/>
              </a:ext>
            </a:extLst>
          </p:cNvPr>
          <p:cNvSpPr txBox="1"/>
          <p:nvPr/>
        </p:nvSpPr>
        <p:spPr>
          <a:xfrm>
            <a:off x="1963595" y="5745979"/>
            <a:ext cx="5334513" cy="646331"/>
          </a:xfrm>
          <a:prstGeom prst="rect">
            <a:avLst/>
          </a:prstGeom>
          <a:noFill/>
        </p:spPr>
        <p:txBody>
          <a:bodyPr wrap="square" rtlCol="0">
            <a:spAutoFit/>
          </a:bodyPr>
          <a:lstStyle/>
          <a:p>
            <a:r>
              <a:rPr lang="en-NL" b="1">
                <a:solidFill>
                  <a:schemeClr val="accent1"/>
                </a:solidFill>
              </a:rPr>
              <a:t>SwiftMHC:</a:t>
            </a:r>
          </a:p>
          <a:p>
            <a:r>
              <a:rPr lang="en-NL">
                <a:solidFill>
                  <a:schemeClr val="accent1"/>
                </a:solidFill>
              </a:rPr>
              <a:t>peak memory 23GB (batch size 64) → 13GB (bs 2048)</a:t>
            </a:r>
          </a:p>
        </p:txBody>
      </p:sp>
    </p:spTree>
    <p:extLst>
      <p:ext uri="{BB962C8B-B14F-4D97-AF65-F5344CB8AC3E}">
        <p14:creationId xmlns:p14="http://schemas.microsoft.com/office/powerpoint/2010/main" val="210521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checkerboard(across)">
                                      <p:cBhvr>
                                        <p:cTn id="17" dur="500"/>
                                        <p:tgtEl>
                                          <p:spTgt spid="9">
                                            <p:txEl>
                                              <p:pRg st="0" end="0"/>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checkerboard(across)">
                                      <p:cBhvr>
                                        <p:cTn id="20"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DC0C1-3488-2983-F80F-E2D15F6A1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D255D-4609-85BE-BFAC-5CE90853054E}"/>
              </a:ext>
            </a:extLst>
          </p:cNvPr>
          <p:cNvSpPr>
            <a:spLocks noGrp="1"/>
          </p:cNvSpPr>
          <p:nvPr>
            <p:ph type="title"/>
          </p:nvPr>
        </p:nvSpPr>
        <p:spPr>
          <a:xfrm>
            <a:off x="838200" y="128465"/>
            <a:ext cx="10515600" cy="1325563"/>
          </a:xfrm>
        </p:spPr>
        <p:txBody>
          <a:bodyPr/>
          <a:lstStyle/>
          <a:p>
            <a:pPr algn="ctr"/>
            <a:r>
              <a:rPr lang="en-NL" sz="4000"/>
              <a:t>Pattern 3: tiny operations</a:t>
            </a:r>
          </a:p>
        </p:txBody>
      </p:sp>
      <p:pic>
        <p:nvPicPr>
          <p:cNvPr id="3" name="Picture 2">
            <a:extLst>
              <a:ext uri="{FF2B5EF4-FFF2-40B4-BE49-F238E27FC236}">
                <a16:creationId xmlns:a16="http://schemas.microsoft.com/office/drawing/2014/main" id="{0A27C9E8-3C70-31CC-E2AC-6C0D278AE49B}"/>
              </a:ext>
            </a:extLst>
          </p:cNvPr>
          <p:cNvPicPr>
            <a:picLocks noChangeAspect="1"/>
          </p:cNvPicPr>
          <p:nvPr/>
        </p:nvPicPr>
        <p:blipFill>
          <a:blip r:embed="rId2"/>
          <a:stretch>
            <a:fillRect/>
          </a:stretch>
        </p:blipFill>
        <p:spPr>
          <a:xfrm>
            <a:off x="1278626" y="1188755"/>
            <a:ext cx="9442768" cy="1395650"/>
          </a:xfrm>
          <a:prstGeom prst="rect">
            <a:avLst/>
          </a:prstGeom>
        </p:spPr>
      </p:pic>
      <p:sp>
        <p:nvSpPr>
          <p:cNvPr id="4" name="TextBox 3">
            <a:extLst>
              <a:ext uri="{FF2B5EF4-FFF2-40B4-BE49-F238E27FC236}">
                <a16:creationId xmlns:a16="http://schemas.microsoft.com/office/drawing/2014/main" id="{4A250871-E17B-9D5D-668D-620940C12ECD}"/>
              </a:ext>
            </a:extLst>
          </p:cNvPr>
          <p:cNvSpPr txBox="1"/>
          <p:nvPr/>
        </p:nvSpPr>
        <p:spPr>
          <a:xfrm>
            <a:off x="626682" y="2993012"/>
            <a:ext cx="3437466" cy="1200329"/>
          </a:xfrm>
          <a:prstGeom prst="rect">
            <a:avLst/>
          </a:prstGeom>
          <a:noFill/>
        </p:spPr>
        <p:txBody>
          <a:bodyPr wrap="square" rtlCol="0">
            <a:spAutoFit/>
          </a:bodyPr>
          <a:lstStyle/>
          <a:p>
            <a:r>
              <a:rPr lang="en-NL" b="1"/>
              <a:t>Possible symptoms:</a:t>
            </a:r>
          </a:p>
          <a:p>
            <a:pPr marL="342900" indent="-342900">
              <a:buAutoNum type="arabicPeriod"/>
            </a:pPr>
            <a:r>
              <a:rPr lang="en-NL"/>
              <a:t>GPU usage is low</a:t>
            </a:r>
          </a:p>
          <a:p>
            <a:pPr marL="342900" indent="-342900">
              <a:buAutoNum type="arabicPeriod"/>
            </a:pPr>
            <a:r>
              <a:rPr lang="en-GB"/>
              <a:t>M</a:t>
            </a:r>
            <a:r>
              <a:rPr lang="en-NL"/>
              <a:t>any gaps on GPU profile trace</a:t>
            </a:r>
          </a:p>
        </p:txBody>
      </p:sp>
      <p:sp>
        <p:nvSpPr>
          <p:cNvPr id="6" name="TextBox 5">
            <a:extLst>
              <a:ext uri="{FF2B5EF4-FFF2-40B4-BE49-F238E27FC236}">
                <a16:creationId xmlns:a16="http://schemas.microsoft.com/office/drawing/2014/main" id="{FD74611C-4D34-FC1C-98B3-B1E07764E236}"/>
              </a:ext>
            </a:extLst>
          </p:cNvPr>
          <p:cNvSpPr txBox="1"/>
          <p:nvPr/>
        </p:nvSpPr>
        <p:spPr>
          <a:xfrm>
            <a:off x="4495949" y="2967335"/>
            <a:ext cx="3437466" cy="923330"/>
          </a:xfrm>
          <a:prstGeom prst="rect">
            <a:avLst/>
          </a:prstGeom>
          <a:noFill/>
        </p:spPr>
        <p:txBody>
          <a:bodyPr wrap="square" rtlCol="0">
            <a:spAutoFit/>
          </a:bodyPr>
          <a:lstStyle/>
          <a:p>
            <a:r>
              <a:rPr lang="en-NL" b="1"/>
              <a:t>Possible causes:</a:t>
            </a:r>
          </a:p>
          <a:p>
            <a:pPr marL="342900" indent="-342900">
              <a:buAutoNum type="arabicPeriod"/>
            </a:pPr>
            <a:r>
              <a:rPr lang="en-NL"/>
              <a:t>Tiny operations in forward pass and/or loss computation</a:t>
            </a:r>
          </a:p>
        </p:txBody>
      </p:sp>
      <p:sp>
        <p:nvSpPr>
          <p:cNvPr id="7" name="TextBox 6">
            <a:extLst>
              <a:ext uri="{FF2B5EF4-FFF2-40B4-BE49-F238E27FC236}">
                <a16:creationId xmlns:a16="http://schemas.microsoft.com/office/drawing/2014/main" id="{0A97A70A-6462-9159-D53C-34EDC2CCC187}"/>
              </a:ext>
            </a:extLst>
          </p:cNvPr>
          <p:cNvSpPr txBox="1"/>
          <p:nvPr/>
        </p:nvSpPr>
        <p:spPr>
          <a:xfrm>
            <a:off x="8127854" y="2967335"/>
            <a:ext cx="3437466" cy="1754326"/>
          </a:xfrm>
          <a:prstGeom prst="rect">
            <a:avLst/>
          </a:prstGeom>
          <a:noFill/>
        </p:spPr>
        <p:txBody>
          <a:bodyPr wrap="square" rtlCol="0">
            <a:spAutoFit/>
          </a:bodyPr>
          <a:lstStyle/>
          <a:p>
            <a:r>
              <a:rPr lang="en-NL" b="1"/>
              <a:t>Optimisation:</a:t>
            </a:r>
          </a:p>
          <a:p>
            <a:pPr marL="342900" indent="-342900">
              <a:buAutoNum type="arabicPeriod"/>
            </a:pPr>
            <a:r>
              <a:rPr lang="en-GB"/>
              <a:t>Vectorize operations</a:t>
            </a:r>
          </a:p>
          <a:p>
            <a:pPr marL="342900" indent="-342900">
              <a:buAutoNum type="arabicPeriod"/>
            </a:pPr>
            <a:r>
              <a:rPr lang="en-GB"/>
              <a:t>Merge operations</a:t>
            </a:r>
          </a:p>
          <a:p>
            <a:pPr marL="342900" indent="-342900">
              <a:buAutoNum type="arabicPeriod"/>
            </a:pPr>
            <a:r>
              <a:rPr lang="en-GB"/>
              <a:t>Try  `</a:t>
            </a:r>
            <a:r>
              <a:rPr lang="en-GB" err="1"/>
              <a:t>torch.compile</a:t>
            </a:r>
            <a:r>
              <a:rPr lang="en-GB"/>
              <a:t>` on forward pass and loss functions </a:t>
            </a:r>
          </a:p>
        </p:txBody>
      </p:sp>
      <p:sp>
        <p:nvSpPr>
          <p:cNvPr id="8" name="TextBox 7">
            <a:extLst>
              <a:ext uri="{FF2B5EF4-FFF2-40B4-BE49-F238E27FC236}">
                <a16:creationId xmlns:a16="http://schemas.microsoft.com/office/drawing/2014/main" id="{91355021-7382-040A-71AF-50530766FBC9}"/>
              </a:ext>
            </a:extLst>
          </p:cNvPr>
          <p:cNvSpPr txBox="1"/>
          <p:nvPr/>
        </p:nvSpPr>
        <p:spPr>
          <a:xfrm>
            <a:off x="1963596" y="5686158"/>
            <a:ext cx="3185487" cy="646331"/>
          </a:xfrm>
          <a:prstGeom prst="rect">
            <a:avLst/>
          </a:prstGeom>
          <a:noFill/>
        </p:spPr>
        <p:txBody>
          <a:bodyPr wrap="none" rtlCol="0">
            <a:spAutoFit/>
          </a:bodyPr>
          <a:lstStyle/>
          <a:p>
            <a:r>
              <a:rPr lang="en-NL" b="1">
                <a:solidFill>
                  <a:schemeClr val="accent1"/>
                </a:solidFill>
              </a:rPr>
              <a:t>SwiftMHC:</a:t>
            </a:r>
          </a:p>
          <a:p>
            <a:r>
              <a:rPr lang="en-NL">
                <a:solidFill>
                  <a:schemeClr val="accent1"/>
                </a:solidFill>
              </a:rPr>
              <a:t>53 ms/sample → 6 ms/sample</a:t>
            </a:r>
          </a:p>
        </p:txBody>
      </p:sp>
    </p:spTree>
    <p:extLst>
      <p:ext uri="{BB962C8B-B14F-4D97-AF65-F5344CB8AC3E}">
        <p14:creationId xmlns:p14="http://schemas.microsoft.com/office/powerpoint/2010/main" val="235214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heckerboard(across)">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BD669-469F-FAFC-D918-47A34D71C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499B6-2FE7-AF4C-3B8A-4350AC8EFD78}"/>
              </a:ext>
            </a:extLst>
          </p:cNvPr>
          <p:cNvSpPr>
            <a:spLocks noGrp="1"/>
          </p:cNvSpPr>
          <p:nvPr>
            <p:ph type="title"/>
          </p:nvPr>
        </p:nvSpPr>
        <p:spPr>
          <a:xfrm>
            <a:off x="838200" y="128465"/>
            <a:ext cx="10515600" cy="1325563"/>
          </a:xfrm>
        </p:spPr>
        <p:txBody>
          <a:bodyPr/>
          <a:lstStyle/>
          <a:p>
            <a:pPr algn="ctr"/>
            <a:r>
              <a:rPr lang="en-NL" sz="4000"/>
              <a:t>Pattern 4: overhead</a:t>
            </a:r>
          </a:p>
        </p:txBody>
      </p:sp>
      <p:pic>
        <p:nvPicPr>
          <p:cNvPr id="3" name="Picture 2">
            <a:extLst>
              <a:ext uri="{FF2B5EF4-FFF2-40B4-BE49-F238E27FC236}">
                <a16:creationId xmlns:a16="http://schemas.microsoft.com/office/drawing/2014/main" id="{82017BF4-57D2-8965-9D17-62DC796F82F8}"/>
              </a:ext>
            </a:extLst>
          </p:cNvPr>
          <p:cNvPicPr>
            <a:picLocks noChangeAspect="1"/>
          </p:cNvPicPr>
          <p:nvPr/>
        </p:nvPicPr>
        <p:blipFill>
          <a:blip r:embed="rId3"/>
          <a:stretch>
            <a:fillRect/>
          </a:stretch>
        </p:blipFill>
        <p:spPr>
          <a:xfrm>
            <a:off x="1278626" y="1188755"/>
            <a:ext cx="9442768" cy="1395650"/>
          </a:xfrm>
          <a:prstGeom prst="rect">
            <a:avLst/>
          </a:prstGeom>
        </p:spPr>
      </p:pic>
      <p:sp>
        <p:nvSpPr>
          <p:cNvPr id="4" name="TextBox 3">
            <a:extLst>
              <a:ext uri="{FF2B5EF4-FFF2-40B4-BE49-F238E27FC236}">
                <a16:creationId xmlns:a16="http://schemas.microsoft.com/office/drawing/2014/main" id="{439CB230-F252-C403-F2AD-F00E11771A5B}"/>
              </a:ext>
            </a:extLst>
          </p:cNvPr>
          <p:cNvSpPr txBox="1"/>
          <p:nvPr/>
        </p:nvSpPr>
        <p:spPr>
          <a:xfrm>
            <a:off x="626682" y="2993012"/>
            <a:ext cx="3437466" cy="2308324"/>
          </a:xfrm>
          <a:prstGeom prst="rect">
            <a:avLst/>
          </a:prstGeom>
          <a:noFill/>
        </p:spPr>
        <p:txBody>
          <a:bodyPr wrap="square" rtlCol="0">
            <a:spAutoFit/>
          </a:bodyPr>
          <a:lstStyle/>
          <a:p>
            <a:r>
              <a:rPr lang="en-NL" b="1"/>
              <a:t>Possible symptoms:</a:t>
            </a:r>
          </a:p>
          <a:p>
            <a:pPr marL="342900" indent="-342900">
              <a:buAutoNum type="arabicPeriod"/>
            </a:pPr>
            <a:r>
              <a:rPr lang="en-GB"/>
              <a:t>L</a:t>
            </a:r>
            <a:r>
              <a:rPr lang="en-NL"/>
              <a:t>ogging and checkpointing takes a long time</a:t>
            </a:r>
          </a:p>
          <a:p>
            <a:pPr marL="342900" indent="-342900">
              <a:buFontTx/>
              <a:buAutoNum type="arabicPeriod"/>
            </a:pPr>
            <a:r>
              <a:rPr lang="en-GB"/>
              <a:t>M</a:t>
            </a:r>
            <a:r>
              <a:rPr lang="en-NL"/>
              <a:t>etrics computation takes longer time when batch size goes up</a:t>
            </a:r>
          </a:p>
          <a:p>
            <a:pPr marL="342900" indent="-342900">
              <a:buFontTx/>
              <a:buAutoNum type="arabicPeriod"/>
            </a:pPr>
            <a:r>
              <a:rPr lang="en-NL"/>
              <a:t>GPU is idle during logging and checkpointing</a:t>
            </a:r>
          </a:p>
        </p:txBody>
      </p:sp>
      <p:sp>
        <p:nvSpPr>
          <p:cNvPr id="6" name="TextBox 5">
            <a:extLst>
              <a:ext uri="{FF2B5EF4-FFF2-40B4-BE49-F238E27FC236}">
                <a16:creationId xmlns:a16="http://schemas.microsoft.com/office/drawing/2014/main" id="{4788ED61-F5FB-0FA3-BC2F-05442CA2EEF4}"/>
              </a:ext>
            </a:extLst>
          </p:cNvPr>
          <p:cNvSpPr txBox="1"/>
          <p:nvPr/>
        </p:nvSpPr>
        <p:spPr>
          <a:xfrm>
            <a:off x="4495949" y="2967335"/>
            <a:ext cx="3437466" cy="923330"/>
          </a:xfrm>
          <a:prstGeom prst="rect">
            <a:avLst/>
          </a:prstGeom>
          <a:noFill/>
        </p:spPr>
        <p:txBody>
          <a:bodyPr wrap="square" rtlCol="0">
            <a:spAutoFit/>
          </a:bodyPr>
          <a:lstStyle/>
          <a:p>
            <a:r>
              <a:rPr lang="en-NL" b="1"/>
              <a:t>Possible causes:</a:t>
            </a:r>
          </a:p>
          <a:p>
            <a:pPr marL="342900" indent="-342900">
              <a:buAutoNum type="arabicPeriod"/>
            </a:pPr>
            <a:r>
              <a:rPr lang="en-NL"/>
              <a:t>Slow logging, checkpointing or metrics computation</a:t>
            </a:r>
          </a:p>
        </p:txBody>
      </p:sp>
      <p:sp>
        <p:nvSpPr>
          <p:cNvPr id="7" name="TextBox 6">
            <a:extLst>
              <a:ext uri="{FF2B5EF4-FFF2-40B4-BE49-F238E27FC236}">
                <a16:creationId xmlns:a16="http://schemas.microsoft.com/office/drawing/2014/main" id="{1F672DC1-EB24-B690-31B3-C78B6A9DD420}"/>
              </a:ext>
            </a:extLst>
          </p:cNvPr>
          <p:cNvSpPr txBox="1"/>
          <p:nvPr/>
        </p:nvSpPr>
        <p:spPr>
          <a:xfrm>
            <a:off x="8127854" y="2967335"/>
            <a:ext cx="3437466" cy="2862322"/>
          </a:xfrm>
          <a:prstGeom prst="rect">
            <a:avLst/>
          </a:prstGeom>
          <a:noFill/>
        </p:spPr>
        <p:txBody>
          <a:bodyPr wrap="square" rtlCol="0">
            <a:spAutoFit/>
          </a:bodyPr>
          <a:lstStyle/>
          <a:p>
            <a:r>
              <a:rPr lang="en-NL" b="1"/>
              <a:t>Optimisation:</a:t>
            </a:r>
          </a:p>
          <a:p>
            <a:pPr marL="342900" indent="-342900">
              <a:buAutoNum type="arabicPeriod"/>
            </a:pPr>
            <a:r>
              <a:rPr lang="en-NL"/>
              <a:t>Optimise the metrics computation, e.g. vectorize and merge operations, reduce repeated compuations and retrieval</a:t>
            </a:r>
          </a:p>
          <a:p>
            <a:pPr marL="342900" indent="-342900">
              <a:buAutoNum type="arabicPeriod"/>
            </a:pPr>
            <a:r>
              <a:rPr lang="en-NL"/>
              <a:t>Reduce the frequency of logging and checkpointing</a:t>
            </a:r>
          </a:p>
          <a:p>
            <a:pPr marL="342900" indent="-342900">
              <a:buAutoNum type="arabicPeriod"/>
            </a:pPr>
            <a:r>
              <a:rPr lang="en-NL"/>
              <a:t>Simplify the content for logging and checkpointing</a:t>
            </a:r>
          </a:p>
        </p:txBody>
      </p:sp>
      <p:sp>
        <p:nvSpPr>
          <p:cNvPr id="9" name="TextBox 8">
            <a:extLst>
              <a:ext uri="{FF2B5EF4-FFF2-40B4-BE49-F238E27FC236}">
                <a16:creationId xmlns:a16="http://schemas.microsoft.com/office/drawing/2014/main" id="{BDEBAA87-F0FC-BC82-544F-B6B9B177CCCB}"/>
              </a:ext>
            </a:extLst>
          </p:cNvPr>
          <p:cNvSpPr txBox="1"/>
          <p:nvPr/>
        </p:nvSpPr>
        <p:spPr>
          <a:xfrm>
            <a:off x="1963595" y="5745979"/>
            <a:ext cx="5334513" cy="923330"/>
          </a:xfrm>
          <a:prstGeom prst="rect">
            <a:avLst/>
          </a:prstGeom>
          <a:noFill/>
        </p:spPr>
        <p:txBody>
          <a:bodyPr wrap="square" rtlCol="0">
            <a:spAutoFit/>
          </a:bodyPr>
          <a:lstStyle/>
          <a:p>
            <a:r>
              <a:rPr lang="en-NL" b="1">
                <a:solidFill>
                  <a:schemeClr val="accent1"/>
                </a:solidFill>
              </a:rPr>
              <a:t>SwiftMHC:</a:t>
            </a:r>
          </a:p>
          <a:p>
            <a:r>
              <a:rPr lang="en-NL">
                <a:solidFill>
                  <a:schemeClr val="accent1"/>
                </a:solidFill>
              </a:rPr>
              <a:t>RMSD compuation overhead (bs 2048)</a:t>
            </a:r>
            <a:endParaRPr lang="en-US">
              <a:solidFill>
                <a:schemeClr val="accent1"/>
              </a:solidFill>
            </a:endParaRPr>
          </a:p>
          <a:p>
            <a:r>
              <a:rPr lang="en-NL">
                <a:solidFill>
                  <a:schemeClr val="accent1"/>
                </a:solidFill>
              </a:rPr>
              <a:t>27ms → 0.7ms</a:t>
            </a:r>
          </a:p>
        </p:txBody>
      </p:sp>
    </p:spTree>
    <p:extLst>
      <p:ext uri="{BB962C8B-B14F-4D97-AF65-F5344CB8AC3E}">
        <p14:creationId xmlns:p14="http://schemas.microsoft.com/office/powerpoint/2010/main" val="3969440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checkerboard(across)">
                                      <p:cBhvr>
                                        <p:cTn id="12" dur="500"/>
                                        <p:tgtEl>
                                          <p:spTgt spid="7">
                                            <p:txEl>
                                              <p:pRg st="0" end="0"/>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checkerboard(across)">
                                      <p:cBhvr>
                                        <p:cTn id="15" dur="500"/>
                                        <p:tgtEl>
                                          <p:spTgt spid="7">
                                            <p:txEl>
                                              <p:pRg st="1" end="1"/>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checkerboard(across)">
                                      <p:cBhvr>
                                        <p:cTn id="18" dur="500"/>
                                        <p:tgtEl>
                                          <p:spTgt spid="7">
                                            <p:txEl>
                                              <p:pRg st="2" end="2"/>
                                            </p:txEl>
                                          </p:spTgt>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checkerboard(across)">
                                      <p:cBhvr>
                                        <p:cTn id="21" dur="500"/>
                                        <p:tgtEl>
                                          <p:spTgt spid="7">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checkerboard(across)">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allAtOnce"/>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6E1D0-6DF5-C6A4-669F-0A82BB64DC5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FA468AD-F914-8EA2-2F03-AE85C1FCFF76}"/>
              </a:ext>
            </a:extLst>
          </p:cNvPr>
          <p:cNvPicPr>
            <a:picLocks noChangeAspect="1"/>
          </p:cNvPicPr>
          <p:nvPr/>
        </p:nvPicPr>
        <p:blipFill>
          <a:blip r:embed="rId2"/>
          <a:stretch>
            <a:fillRect/>
          </a:stretch>
        </p:blipFill>
        <p:spPr>
          <a:xfrm>
            <a:off x="2209800" y="1703273"/>
            <a:ext cx="7772400" cy="3451454"/>
          </a:xfrm>
          <a:prstGeom prst="rect">
            <a:avLst/>
          </a:prstGeom>
        </p:spPr>
      </p:pic>
      <p:sp>
        <p:nvSpPr>
          <p:cNvPr id="3" name="Title 1">
            <a:extLst>
              <a:ext uri="{FF2B5EF4-FFF2-40B4-BE49-F238E27FC236}">
                <a16:creationId xmlns:a16="http://schemas.microsoft.com/office/drawing/2014/main" id="{1C94323B-75B4-437B-5522-FE39F2F7BE99}"/>
              </a:ext>
            </a:extLst>
          </p:cNvPr>
          <p:cNvSpPr>
            <a:spLocks noGrp="1"/>
          </p:cNvSpPr>
          <p:nvPr>
            <p:ph type="title"/>
          </p:nvPr>
        </p:nvSpPr>
        <p:spPr>
          <a:xfrm>
            <a:off x="838200" y="128465"/>
            <a:ext cx="10515600" cy="1325563"/>
          </a:xfrm>
        </p:spPr>
        <p:txBody>
          <a:bodyPr/>
          <a:lstStyle/>
          <a:p>
            <a:pPr algn="ctr"/>
            <a:r>
              <a:rPr lang="en-NL" sz="4000"/>
              <a:t>SwiftMHC results after optimisation</a:t>
            </a:r>
          </a:p>
        </p:txBody>
      </p:sp>
      <p:sp>
        <p:nvSpPr>
          <p:cNvPr id="4" name="TextBox 3">
            <a:extLst>
              <a:ext uri="{FF2B5EF4-FFF2-40B4-BE49-F238E27FC236}">
                <a16:creationId xmlns:a16="http://schemas.microsoft.com/office/drawing/2014/main" id="{8D12D0A3-0CCC-D861-3CDD-438548B6A2B9}"/>
              </a:ext>
            </a:extLst>
          </p:cNvPr>
          <p:cNvSpPr txBox="1"/>
          <p:nvPr/>
        </p:nvSpPr>
        <p:spPr>
          <a:xfrm>
            <a:off x="4729610" y="5722278"/>
            <a:ext cx="3225562" cy="830997"/>
          </a:xfrm>
          <a:prstGeom prst="rect">
            <a:avLst/>
          </a:prstGeom>
          <a:noFill/>
        </p:spPr>
        <p:txBody>
          <a:bodyPr wrap="none" rtlCol="0">
            <a:spAutoFit/>
          </a:bodyPr>
          <a:lstStyle/>
          <a:p>
            <a:pPr algn="ctr"/>
            <a:r>
              <a:rPr lang="en-NL" sz="2400">
                <a:solidFill>
                  <a:schemeClr val="accent1"/>
                </a:solidFill>
              </a:rPr>
              <a:t>Training on 2M dataset: </a:t>
            </a:r>
          </a:p>
          <a:p>
            <a:pPr algn="ctr"/>
            <a:r>
              <a:rPr lang="en-NL" sz="2400" b="1">
                <a:solidFill>
                  <a:schemeClr val="accent1"/>
                </a:solidFill>
              </a:rPr>
              <a:t>2000 days → 20 days</a:t>
            </a:r>
          </a:p>
        </p:txBody>
      </p:sp>
    </p:spTree>
    <p:extLst>
      <p:ext uri="{BB962C8B-B14F-4D97-AF65-F5344CB8AC3E}">
        <p14:creationId xmlns:p14="http://schemas.microsoft.com/office/powerpoint/2010/main" val="1857166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5CA44-590D-E596-3571-319DBD0A147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7CC3C42-8F48-3DB7-A7F6-F5EB24E79BD1}"/>
              </a:ext>
            </a:extLst>
          </p:cNvPr>
          <p:cNvSpPr>
            <a:spLocks noGrp="1"/>
          </p:cNvSpPr>
          <p:nvPr>
            <p:ph type="title"/>
          </p:nvPr>
        </p:nvSpPr>
        <p:spPr>
          <a:xfrm>
            <a:off x="838200" y="128465"/>
            <a:ext cx="10515600" cy="1325563"/>
          </a:xfrm>
        </p:spPr>
        <p:txBody>
          <a:bodyPr/>
          <a:lstStyle/>
          <a:p>
            <a:pPr algn="ctr"/>
            <a:r>
              <a:rPr lang="en-NL" sz="4000"/>
              <a:t>Take home message</a:t>
            </a:r>
          </a:p>
        </p:txBody>
      </p:sp>
      <p:sp>
        <p:nvSpPr>
          <p:cNvPr id="15" name="TextBox 14">
            <a:extLst>
              <a:ext uri="{FF2B5EF4-FFF2-40B4-BE49-F238E27FC236}">
                <a16:creationId xmlns:a16="http://schemas.microsoft.com/office/drawing/2014/main" id="{91055E56-C4E8-F51B-D9EC-D93251161975}"/>
              </a:ext>
            </a:extLst>
          </p:cNvPr>
          <p:cNvSpPr txBox="1"/>
          <p:nvPr/>
        </p:nvSpPr>
        <p:spPr>
          <a:xfrm>
            <a:off x="1221582" y="3770142"/>
            <a:ext cx="9901176" cy="1200329"/>
          </a:xfrm>
          <a:prstGeom prst="rect">
            <a:avLst/>
          </a:prstGeom>
          <a:noFill/>
        </p:spPr>
        <p:txBody>
          <a:bodyPr wrap="square" rtlCol="0">
            <a:spAutoFit/>
          </a:bodyPr>
          <a:lstStyle/>
          <a:p>
            <a:pPr marL="457200" indent="-457200">
              <a:buAutoNum type="arabicPeriod"/>
            </a:pPr>
            <a:r>
              <a:rPr lang="en-GB" sz="2400" b="1">
                <a:solidFill>
                  <a:schemeClr val="tx1">
                    <a:lumMod val="65000"/>
                    <a:lumOff val="35000"/>
                  </a:schemeClr>
                </a:solidFill>
              </a:rPr>
              <a:t>Training is a pipeline:  multiple stages, different hardware</a:t>
            </a:r>
          </a:p>
          <a:p>
            <a:pPr marL="457200" indent="-457200">
              <a:buAutoNum type="arabicPeriod"/>
            </a:pPr>
            <a:r>
              <a:rPr lang="en-GB" sz="2400" b="1">
                <a:solidFill>
                  <a:schemeClr val="tx1">
                    <a:lumMod val="65000"/>
                    <a:lumOff val="35000"/>
                  </a:schemeClr>
                </a:solidFill>
              </a:rPr>
              <a:t>Training bottleneck: profile first, optimise second, no guesswork</a:t>
            </a:r>
          </a:p>
          <a:p>
            <a:pPr marL="457200" indent="-457200">
              <a:buAutoNum type="arabicPeriod"/>
            </a:pPr>
            <a:r>
              <a:rPr lang="en-GB" sz="2400" b="1">
                <a:solidFill>
                  <a:schemeClr val="tx1">
                    <a:lumMod val="65000"/>
                    <a:lumOff val="35000"/>
                  </a:schemeClr>
                </a:solidFill>
              </a:rPr>
              <a:t>Everything counts at scale</a:t>
            </a:r>
          </a:p>
        </p:txBody>
      </p:sp>
      <p:pic>
        <p:nvPicPr>
          <p:cNvPr id="16" name="Picture 15">
            <a:extLst>
              <a:ext uri="{FF2B5EF4-FFF2-40B4-BE49-F238E27FC236}">
                <a16:creationId xmlns:a16="http://schemas.microsoft.com/office/drawing/2014/main" id="{13ECD591-3675-F15F-4294-5DE7BE63B328}"/>
              </a:ext>
            </a:extLst>
          </p:cNvPr>
          <p:cNvPicPr>
            <a:picLocks noChangeAspect="1"/>
          </p:cNvPicPr>
          <p:nvPr/>
        </p:nvPicPr>
        <p:blipFill>
          <a:blip r:embed="rId3"/>
          <a:stretch>
            <a:fillRect/>
          </a:stretch>
        </p:blipFill>
        <p:spPr>
          <a:xfrm>
            <a:off x="1165212" y="1791267"/>
            <a:ext cx="9442768" cy="1395650"/>
          </a:xfrm>
          <a:prstGeom prst="rect">
            <a:avLst/>
          </a:prstGeom>
        </p:spPr>
      </p:pic>
    </p:spTree>
    <p:extLst>
      <p:ext uri="{BB962C8B-B14F-4D97-AF65-F5344CB8AC3E}">
        <p14:creationId xmlns:p14="http://schemas.microsoft.com/office/powerpoint/2010/main" val="22363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A9620-44C5-7E7A-729B-3BBD1D99F9B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36E570A-0B4C-6592-D2B5-79AE7D281508}"/>
              </a:ext>
            </a:extLst>
          </p:cNvPr>
          <p:cNvSpPr>
            <a:spLocks noGrp="1"/>
          </p:cNvSpPr>
          <p:nvPr>
            <p:ph type="title"/>
          </p:nvPr>
        </p:nvSpPr>
        <p:spPr>
          <a:xfrm>
            <a:off x="838200" y="0"/>
            <a:ext cx="10515600" cy="1325563"/>
          </a:xfrm>
        </p:spPr>
        <p:txBody>
          <a:bodyPr/>
          <a:lstStyle/>
          <a:p>
            <a:pPr algn="ctr"/>
            <a:r>
              <a:rPr lang="en-NL" sz="3600" dirty="0">
                <a:solidFill>
                  <a:srgbClr val="FF9300"/>
                </a:solidFill>
              </a:rPr>
              <a:t>Acknowledgements</a:t>
            </a:r>
          </a:p>
        </p:txBody>
      </p:sp>
      <p:sp>
        <p:nvSpPr>
          <p:cNvPr id="8" name="Tijdelijke aanduiding voor tekst 8">
            <a:extLst>
              <a:ext uri="{FF2B5EF4-FFF2-40B4-BE49-F238E27FC236}">
                <a16:creationId xmlns:a16="http://schemas.microsoft.com/office/drawing/2014/main" id="{D99C446B-4198-1D94-FB44-B24EC7911E33}"/>
              </a:ext>
            </a:extLst>
          </p:cNvPr>
          <p:cNvSpPr txBox="1">
            <a:spLocks/>
          </p:cNvSpPr>
          <p:nvPr/>
        </p:nvSpPr>
        <p:spPr>
          <a:xfrm>
            <a:off x="8947274" y="2986500"/>
            <a:ext cx="2233732" cy="284658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500"/>
              </a:spcBef>
            </a:pPr>
            <a:r>
              <a:rPr lang="nl-NL" sz="2000" b="1" dirty="0" err="1"/>
              <a:t>Giulia</a:t>
            </a:r>
            <a:r>
              <a:rPr lang="nl-NL" sz="2000" b="1" dirty="0"/>
              <a:t> </a:t>
            </a:r>
            <a:r>
              <a:rPr lang="nl-NL" sz="2000" b="1" dirty="0" err="1"/>
              <a:t>Crocioni</a:t>
            </a:r>
            <a:endParaRPr lang="nl-NL" sz="2000" b="1" dirty="0"/>
          </a:p>
          <a:p>
            <a:pPr>
              <a:spcBef>
                <a:spcPts val="500"/>
              </a:spcBef>
            </a:pPr>
            <a:r>
              <a:rPr lang="nl-NL" sz="2000" b="1" dirty="0"/>
              <a:t>Bart </a:t>
            </a:r>
            <a:r>
              <a:rPr lang="nl-NL" sz="2000" b="1" dirty="0" err="1"/>
              <a:t>Schilperoort</a:t>
            </a:r>
            <a:endParaRPr lang="nl-NL" sz="2000" b="1" dirty="0"/>
          </a:p>
        </p:txBody>
      </p:sp>
      <p:sp>
        <p:nvSpPr>
          <p:cNvPr id="9" name="Tijdelijke aanduiding voor tekst 8">
            <a:extLst>
              <a:ext uri="{FF2B5EF4-FFF2-40B4-BE49-F238E27FC236}">
                <a16:creationId xmlns:a16="http://schemas.microsoft.com/office/drawing/2014/main" id="{77482EB3-389F-8AF1-D039-7F79B133A092}"/>
              </a:ext>
            </a:extLst>
          </p:cNvPr>
          <p:cNvSpPr txBox="1">
            <a:spLocks/>
          </p:cNvSpPr>
          <p:nvPr/>
        </p:nvSpPr>
        <p:spPr>
          <a:xfrm>
            <a:off x="871534" y="2986500"/>
            <a:ext cx="2276130" cy="252855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500"/>
              </a:spcBef>
            </a:pPr>
            <a:r>
              <a:rPr lang="nl-NL" sz="2000" b="1" dirty="0"/>
              <a:t>Coos </a:t>
            </a:r>
            <a:r>
              <a:rPr lang="nl-NL" sz="2000" b="1" dirty="0" err="1"/>
              <a:t>Baakman</a:t>
            </a:r>
            <a:endParaRPr lang="nl-NL" sz="2000" b="1" dirty="0"/>
          </a:p>
          <a:p>
            <a:pPr>
              <a:spcBef>
                <a:spcPts val="500"/>
              </a:spcBef>
            </a:pPr>
            <a:r>
              <a:rPr lang="nl-NL" sz="2000" b="1" dirty="0"/>
              <a:t>Li </a:t>
            </a:r>
            <a:r>
              <a:rPr lang="nl-NL" sz="2000" b="1" dirty="0" err="1"/>
              <a:t>Xue</a:t>
            </a:r>
            <a:endParaRPr lang="nl-NL" sz="2000" b="1" dirty="0"/>
          </a:p>
        </p:txBody>
      </p:sp>
      <p:pic>
        <p:nvPicPr>
          <p:cNvPr id="10" name="Picture 4" descr="Radboudumc Logo">
            <a:extLst>
              <a:ext uri="{FF2B5EF4-FFF2-40B4-BE49-F238E27FC236}">
                <a16:creationId xmlns:a16="http://schemas.microsoft.com/office/drawing/2014/main" id="{BEC408C0-2006-991D-D8BD-1BA7FC960B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3528"/>
          <a:stretch/>
        </p:blipFill>
        <p:spPr bwMode="auto">
          <a:xfrm>
            <a:off x="731249" y="2154714"/>
            <a:ext cx="2556700" cy="46614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C684E844-761A-AB0A-DF61-AF47A7FFA9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4209" y="2104585"/>
            <a:ext cx="2059862" cy="56640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263C82E4-B592-4371-2408-5782EFFF0C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7819" y="1980491"/>
            <a:ext cx="2748163" cy="8145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mpacte logo">
            <a:extLst>
              <a:ext uri="{FF2B5EF4-FFF2-40B4-BE49-F238E27FC236}">
                <a16:creationId xmlns:a16="http://schemas.microsoft.com/office/drawing/2014/main" id="{654B0FAC-76F4-8AB8-5F7A-0002D0A4424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0442"/>
          <a:stretch>
            <a:fillRect/>
          </a:stretch>
        </p:blipFill>
        <p:spPr bwMode="auto">
          <a:xfrm>
            <a:off x="3516802" y="2109164"/>
            <a:ext cx="2292164" cy="557246"/>
          </a:xfrm>
          <a:prstGeom prst="rect">
            <a:avLst/>
          </a:prstGeom>
          <a:noFill/>
          <a:extLst>
            <a:ext uri="{909E8E84-426E-40DD-AFC4-6F175D3DCCD1}">
              <a14:hiddenFill xmlns:a14="http://schemas.microsoft.com/office/drawing/2010/main">
                <a:solidFill>
                  <a:srgbClr val="FFFFFF"/>
                </a:solidFill>
              </a14:hiddenFill>
            </a:ext>
          </a:extLst>
        </p:spPr>
      </p:pic>
      <p:sp>
        <p:nvSpPr>
          <p:cNvPr id="17" name="Tijdelijke aanduiding voor tekst 8">
            <a:extLst>
              <a:ext uri="{FF2B5EF4-FFF2-40B4-BE49-F238E27FC236}">
                <a16:creationId xmlns:a16="http://schemas.microsoft.com/office/drawing/2014/main" id="{BDB2F5C7-11B7-CB84-FCF7-6553A019289C}"/>
              </a:ext>
            </a:extLst>
          </p:cNvPr>
          <p:cNvSpPr txBox="1">
            <a:spLocks/>
          </p:cNvSpPr>
          <p:nvPr/>
        </p:nvSpPr>
        <p:spPr>
          <a:xfrm>
            <a:off x="3546018" y="2986500"/>
            <a:ext cx="2233732" cy="284658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500"/>
              </a:spcBef>
            </a:pPr>
            <a:r>
              <a:rPr lang="nl-NL" sz="2000" b="1" dirty="0"/>
              <a:t>Daniel Rademaker</a:t>
            </a:r>
          </a:p>
          <a:p>
            <a:pPr>
              <a:spcBef>
                <a:spcPts val="500"/>
              </a:spcBef>
            </a:pPr>
            <a:r>
              <a:rPr lang="nl-NL" sz="2000" b="1" dirty="0"/>
              <a:t>David </a:t>
            </a:r>
            <a:r>
              <a:rPr lang="nl-NL" sz="2000" b="1" dirty="0" err="1"/>
              <a:t>Frühbuß</a:t>
            </a:r>
            <a:endParaRPr lang="nl-NL" sz="2000" b="1" dirty="0"/>
          </a:p>
          <a:p>
            <a:pPr>
              <a:spcBef>
                <a:spcPts val="500"/>
              </a:spcBef>
            </a:pPr>
            <a:endParaRPr lang="nl-NL" sz="2000" b="1" dirty="0"/>
          </a:p>
        </p:txBody>
      </p:sp>
      <p:sp>
        <p:nvSpPr>
          <p:cNvPr id="18" name="Tijdelijke aanduiding voor tekst 8">
            <a:extLst>
              <a:ext uri="{FF2B5EF4-FFF2-40B4-BE49-F238E27FC236}">
                <a16:creationId xmlns:a16="http://schemas.microsoft.com/office/drawing/2014/main" id="{F71838AD-66BF-C8BC-8919-26A93CE62126}"/>
              </a:ext>
            </a:extLst>
          </p:cNvPr>
          <p:cNvSpPr txBox="1">
            <a:spLocks/>
          </p:cNvSpPr>
          <p:nvPr/>
        </p:nvSpPr>
        <p:spPr>
          <a:xfrm>
            <a:off x="6295034" y="2986500"/>
            <a:ext cx="2233732" cy="284658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500"/>
              </a:spcBef>
            </a:pPr>
            <a:r>
              <a:rPr lang="nl-NL" sz="2000" b="1" dirty="0"/>
              <a:t>Yannick J.M. Aarts</a:t>
            </a:r>
          </a:p>
          <a:p>
            <a:pPr>
              <a:spcBef>
                <a:spcPts val="500"/>
              </a:spcBef>
            </a:pPr>
            <a:br>
              <a:rPr lang="nl-NL" sz="2000" b="1" dirty="0"/>
            </a:br>
            <a:endParaRPr lang="nl-NL" sz="2000" b="1" dirty="0"/>
          </a:p>
        </p:txBody>
      </p:sp>
    </p:spTree>
    <p:extLst>
      <p:ext uri="{BB962C8B-B14F-4D97-AF65-F5344CB8AC3E}">
        <p14:creationId xmlns:p14="http://schemas.microsoft.com/office/powerpoint/2010/main" val="838536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B8C572-3D28-F5E3-881D-DDA97C3BC881}"/>
              </a:ext>
            </a:extLst>
          </p:cNvPr>
          <p:cNvSpPr txBox="1">
            <a:spLocks/>
          </p:cNvSpPr>
          <p:nvPr/>
        </p:nvSpPr>
        <p:spPr>
          <a:xfrm>
            <a:off x="3899986" y="2043651"/>
            <a:ext cx="7139609" cy="79444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n-NL" dirty="0"/>
              <a:t>Thank you!</a:t>
            </a:r>
          </a:p>
        </p:txBody>
      </p:sp>
      <p:sp>
        <p:nvSpPr>
          <p:cNvPr id="2" name="TextBox 1">
            <a:extLst>
              <a:ext uri="{FF2B5EF4-FFF2-40B4-BE49-F238E27FC236}">
                <a16:creationId xmlns:a16="http://schemas.microsoft.com/office/drawing/2014/main" id="{84977522-3B72-ACC3-560F-DBD29AC1E257}"/>
              </a:ext>
            </a:extLst>
          </p:cNvPr>
          <p:cNvSpPr txBox="1"/>
          <p:nvPr/>
        </p:nvSpPr>
        <p:spPr>
          <a:xfrm>
            <a:off x="6609393" y="5723721"/>
            <a:ext cx="2686954" cy="646331"/>
          </a:xfrm>
          <a:prstGeom prst="rect">
            <a:avLst/>
          </a:prstGeom>
          <a:noFill/>
        </p:spPr>
        <p:txBody>
          <a:bodyPr wrap="none" rtlCol="0">
            <a:spAutoFit/>
          </a:bodyPr>
          <a:lstStyle/>
          <a:p>
            <a:r>
              <a:rPr lang="en-NL" dirty="0"/>
              <a:t>Cunliang Geng</a:t>
            </a:r>
          </a:p>
          <a:p>
            <a:r>
              <a:rPr lang="en-GB" dirty="0" err="1">
                <a:solidFill>
                  <a:schemeClr val="accent1"/>
                </a:solidFill>
              </a:rPr>
              <a:t>c.geng@esciencecenter.nl</a:t>
            </a:r>
            <a:endParaRPr lang="en-NL" dirty="0">
              <a:solidFill>
                <a:schemeClr val="accent1"/>
              </a:solidFill>
            </a:endParaRPr>
          </a:p>
        </p:txBody>
      </p:sp>
      <p:pic>
        <p:nvPicPr>
          <p:cNvPr id="4" name="Picture 3">
            <a:extLst>
              <a:ext uri="{FF2B5EF4-FFF2-40B4-BE49-F238E27FC236}">
                <a16:creationId xmlns:a16="http://schemas.microsoft.com/office/drawing/2014/main" id="{18749A8B-5EBA-0186-F384-3E59C3D018C6}"/>
              </a:ext>
            </a:extLst>
          </p:cNvPr>
          <p:cNvPicPr>
            <a:picLocks noChangeAspect="1"/>
          </p:cNvPicPr>
          <p:nvPr/>
        </p:nvPicPr>
        <p:blipFill>
          <a:blip r:embed="rId2"/>
          <a:stretch>
            <a:fillRect/>
          </a:stretch>
        </p:blipFill>
        <p:spPr>
          <a:xfrm>
            <a:off x="5582607" y="5535271"/>
            <a:ext cx="1026786" cy="1013509"/>
          </a:xfrm>
          <a:prstGeom prst="rect">
            <a:avLst/>
          </a:prstGeom>
        </p:spPr>
      </p:pic>
    </p:spTree>
    <p:extLst>
      <p:ext uri="{BB962C8B-B14F-4D97-AF65-F5344CB8AC3E}">
        <p14:creationId xmlns:p14="http://schemas.microsoft.com/office/powerpoint/2010/main" val="2475445466"/>
      </p:ext>
    </p:extLst>
  </p:cSld>
  <p:clrMapOvr>
    <a:masterClrMapping/>
  </p:clrMapOvr>
</p:sld>
</file>

<file path=ppt/theme/theme1.xml><?xml version="1.0" encoding="utf-8"?>
<a:theme xmlns:a="http://schemas.openxmlformats.org/drawingml/2006/main" name="Office Theme">
  <a:themeElements>
    <a:clrScheme name="eScience colors">
      <a:dk1>
        <a:srgbClr val="000000"/>
      </a:dk1>
      <a:lt1>
        <a:srgbClr val="FFFFFF"/>
      </a:lt1>
      <a:dk2>
        <a:srgbClr val="000000"/>
      </a:dk2>
      <a:lt2>
        <a:srgbClr val="FFFFFF"/>
      </a:lt2>
      <a:accent1>
        <a:srgbClr val="009DDD"/>
      </a:accent1>
      <a:accent2>
        <a:srgbClr val="380338"/>
      </a:accent2>
      <a:accent3>
        <a:srgbClr val="FFB213"/>
      </a:accent3>
      <a:accent4>
        <a:srgbClr val="FFFFFF"/>
      </a:accent4>
      <a:accent5>
        <a:srgbClr val="FFFFFF"/>
      </a:accent5>
      <a:accent6>
        <a:srgbClr val="FFFFFF"/>
      </a:accent6>
      <a:hlink>
        <a:srgbClr val="FFFFFF"/>
      </a:hlink>
      <a:folHlink>
        <a:srgbClr val="009DDD"/>
      </a:folHlink>
    </a:clrScheme>
    <a:fontScheme name="Custom 2">
      <a:majorFont>
        <a:latin typeface="Nunito"/>
        <a:ea typeface=""/>
        <a:cs typeface=""/>
      </a:majorFont>
      <a:minorFont>
        <a:latin typeface="Assista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DEEAF69-9851-2048-BE6A-4ECA02DABEDE}">
  <we:reference id="WA200010001" version="1.0.0.1" store="Omex" storeType="OMEX"/>
  <we:alternateReferences>
    <we:reference id="WA200010001" version="1.0.0.1" store="WA200010001" storeType="OMEX"/>
  </we:alternateReferences>
  <we:properties>
    <we:property name="claude.fileId" value="&quot;bd801c73-21a7-4bc5-9162-046ea951937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fb69022-1e6f-478e-ab41-85b438b1e252" xsi:nil="true"/>
    <lcf76f155ced4ddcb4097134ff3c332f xmlns="dc5e11c1-0a02-40d2-ac56-1104dc50952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26EC40BDC5D2429D73FA2B6F6DD923" ma:contentTypeVersion="18" ma:contentTypeDescription="Create a new document." ma:contentTypeScope="" ma:versionID="f66b54c36f48d8144c732523d8f1357f">
  <xsd:schema xmlns:xsd="http://www.w3.org/2001/XMLSchema" xmlns:xs="http://www.w3.org/2001/XMLSchema" xmlns:p="http://schemas.microsoft.com/office/2006/metadata/properties" xmlns:ns2="dc5e11c1-0a02-40d2-ac56-1104dc509523" xmlns:ns3="7fb69022-1e6f-478e-ab41-85b438b1e252" targetNamespace="http://schemas.microsoft.com/office/2006/metadata/properties" ma:root="true" ma:fieldsID="6cadf355c3785967859be317bd81eaca" ns2:_="" ns3:_="">
    <xsd:import namespace="dc5e11c1-0a02-40d2-ac56-1104dc509523"/>
    <xsd:import namespace="7fb69022-1e6f-478e-ab41-85b438b1e25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5e11c1-0a02-40d2-ac56-1104dc5095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0ad629c-0c64-4cfd-a7c6-02f1c6e4954d"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b69022-1e6f-478e-ab41-85b438b1e25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3c072201-82e6-4774-9933-11a112f02f5d}" ma:internalName="TaxCatchAll" ma:showField="CatchAllData" ma:web="7fb69022-1e6f-478e-ab41-85b438b1e2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7999DE-69C3-4CB2-9C76-10E95FA42B5C}">
  <ds:schemaRefs>
    <ds:schemaRef ds:uri="7fb69022-1e6f-478e-ab41-85b438b1e252"/>
    <ds:schemaRef ds:uri="http://schemas.microsoft.com/office/infopath/2007/PartnerControls"/>
    <ds:schemaRef ds:uri="http://www.w3.org/XML/1998/namespace"/>
    <ds:schemaRef ds:uri="http://purl.org/dc/elements/1.1/"/>
    <ds:schemaRef ds:uri="dc5e11c1-0a02-40d2-ac56-1104dc509523"/>
    <ds:schemaRef ds:uri="http://schemas.openxmlformats.org/package/2006/metadata/core-properties"/>
    <ds:schemaRef ds:uri="http://schemas.microsoft.com/office/2006/documentManagement/types"/>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46CAB530-09CD-4088-864B-74BA47555500}">
  <ds:schemaRefs>
    <ds:schemaRef ds:uri="http://schemas.microsoft.com/sharepoint/v3/contenttype/forms"/>
  </ds:schemaRefs>
</ds:datastoreItem>
</file>

<file path=customXml/itemProps3.xml><?xml version="1.0" encoding="utf-8"?>
<ds:datastoreItem xmlns:ds="http://schemas.openxmlformats.org/officeDocument/2006/customXml" ds:itemID="{E6A8FC64-37E5-4B09-8E04-02F3D0BAC46C}">
  <ds:schemaRefs>
    <ds:schemaRef ds:uri="7fb69022-1e6f-478e-ab41-85b438b1e252"/>
    <ds:schemaRef ds:uri="dc5e11c1-0a02-40d2-ac56-1104dc50952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304</TotalTime>
  <Words>1684</Words>
  <Application>Microsoft Macintosh PowerPoint</Application>
  <PresentationFormat>Widescreen</PresentationFormat>
  <Paragraphs>246</Paragraphs>
  <Slides>21</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Akkurat-Bold</vt:lpstr>
      <vt:lpstr>Akkurat-Light</vt:lpstr>
      <vt:lpstr>Arial</vt:lpstr>
      <vt:lpstr>Assistant</vt:lpstr>
      <vt:lpstr>Calibri</vt:lpstr>
      <vt:lpstr>Nunito</vt:lpstr>
      <vt:lpstr>Office Theme</vt:lpstr>
      <vt:lpstr>Scaling SwiftMHC Training:  A 100× Speedup Through Systematic Pipeline Optimisation</vt:lpstr>
      <vt:lpstr>Finding the Bottleneck in PyTorch Training No guesswork: measure first, optimise second</vt:lpstr>
      <vt:lpstr>TCR-peptide-MHC complex  critical to immune system</vt:lpstr>
      <vt:lpstr>Predicting peptide strongly binding to MHC critical to vaccine design</vt:lpstr>
      <vt:lpstr>SwiftMHC</vt:lpstr>
      <vt:lpstr>SwiftMHC architecture</vt:lpstr>
      <vt:lpstr>Challenge faced  when scaling training set from 8K to 2M</vt:lpstr>
      <vt:lpstr>Training pipeline</vt:lpstr>
      <vt:lpstr>Training pipeline</vt:lpstr>
      <vt:lpstr>To profile is to measure</vt:lpstr>
      <vt:lpstr>Visualise profile traces</vt:lpstr>
      <vt:lpstr>Holistic Trace Analysis (HTA)</vt:lpstr>
      <vt:lpstr>Comments on profiling tools</vt:lpstr>
      <vt:lpstr>Example pattern 1: slow data preparing</vt:lpstr>
      <vt:lpstr>Pattern 2: out of memory (OOM)</vt:lpstr>
      <vt:lpstr>Pattern 3: tiny operations</vt:lpstr>
      <vt:lpstr>Pattern 4: overhead</vt:lpstr>
      <vt:lpstr>SwiftMHC results after optimisation</vt:lpstr>
      <vt:lpstr>Take home message</vt:lpstr>
      <vt:lpstr>Acknowledgements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Cunliang Geng</cp:lastModifiedBy>
  <cp:revision>49</cp:revision>
  <dcterms:created xsi:type="dcterms:W3CDTF">2013-07-15T20:26:40Z</dcterms:created>
  <dcterms:modified xsi:type="dcterms:W3CDTF">2026-05-07T14:15:59Z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0x010100F526EC40BDC5D2429D73FA2B6F6DD923</vt:lpwstr>
  </property>
  <property fmtid="{D5CDD505-2E9C-101B-9397-08002B2CF9AE}" pid="3" name="MediaServiceImageTags">
    <vt:lpwstr/>
  </property>
</Properties>
</file>