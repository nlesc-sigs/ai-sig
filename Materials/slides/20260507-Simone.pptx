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26.gif" ContentType="image/gif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92E779-9CFF-4383-8DA0-E4539BE275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E21222F-B813-4BA7-AF22-98ED3BFA17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BE77C4-36F2-4C84-B617-E3552E7F40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E502E29-FC10-4CA1-A8FF-56201264E1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B5BF6FB-EF9B-49C4-8110-0351A7FEC9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238C732-0FC6-400E-BB3D-029019FB72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3A13C7B-3EBA-4590-B3B9-B4FA026003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1A57EAD-CB4A-4795-98A4-E9AB5B9523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100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A18675-9365-4450-B073-B1A0BEC22396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05E8F5-91A1-4D20-BDEF-669C76F16B7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672E56-F7B2-4080-BE83-82AF9513EFC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900848-C672-487A-BF3F-876942ACB72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8215E4-6979-41EC-B832-165582F75639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088F76-B3FC-431B-9A9F-0AE329A846A0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3702C0-1074-4839-A6A3-A1844345626B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0306A1D-4840-42E1-826C-F152B08F7E78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2006AB-205B-4688-BAF0-D7585C52C597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44DDB7-536A-478F-810C-C7AC5182D26A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8ABFC2-9923-4977-A75F-8A744D2689AC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0EA10BC-8FCA-4FB1-A720-2F4AD6C288B1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2948B0-9E51-42C8-9B07-AB78FE98C962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76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4D88CF-09F8-40BD-867F-0DFB98CAD71F}" type="slidenum">
              <a:rPr lang="en-US" sz="1200" b="0" u="none" strike="noStrike">
                <a:solidFill>
                  <a:srgbClr val="8B8B8B"/>
                </a:solidFill>
                <a:effectLst/>
                <a:uFillTx/>
                <a:latin typeface="Assistant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6000" cy="357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1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6.gif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1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1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2.png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slideLayout" Target="../slideLayouts/slideLayout1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2379960" y="201240"/>
            <a:ext cx="7580880" cy="665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1605600" y="4046400"/>
            <a:ext cx="9136800" cy="53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ssistant"/>
              </a:rPr>
              <a:t>Based on the XAI4SFM project (Simone Ciarella, Elena Ranguelova)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8"/>
          <p:cNvSpPr/>
          <p:nvPr/>
        </p:nvSpPr>
        <p:spPr>
          <a:xfrm>
            <a:off x="8915400" y="6172200"/>
            <a:ext cx="297000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Bef>
                <a:spcPts val="150"/>
              </a:spcBef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ssistant"/>
                <a:ea typeface="Noto Sans CJK SC"/>
              </a:rPr>
              <a:t>Simone Ciarella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/>
          <p:nvPr/>
        </p:nvSpPr>
        <p:spPr>
          <a:xfrm>
            <a:off x="2057400" y="1369800"/>
            <a:ext cx="7914600" cy="23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Nunito"/>
              </a:rPr>
              <a:t>Diffusion models for synthetic data generation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12"/>
          <p:cNvSpPr/>
          <p:nvPr/>
        </p:nvSpPr>
        <p:spPr>
          <a:xfrm>
            <a:off x="1951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Problem that starts everything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685800" y="1333800"/>
            <a:ext cx="4721400" cy="278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"/>
          <p:cNvSpPr/>
          <p:nvPr/>
        </p:nvSpPr>
        <p:spPr>
          <a:xfrm>
            <a:off x="5943600" y="2570760"/>
            <a:ext cx="274284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Healthy or not?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we train a classifier?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/>
          <p:nvPr/>
        </p:nvSpPr>
        <p:spPr>
          <a:xfrm>
            <a:off x="6400800" y="1143000"/>
            <a:ext cx="6629040" cy="5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Assistant"/>
              </a:rPr>
              <a:t>Example from XAI4SFM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0"/>
          <p:cNvSpPr/>
          <p:nvPr/>
        </p:nvSpPr>
        <p:spPr>
          <a:xfrm>
            <a:off x="1951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Problem that starts everything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685800" y="1333800"/>
            <a:ext cx="2780640" cy="163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685800" y="3027960"/>
            <a:ext cx="274284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Healthy or not?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we train a classifier?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2"/>
          <a:stretch/>
        </p:blipFill>
        <p:spPr>
          <a:xfrm>
            <a:off x="5486400" y="1828800"/>
            <a:ext cx="4114440" cy="413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9601200" y="1828800"/>
            <a:ext cx="182844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Shepp-Logan phantom (deterministic)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9"/>
          <p:cNvSpPr/>
          <p:nvPr/>
        </p:nvSpPr>
        <p:spPr>
          <a:xfrm>
            <a:off x="1951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Problem that starts everything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685800" y="1333800"/>
            <a:ext cx="2780640" cy="163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685800" y="3027960"/>
            <a:ext cx="2742840" cy="10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Healthy or not?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we train a classifier?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6629400" y="1371600"/>
            <a:ext cx="2971440" cy="298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9601200" y="1828800"/>
            <a:ext cx="182844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Shepp-Logan phantom (deterministic)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429000" y="5486400"/>
            <a:ext cx="5485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AI to generate training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How to generate an image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/>
          <p:cNvPicPr/>
          <p:nvPr/>
        </p:nvPicPr>
        <p:blipFill>
          <a:blip r:embed="rId1"/>
          <a:srcRect l="0" t="0" r="0" b="13152"/>
          <a:stretch/>
        </p:blipFill>
        <p:spPr>
          <a:xfrm>
            <a:off x="3716640" y="2057400"/>
            <a:ext cx="451260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1371600" y="2790720"/>
            <a:ext cx="2057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Some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(prompt, data, ?)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915400" y="2744640"/>
            <a:ext cx="2741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"/>
          <p:cNvPicPr/>
          <p:nvPr/>
        </p:nvPicPr>
        <p:blipFill>
          <a:blip r:embed="rId2"/>
          <a:stretch/>
        </p:blipFill>
        <p:spPr>
          <a:xfrm>
            <a:off x="8458200" y="2514600"/>
            <a:ext cx="2716560" cy="159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3886200" y="1600200"/>
            <a:ext cx="4114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Typical neural 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8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How to generate an image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/>
          <p:cNvPicPr/>
          <p:nvPr/>
        </p:nvPicPr>
        <p:blipFill>
          <a:blip r:embed="rId1"/>
          <a:srcRect l="0" t="0" r="0" b="13152"/>
          <a:stretch/>
        </p:blipFill>
        <p:spPr>
          <a:xfrm>
            <a:off x="3716640" y="2057400"/>
            <a:ext cx="4512600" cy="25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1371600" y="2790720"/>
            <a:ext cx="2057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Some 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(prompt, data, ?)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915400" y="2744640"/>
            <a:ext cx="2741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657600" y="5257800"/>
            <a:ext cx="41144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 do you train this?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labeled data or well defined loss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/>
          <p:cNvPicPr/>
          <p:nvPr/>
        </p:nvPicPr>
        <p:blipFill>
          <a:blip r:embed="rId2"/>
          <a:stretch/>
        </p:blipFill>
        <p:spPr>
          <a:xfrm>
            <a:off x="8458200" y="2514600"/>
            <a:ext cx="2716560" cy="159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2"/>
          <p:cNvSpPr/>
          <p:nvPr/>
        </p:nvSpPr>
        <p:spPr>
          <a:xfrm>
            <a:off x="1843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0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Generative Adversarial Networks GANs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"/>
          <p:cNvPicPr/>
          <p:nvPr/>
        </p:nvPicPr>
        <p:blipFill>
          <a:blip r:embed="rId1"/>
          <a:stretch/>
        </p:blipFill>
        <p:spPr>
          <a:xfrm>
            <a:off x="2286000" y="1107000"/>
            <a:ext cx="8685000" cy="483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2057400" y="6400800"/>
            <a:ext cx="594180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https://lilianweng.github.io/posts/2017-08-20-gan/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21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Why GANs fail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057400" y="6400800"/>
            <a:ext cx="5941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https://lilianweng.github.io/posts/2017-08-20-gan/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491200" y="1492200"/>
            <a:ext cx="97081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Vanishing gradient:   Arjovsky, Martin, and Léon Bottou. "Towards principled methods for training generative adversarial networks." arXiv preprint arXiv:1701.04862 (2017).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214000" y="2682000"/>
            <a:ext cx="10056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Mode collapse:  Arjovsky, Martin, Soumith Chintala, and Léon Bottou. "Wasserstein generative adversarial networks." International conference on machine learning. Pmlr, 2017.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5025600" y="4074480"/>
            <a:ext cx="6538320" cy="169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"/>
          <p:cNvPicPr/>
          <p:nvPr/>
        </p:nvPicPr>
        <p:blipFill>
          <a:blip r:embed="rId2"/>
          <a:stretch/>
        </p:blipFill>
        <p:spPr>
          <a:xfrm>
            <a:off x="1289880" y="3306600"/>
            <a:ext cx="3281760" cy="300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"/>
          <p:cNvSpPr/>
          <p:nvPr/>
        </p:nvSpPr>
        <p:spPr>
          <a:xfrm>
            <a:off x="685800" y="1085040"/>
            <a:ext cx="1142820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Discriminator too strong ----&gt; no gradient because it is always correct (vanishing gradient)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28600" y="2224800"/>
            <a:ext cx="1142820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Generator finds a strong solution ----&gt; it tends to repeat that too much (mode collapse)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5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"/>
          <p:cNvPicPr/>
          <p:nvPr/>
        </p:nvPicPr>
        <p:blipFill>
          <a:blip r:embed="rId1"/>
          <a:srcRect l="0" t="0" r="-2388" b="57045"/>
          <a:stretch/>
        </p:blipFill>
        <p:spPr>
          <a:xfrm>
            <a:off x="1648800" y="1420200"/>
            <a:ext cx="9780480" cy="22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"/>
          <p:cNvSpPr/>
          <p:nvPr/>
        </p:nvSpPr>
        <p:spPr>
          <a:xfrm>
            <a:off x="9444600" y="2743200"/>
            <a:ext cx="13712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9565200" y="2286000"/>
            <a:ext cx="13712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565200" y="2021400"/>
            <a:ext cx="13712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9529200" y="2478600"/>
            <a:ext cx="13712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22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/>
          <p:cNvPicPr/>
          <p:nvPr/>
        </p:nvPicPr>
        <p:blipFill>
          <a:blip r:embed="rId1"/>
          <a:srcRect l="0" t="0" r="-2388" b="57045"/>
          <a:stretch/>
        </p:blipFill>
        <p:spPr>
          <a:xfrm>
            <a:off x="1648800" y="1420200"/>
            <a:ext cx="9780480" cy="22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9408600" y="2779200"/>
            <a:ext cx="10706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9228600" y="2743200"/>
            <a:ext cx="13712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by step undo diffusion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3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"/>
          <p:cNvPicPr/>
          <p:nvPr/>
        </p:nvPicPr>
        <p:blipFill>
          <a:blip r:embed="rId1"/>
          <a:stretch/>
        </p:blipFill>
        <p:spPr>
          <a:xfrm>
            <a:off x="1648800" y="1420200"/>
            <a:ext cx="9552240" cy="52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9408960" y="2779200"/>
            <a:ext cx="10706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9228600" y="2743200"/>
            <a:ext cx="13712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by step undo diffusion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396360" y="5221800"/>
            <a:ext cx="20570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8157600" y="5450400"/>
            <a:ext cx="18284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621480" y="5777280"/>
            <a:ext cx="1828440" cy="851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6172200" y="6100200"/>
            <a:ext cx="18284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23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/>
          <p:cNvPicPr/>
          <p:nvPr/>
        </p:nvPicPr>
        <p:blipFill>
          <a:blip r:embed="rId1"/>
          <a:stretch/>
        </p:blipFill>
        <p:spPr>
          <a:xfrm>
            <a:off x="1648800" y="1420200"/>
            <a:ext cx="9552240" cy="52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9408960" y="2779200"/>
            <a:ext cx="1070640" cy="456840"/>
          </a:xfrm>
          <a:prstGeom prst="rect">
            <a:avLst/>
          </a:prstGeom>
          <a:solidFill>
            <a:srgbClr val="E9EA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9228600" y="2743200"/>
            <a:ext cx="13712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by step undo diffusion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4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1143000" y="638640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457200" y="914400"/>
            <a:ext cx="11428200" cy="40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/>
          <p:nvPr/>
        </p:nvSpPr>
        <p:spPr>
          <a:xfrm>
            <a:off x="4114800" y="3886200"/>
            <a:ext cx="1599840" cy="9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486400" y="3886200"/>
            <a:ext cx="1599840" cy="9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400800" y="3200400"/>
            <a:ext cx="9140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4114800" y="3200400"/>
            <a:ext cx="9140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5029200" y="1636200"/>
            <a:ext cx="15998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958200" y="757800"/>
            <a:ext cx="34286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957200" y="2743200"/>
            <a:ext cx="1599840" cy="1034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35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143000" y="638640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"/>
          <p:cNvPicPr/>
          <p:nvPr/>
        </p:nvPicPr>
        <p:blipFill>
          <a:blip r:embed="rId1"/>
          <a:stretch/>
        </p:blipFill>
        <p:spPr>
          <a:xfrm>
            <a:off x="457200" y="914400"/>
            <a:ext cx="11428200" cy="40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"/>
          <p:cNvSpPr/>
          <p:nvPr/>
        </p:nvSpPr>
        <p:spPr>
          <a:xfrm>
            <a:off x="1371600" y="5065200"/>
            <a:ext cx="1028664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Forward process q(t|t-1) is gaussian (gaussian can be combined easily)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114800" y="3886200"/>
            <a:ext cx="1599840" cy="9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5486400" y="3886200"/>
            <a:ext cx="1599840" cy="9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400800" y="3200400"/>
            <a:ext cx="9140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114800" y="3200400"/>
            <a:ext cx="9140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029200" y="1636200"/>
            <a:ext cx="15998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958200" y="757800"/>
            <a:ext cx="34286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25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143000" y="638640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457200" y="914400"/>
            <a:ext cx="11428200" cy="40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/>
          <p:nvPr/>
        </p:nvSpPr>
        <p:spPr>
          <a:xfrm>
            <a:off x="1371600" y="5065200"/>
            <a:ext cx="1028664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Forward process q(t|t-1) is gaussian (gaussian can be combined easily)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try to learn the reverse p_theta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114800" y="3886200"/>
            <a:ext cx="1599840" cy="9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486400" y="3886200"/>
            <a:ext cx="1599840" cy="914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400800" y="3200400"/>
            <a:ext cx="9140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114800" y="3200400"/>
            <a:ext cx="91404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958560" y="758160"/>
            <a:ext cx="34286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26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143000" y="638640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"/>
          <p:cNvPicPr/>
          <p:nvPr/>
        </p:nvPicPr>
        <p:blipFill>
          <a:blip r:embed="rId1"/>
          <a:stretch/>
        </p:blipFill>
        <p:spPr>
          <a:xfrm>
            <a:off x="457200" y="914400"/>
            <a:ext cx="11428200" cy="40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"/>
          <p:cNvSpPr/>
          <p:nvPr/>
        </p:nvSpPr>
        <p:spPr>
          <a:xfrm>
            <a:off x="1371600" y="5065200"/>
            <a:ext cx="1028664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Forward process q(t|t-1) is gaussian (gaussian can be combined easily)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 try to learn the reverse p_theta, but how to train if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reverse process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is </a:t>
            </a:r>
            <a:r>
              <a:rPr lang="en-US" sz="20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unknown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3958560" y="758160"/>
            <a:ext cx="3428640" cy="685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6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"/>
          <p:cNvPicPr/>
          <p:nvPr/>
        </p:nvPicPr>
        <p:blipFill>
          <a:blip r:embed="rId1"/>
          <a:srcRect l="0" t="0" r="40815" b="56657"/>
          <a:stretch/>
        </p:blipFill>
        <p:spPr>
          <a:xfrm>
            <a:off x="343800" y="2057400"/>
            <a:ext cx="10857240" cy="114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458640" y="1236240"/>
            <a:ext cx="868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Turns out that the rev process is this (tractable only if conditioned on x0 too)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"/>
          <p:cNvPicPr/>
          <p:nvPr/>
        </p:nvPicPr>
        <p:blipFill>
          <a:blip r:embed="rId2"/>
          <a:stretch/>
        </p:blipFill>
        <p:spPr>
          <a:xfrm>
            <a:off x="9385200" y="5751000"/>
            <a:ext cx="2057040" cy="52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"/>
          <p:cNvPicPr/>
          <p:nvPr/>
        </p:nvPicPr>
        <p:blipFill>
          <a:blip r:embed="rId3"/>
          <a:srcRect l="0" t="2852" r="0" b="0"/>
          <a:stretch/>
        </p:blipFill>
        <p:spPr>
          <a:xfrm>
            <a:off x="9372600" y="4914360"/>
            <a:ext cx="234900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/>
          <p:cNvPicPr/>
          <p:nvPr/>
        </p:nvPicPr>
        <p:blipFill>
          <a:blip r:embed="rId4"/>
          <a:srcRect l="0" t="43291" r="0" b="0"/>
          <a:stretch/>
        </p:blipFill>
        <p:spPr>
          <a:xfrm>
            <a:off x="685800" y="3886200"/>
            <a:ext cx="1119960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"/>
          <p:cNvSpPr/>
          <p:nvPr/>
        </p:nvSpPr>
        <p:spPr>
          <a:xfrm>
            <a:off x="1143360" y="638676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itle 27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"/>
          <p:cNvPicPr/>
          <p:nvPr/>
        </p:nvPicPr>
        <p:blipFill>
          <a:blip r:embed="rId1"/>
          <a:srcRect l="0" t="0" r="40815" b="56657"/>
          <a:stretch/>
        </p:blipFill>
        <p:spPr>
          <a:xfrm>
            <a:off x="1143000" y="1828800"/>
            <a:ext cx="9714240" cy="102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"/>
          <p:cNvSpPr/>
          <p:nvPr/>
        </p:nvSpPr>
        <p:spPr>
          <a:xfrm>
            <a:off x="458640" y="1236240"/>
            <a:ext cx="868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Turns out that the rev process is this (tractable only if conditioned on x0 too)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143360" y="638676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42160" y="3022560"/>
            <a:ext cx="3884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 we make this choice of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"/>
          <p:cNvPicPr/>
          <p:nvPr/>
        </p:nvPicPr>
        <p:blipFill>
          <a:blip r:embed="rId2"/>
          <a:srcRect l="43747" t="18467" r="0" b="0"/>
          <a:stretch/>
        </p:blipFill>
        <p:spPr>
          <a:xfrm>
            <a:off x="1425600" y="3377160"/>
            <a:ext cx="9774000" cy="130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itle 28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"/>
          <p:cNvPicPr/>
          <p:nvPr/>
        </p:nvPicPr>
        <p:blipFill>
          <a:blip r:embed="rId1"/>
          <a:srcRect l="0" t="0" r="40815" b="56657"/>
          <a:stretch/>
        </p:blipFill>
        <p:spPr>
          <a:xfrm>
            <a:off x="1143000" y="1828800"/>
            <a:ext cx="9714240" cy="102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"/>
          <p:cNvSpPr/>
          <p:nvPr/>
        </p:nvSpPr>
        <p:spPr>
          <a:xfrm>
            <a:off x="458640" y="1236240"/>
            <a:ext cx="868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Turns out that the rev process is this (tractable only if conditioned on x0 too)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143360" y="638676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42160" y="3022560"/>
            <a:ext cx="3884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 we make this choice of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"/>
          <p:cNvPicPr/>
          <p:nvPr/>
        </p:nvPicPr>
        <p:blipFill>
          <a:blip r:embed="rId2"/>
          <a:srcRect l="43747" t="18467" r="0" b="0"/>
          <a:stretch/>
        </p:blipFill>
        <p:spPr>
          <a:xfrm>
            <a:off x="1425600" y="3377160"/>
            <a:ext cx="9774000" cy="130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"/>
          <p:cNvPicPr/>
          <p:nvPr/>
        </p:nvPicPr>
        <p:blipFill>
          <a:blip r:embed="rId3"/>
          <a:stretch/>
        </p:blipFill>
        <p:spPr>
          <a:xfrm>
            <a:off x="8675280" y="5029200"/>
            <a:ext cx="2741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"/>
          <p:cNvPicPr/>
          <p:nvPr/>
        </p:nvPicPr>
        <p:blipFill>
          <a:blip r:embed="rId4"/>
          <a:stretch/>
        </p:blipFill>
        <p:spPr>
          <a:xfrm>
            <a:off x="8678880" y="5543280"/>
            <a:ext cx="137916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"/>
          <p:cNvSpPr/>
          <p:nvPr/>
        </p:nvSpPr>
        <p:spPr>
          <a:xfrm>
            <a:off x="9372600" y="4343400"/>
            <a:ext cx="228600" cy="685800"/>
          </a:xfrm>
          <a:prstGeom prst="line">
            <a:avLst/>
          </a:prstGeom>
          <a:ln w="38160">
            <a:solidFill>
              <a:srgbClr val="1584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10287000" y="5715000"/>
            <a:ext cx="159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58466"/>
                </a:solidFill>
                <a:effectLst/>
                <a:uFillTx/>
                <a:latin typeface="Arial"/>
                <a:ea typeface="DejaVu Sans"/>
              </a:rPr>
              <a:t>No training!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itle 24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"/>
          <p:cNvPicPr/>
          <p:nvPr/>
        </p:nvPicPr>
        <p:blipFill>
          <a:blip r:embed="rId1"/>
          <a:srcRect l="0" t="0" r="40815" b="56657"/>
          <a:stretch/>
        </p:blipFill>
        <p:spPr>
          <a:xfrm>
            <a:off x="1143000" y="1828800"/>
            <a:ext cx="9714240" cy="102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"/>
          <p:cNvSpPr/>
          <p:nvPr/>
        </p:nvSpPr>
        <p:spPr>
          <a:xfrm>
            <a:off x="458640" y="1236240"/>
            <a:ext cx="868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Turns out that the rev process is this (tractable only if conditioned on x0 too)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143360" y="638676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542160" y="3022560"/>
            <a:ext cx="3884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So we make this choice of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"/>
          <p:cNvPicPr/>
          <p:nvPr/>
        </p:nvPicPr>
        <p:blipFill>
          <a:blip r:embed="rId2"/>
          <a:srcRect l="43747" t="18467" r="0" b="0"/>
          <a:stretch/>
        </p:blipFill>
        <p:spPr>
          <a:xfrm>
            <a:off x="1425600" y="3377160"/>
            <a:ext cx="9774000" cy="130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"/>
          <p:cNvPicPr/>
          <p:nvPr/>
        </p:nvPicPr>
        <p:blipFill>
          <a:blip r:embed="rId3"/>
          <a:stretch/>
        </p:blipFill>
        <p:spPr>
          <a:xfrm>
            <a:off x="1600200" y="5029200"/>
            <a:ext cx="615852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"/>
          <p:cNvPicPr/>
          <p:nvPr/>
        </p:nvPicPr>
        <p:blipFill>
          <a:blip r:embed="rId4"/>
          <a:stretch/>
        </p:blipFill>
        <p:spPr>
          <a:xfrm>
            <a:off x="8675280" y="5029200"/>
            <a:ext cx="2741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/>
          <p:cNvPicPr/>
          <p:nvPr/>
        </p:nvPicPr>
        <p:blipFill>
          <a:blip r:embed="rId5"/>
          <a:stretch/>
        </p:blipFill>
        <p:spPr>
          <a:xfrm>
            <a:off x="8678880" y="5543280"/>
            <a:ext cx="1379160" cy="4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"/>
          <p:cNvSpPr/>
          <p:nvPr/>
        </p:nvSpPr>
        <p:spPr>
          <a:xfrm flipH="1">
            <a:off x="5943600" y="4343400"/>
            <a:ext cx="1600200" cy="685800"/>
          </a:xfrm>
          <a:prstGeom prst="line">
            <a:avLst/>
          </a:prstGeom>
          <a:ln w="381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720" tIns="63720" rIns="108720" bIns="63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9372600" y="4343400"/>
            <a:ext cx="228600" cy="685800"/>
          </a:xfrm>
          <a:prstGeom prst="line">
            <a:avLst/>
          </a:prstGeom>
          <a:ln w="38160">
            <a:solidFill>
              <a:srgbClr val="1584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tIns="64080" rIns="109080" bIns="640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10287000" y="5715000"/>
            <a:ext cx="159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158466"/>
                </a:solidFill>
                <a:effectLst/>
                <a:uFillTx/>
                <a:latin typeface="Arial"/>
                <a:ea typeface="DejaVu Sans"/>
              </a:rPr>
              <a:t>No training!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172200" y="5029200"/>
            <a:ext cx="1371240" cy="914040"/>
          </a:xfrm>
          <a:prstGeom prst="ellipse">
            <a:avLst/>
          </a:prstGeom>
          <a:solidFill>
            <a:srgbClr val="FF0000">
              <a:alpha val="11000"/>
            </a:srgbClr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itle 7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Training 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518400" y="1362600"/>
            <a:ext cx="114915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Minimize variational lower bound (KL divergence)  =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maximizing the likelihood that we reconstruct data (x0) from denoising procedure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"/>
          <p:cNvPicPr/>
          <p:nvPr/>
        </p:nvPicPr>
        <p:blipFill>
          <a:blip r:embed="rId1"/>
          <a:stretch/>
        </p:blipFill>
        <p:spPr>
          <a:xfrm>
            <a:off x="1690200" y="2861280"/>
            <a:ext cx="7453440" cy="10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"/>
          <p:cNvSpPr/>
          <p:nvPr/>
        </p:nvSpPr>
        <p:spPr>
          <a:xfrm>
            <a:off x="1143720" y="638712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29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Training 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518400" y="1362600"/>
            <a:ext cx="1149156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Minimize variational lower bound (KL divergence)  =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maximizing the likelihood that we reconstruct data (x0) from denoising procedure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1690200" y="2861280"/>
            <a:ext cx="7453440" cy="102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"/>
          <p:cNvPicPr/>
          <p:nvPr/>
        </p:nvPicPr>
        <p:blipFill>
          <a:blip r:embed="rId2"/>
          <a:stretch/>
        </p:blipFill>
        <p:spPr>
          <a:xfrm>
            <a:off x="797760" y="4446000"/>
            <a:ext cx="10860480" cy="81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"/>
          <p:cNvSpPr/>
          <p:nvPr/>
        </p:nvSpPr>
        <p:spPr>
          <a:xfrm>
            <a:off x="1143720" y="638712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>
            <a:off x="397800" y="1464120"/>
            <a:ext cx="1481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Trick from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"/>
          <p:cNvPicPr/>
          <p:nvPr/>
        </p:nvPicPr>
        <p:blipFill>
          <a:blip r:embed="rId1"/>
          <a:srcRect l="0" t="0" r="0" b="58127"/>
          <a:stretch/>
        </p:blipFill>
        <p:spPr>
          <a:xfrm>
            <a:off x="686880" y="2971800"/>
            <a:ext cx="9599760" cy="76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"/>
          <p:cNvSpPr/>
          <p:nvPr/>
        </p:nvSpPr>
        <p:spPr>
          <a:xfrm>
            <a:off x="1830240" y="154980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8764200" y="3064680"/>
            <a:ext cx="3427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It Is just a MSE!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itle 9"/>
          <p:cNvSpPr/>
          <p:nvPr/>
        </p:nvSpPr>
        <p:spPr>
          <a:xfrm>
            <a:off x="2419560" y="-18180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Training 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397800" y="1464120"/>
            <a:ext cx="1481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Trick from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"/>
          <p:cNvPicPr/>
          <p:nvPr/>
        </p:nvPicPr>
        <p:blipFill>
          <a:blip r:embed="rId1"/>
          <a:srcRect l="0" t="0" r="0" b="-41243"/>
          <a:stretch/>
        </p:blipFill>
        <p:spPr>
          <a:xfrm>
            <a:off x="686880" y="2971800"/>
            <a:ext cx="9599760" cy="259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"/>
          <p:cNvSpPr/>
          <p:nvPr/>
        </p:nvSpPr>
        <p:spPr>
          <a:xfrm>
            <a:off x="8764200" y="3064320"/>
            <a:ext cx="3427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It Is just a MSE!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830240" y="154980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172200" y="5028480"/>
            <a:ext cx="548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Since xt is gaussian we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only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need x0!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(no need to store xt)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itle 30"/>
          <p:cNvSpPr/>
          <p:nvPr/>
        </p:nvSpPr>
        <p:spPr>
          <a:xfrm>
            <a:off x="2419560" y="-18180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Training Diffusion models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8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Diffusion models (recap)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"/>
          <p:cNvPicPr/>
          <p:nvPr/>
        </p:nvPicPr>
        <p:blipFill>
          <a:blip r:embed="rId1"/>
          <a:stretch/>
        </p:blipFill>
        <p:spPr>
          <a:xfrm>
            <a:off x="381240" y="1828800"/>
            <a:ext cx="11275920" cy="281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/>
          <p:nvPr/>
        </p:nvSpPr>
        <p:spPr>
          <a:xfrm>
            <a:off x="1144080" y="6387480"/>
            <a:ext cx="10706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DDPM: Ho, Jonathan, Ajay Jain, and Pieter Abbeel. "Denoising diffusion probabilistic models." Advances in neural information processing systems 33 (2020): 6840-6851.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itle 10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How to drive the generation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"/>
          <p:cNvPicPr/>
          <p:nvPr/>
        </p:nvPicPr>
        <p:blipFill>
          <a:blip r:embed="rId1"/>
          <a:srcRect l="0" t="14055" r="15996" b="0"/>
          <a:stretch/>
        </p:blipFill>
        <p:spPr>
          <a:xfrm>
            <a:off x="1143000" y="1186920"/>
            <a:ext cx="9600480" cy="535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"/>
          <p:cNvSpPr/>
          <p:nvPr/>
        </p:nvSpPr>
        <p:spPr>
          <a:xfrm>
            <a:off x="8650800" y="5257800"/>
            <a:ext cx="29714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8915400" y="3886200"/>
            <a:ext cx="29714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8843760" y="3200400"/>
            <a:ext cx="29714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9950400" y="2021400"/>
            <a:ext cx="11426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443600" y="3357000"/>
            <a:ext cx="1828440" cy="75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9372600" y="5029200"/>
            <a:ext cx="2742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But you need a classifier that knows about your data!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9950760" y="2021400"/>
            <a:ext cx="11426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443600" y="1035000"/>
            <a:ext cx="1828440" cy="75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4572000" y="1022400"/>
            <a:ext cx="2285640" cy="75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496000" y="1022760"/>
            <a:ext cx="2285640" cy="75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3092400" y="1672200"/>
            <a:ext cx="1936440" cy="75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6703200" y="1130760"/>
            <a:ext cx="1670040" cy="757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itle 13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How to drive the generation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1035000" y="5835960"/>
            <a:ext cx="1188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Ho, Jonathan, and Tim Salimans. "Classifier-free diffusion guidance." arXiv preprint arXiv:2207.12598 (2022).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"/>
          <p:cNvPicPr/>
          <p:nvPr/>
        </p:nvPicPr>
        <p:blipFill>
          <a:blip r:embed="rId1"/>
          <a:stretch/>
        </p:blipFill>
        <p:spPr>
          <a:xfrm>
            <a:off x="1719360" y="1371600"/>
            <a:ext cx="8567280" cy="183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"/>
          <p:cNvPicPr/>
          <p:nvPr/>
        </p:nvPicPr>
        <p:blipFill>
          <a:blip r:embed="rId2"/>
          <a:stretch/>
        </p:blipFill>
        <p:spPr>
          <a:xfrm>
            <a:off x="1371600" y="4547160"/>
            <a:ext cx="10157760" cy="71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"/>
          <p:cNvSpPr/>
          <p:nvPr/>
        </p:nvSpPr>
        <p:spPr>
          <a:xfrm>
            <a:off x="2671200" y="3974040"/>
            <a:ext cx="91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“A Dog”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043800" y="43074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tle 14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DIY results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1599120"/>
            <a:ext cx="6400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Check my DIY implementation: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github.com/NLeSC-Knowledge-Development/xNoise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"/>
          <p:cNvPicPr/>
          <p:nvPr/>
        </p:nvPicPr>
        <p:blipFill>
          <a:blip r:embed="rId1"/>
          <a:stretch/>
        </p:blipFill>
        <p:spPr>
          <a:xfrm>
            <a:off x="6714000" y="198720"/>
            <a:ext cx="4488120" cy="653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"/>
          <p:cNvSpPr/>
          <p:nvPr/>
        </p:nvSpPr>
        <p:spPr>
          <a:xfrm>
            <a:off x="626400" y="3238920"/>
            <a:ext cx="6171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 way this can generate realistic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"/>
          <p:cNvPicPr/>
          <p:nvPr/>
        </p:nvPicPr>
        <p:blipFill>
          <a:blip r:embed="rId2"/>
          <a:stretch/>
        </p:blipFill>
        <p:spPr>
          <a:xfrm>
            <a:off x="2057400" y="3657600"/>
            <a:ext cx="2971440" cy="298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5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228600" y="1693800"/>
            <a:ext cx="1188684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33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228600" y="1693800"/>
            <a:ext cx="118868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Pick a pretrained diffusion model on Hugging Face (Stable Diffusion 3.5)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"/>
          <p:cNvPicPr/>
          <p:nvPr/>
        </p:nvPicPr>
        <p:blipFill>
          <a:blip r:embed="rId1"/>
          <a:stretch/>
        </p:blipFill>
        <p:spPr>
          <a:xfrm>
            <a:off x="7736400" y="3200400"/>
            <a:ext cx="4150440" cy="306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"/>
          <p:cNvPicPr/>
          <p:nvPr/>
        </p:nvPicPr>
        <p:blipFill>
          <a:blip r:embed="rId2"/>
          <a:stretch/>
        </p:blipFill>
        <p:spPr>
          <a:xfrm>
            <a:off x="1143000" y="2340000"/>
            <a:ext cx="6171840" cy="440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32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228600" y="1549800"/>
            <a:ext cx="1188684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Pick a pretrained diffusion model on Hugging Face (Stable Diffusion)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Prepare your own dataset for fine tuning (you can go down to ~10 samples!)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"/>
          <p:cNvPicPr/>
          <p:nvPr/>
        </p:nvPicPr>
        <p:blipFill>
          <a:blip r:embed="rId1"/>
          <a:stretch/>
        </p:blipFill>
        <p:spPr>
          <a:xfrm>
            <a:off x="2286000" y="29718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"/>
          <p:cNvPicPr/>
          <p:nvPr/>
        </p:nvPicPr>
        <p:blipFill>
          <a:blip r:embed="rId2"/>
          <a:stretch/>
        </p:blipFill>
        <p:spPr>
          <a:xfrm>
            <a:off x="7315200" y="2743200"/>
            <a:ext cx="2270520" cy="227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"/>
          <p:cNvPicPr/>
          <p:nvPr/>
        </p:nvPicPr>
        <p:blipFill>
          <a:blip r:embed="rId3"/>
          <a:stretch/>
        </p:blipFill>
        <p:spPr>
          <a:xfrm>
            <a:off x="4572000" y="3200400"/>
            <a:ext cx="2554200" cy="25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"/>
          <p:cNvPicPr/>
          <p:nvPr/>
        </p:nvPicPr>
        <p:blipFill>
          <a:blip r:embed="rId4"/>
          <a:srcRect l="0" t="0" r="0" b="84546"/>
          <a:stretch/>
        </p:blipFill>
        <p:spPr>
          <a:xfrm>
            <a:off x="1271880" y="5944320"/>
            <a:ext cx="10157760" cy="45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"/>
          <p:cNvSpPr/>
          <p:nvPr/>
        </p:nvSpPr>
        <p:spPr>
          <a:xfrm>
            <a:off x="457200" y="6262560"/>
            <a:ext cx="11886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Each one needs its own annotation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itle 31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228600" y="1549800"/>
            <a:ext cx="11886840" cy="12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Pick a pretrained diffusion model on Hugging Face (Stable Diffusion)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Prepare your own dataset for fine 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Set up the training environment (Diffusers, Transformers, Accelerate)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"/>
          <p:cNvPicPr/>
          <p:nvPr/>
        </p:nvPicPr>
        <p:blipFill>
          <a:blip r:embed="rId1"/>
          <a:stretch/>
        </p:blipFill>
        <p:spPr>
          <a:xfrm>
            <a:off x="7961040" y="1914480"/>
            <a:ext cx="497160" cy="49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"/>
          <p:cNvPicPr/>
          <p:nvPr/>
        </p:nvPicPr>
        <p:blipFill>
          <a:blip r:embed="rId2"/>
          <a:stretch/>
        </p:blipFill>
        <p:spPr>
          <a:xfrm>
            <a:off x="8560800" y="191808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"/>
          <p:cNvPicPr/>
          <p:nvPr/>
        </p:nvPicPr>
        <p:blipFill>
          <a:blip r:embed="rId3"/>
          <a:stretch/>
        </p:blipFill>
        <p:spPr>
          <a:xfrm>
            <a:off x="9159120" y="1949400"/>
            <a:ext cx="442080" cy="44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"/>
          <p:cNvPicPr/>
          <p:nvPr/>
        </p:nvPicPr>
        <p:blipFill>
          <a:blip r:embed="rId1"/>
          <a:stretch/>
        </p:blipFill>
        <p:spPr>
          <a:xfrm>
            <a:off x="1816200" y="3414240"/>
            <a:ext cx="3657240" cy="32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itle 17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28600" y="1549800"/>
            <a:ext cx="11886840" cy="20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Pick a pretrained diffusion model on Hugging Face (Stable Diffusion)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Prepare your own dataset for fine 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Set up the training environment (Diffusers, Transformers, Accelerate)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Launch a LoRA fine-tuning job by choosing a few key settings such as learning rate, image resolution, batch size, and number of training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4848840" y="6400800"/>
            <a:ext cx="6856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Hu, Edward J., et al. "Lora: Low-rank adaptation of large language models." Iclr 1.2 (2022): 3.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5943960" y="4801680"/>
            <a:ext cx="2285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Only train A and B ( r&lt;&lt;d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"/>
          <p:cNvPicPr/>
          <p:nvPr/>
        </p:nvPicPr>
        <p:blipFill>
          <a:blip r:embed="rId2"/>
          <a:stretch/>
        </p:blipFill>
        <p:spPr>
          <a:xfrm>
            <a:off x="7961040" y="1914840"/>
            <a:ext cx="497160" cy="49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"/>
          <p:cNvPicPr/>
          <p:nvPr/>
        </p:nvPicPr>
        <p:blipFill>
          <a:blip r:embed="rId3"/>
          <a:stretch/>
        </p:blipFill>
        <p:spPr>
          <a:xfrm>
            <a:off x="8560800" y="191844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0" name=""/>
          <p:cNvPicPr/>
          <p:nvPr/>
        </p:nvPicPr>
        <p:blipFill>
          <a:blip r:embed="rId4"/>
          <a:stretch/>
        </p:blipFill>
        <p:spPr>
          <a:xfrm>
            <a:off x="9159120" y="1949760"/>
            <a:ext cx="442080" cy="44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le 11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228600" y="1549800"/>
            <a:ext cx="11886840" cy="22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Pick a pretrained diffusion model on Hugging Face (Stable Diffusion)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Prepare your own dataset for fine 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Set up the training environment (Diffusers, Transformers, Accelerate)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Launch a LoRA fine-tuning job by choosing a few key settings such as learning rate, image resolution, batch size, and number of training 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Load the trained LoRA weights back into the base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2059200" y="5221800"/>
            <a:ext cx="64004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7907400" y="44640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Base model (SD3.5): too generic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"/>
          <p:cNvPicPr/>
          <p:nvPr/>
        </p:nvPicPr>
        <p:blipFill>
          <a:blip r:embed="rId1"/>
          <a:srcRect l="7729" t="19372" r="0" b="0"/>
          <a:stretch/>
        </p:blipFill>
        <p:spPr>
          <a:xfrm>
            <a:off x="2300400" y="3958200"/>
            <a:ext cx="5714640" cy="145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"/>
          <p:cNvPicPr/>
          <p:nvPr/>
        </p:nvPicPr>
        <p:blipFill>
          <a:blip r:embed="rId2"/>
          <a:stretch/>
        </p:blipFill>
        <p:spPr>
          <a:xfrm>
            <a:off x="7961040" y="1914840"/>
            <a:ext cx="497160" cy="49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"/>
          <p:cNvPicPr/>
          <p:nvPr/>
        </p:nvPicPr>
        <p:blipFill>
          <a:blip r:embed="rId3"/>
          <a:stretch/>
        </p:blipFill>
        <p:spPr>
          <a:xfrm>
            <a:off x="8560800" y="191844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"/>
          <p:cNvPicPr/>
          <p:nvPr/>
        </p:nvPicPr>
        <p:blipFill>
          <a:blip r:embed="rId4"/>
          <a:stretch/>
        </p:blipFill>
        <p:spPr>
          <a:xfrm>
            <a:off x="9159120" y="1949760"/>
            <a:ext cx="442080" cy="44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 36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The Hugging Face route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9630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Follow here:    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228600" y="1549800"/>
            <a:ext cx="11886840" cy="22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Pick a pretrained diffusion model on Hugging Face (Stable Diffusion)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Prepare your own dataset for fine 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Set up the training environment (Diffusers, Transformers, Accelerate)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Launch a LoRA fine-tuning job by choosing a few key settings such as learning rate, image resolution, batch size, and number of training 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 Load the trained LoRA weights back into the base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"/>
          <p:cNvPicPr/>
          <p:nvPr/>
        </p:nvPicPr>
        <p:blipFill>
          <a:blip r:embed="rId1"/>
          <a:srcRect l="0" t="14866" r="0" b="0"/>
          <a:stretch/>
        </p:blipFill>
        <p:spPr>
          <a:xfrm>
            <a:off x="2372400" y="4015080"/>
            <a:ext cx="5714640" cy="268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"/>
          <p:cNvSpPr/>
          <p:nvPr/>
        </p:nvSpPr>
        <p:spPr>
          <a:xfrm>
            <a:off x="2059200" y="5221800"/>
            <a:ext cx="6400440" cy="228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7907400" y="446400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Base model (SD3.5): too generic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7511400" y="5868360"/>
            <a:ext cx="3200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200" b="0" u="none" strike="noStrike">
                <a:solidFill>
                  <a:srgbClr val="158466"/>
                </a:solidFill>
                <a:effectLst/>
                <a:uFillTx/>
                <a:latin typeface="Arial"/>
                <a:ea typeface="DejaVu Sans"/>
              </a:rPr>
              <a:t>Base model + LoRA   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"/>
          <p:cNvPicPr/>
          <p:nvPr/>
        </p:nvPicPr>
        <p:blipFill>
          <a:blip r:embed="rId2"/>
          <a:srcRect l="7729" t="19372" r="0" b="0"/>
          <a:stretch/>
        </p:blipFill>
        <p:spPr>
          <a:xfrm>
            <a:off x="2300400" y="3958200"/>
            <a:ext cx="5714640" cy="145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"/>
          <p:cNvPicPr/>
          <p:nvPr/>
        </p:nvPicPr>
        <p:blipFill>
          <a:blip r:embed="rId3"/>
          <a:stretch/>
        </p:blipFill>
        <p:spPr>
          <a:xfrm>
            <a:off x="7961040" y="1914840"/>
            <a:ext cx="497160" cy="49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"/>
          <p:cNvPicPr/>
          <p:nvPr/>
        </p:nvPicPr>
        <p:blipFill>
          <a:blip r:embed="rId4"/>
          <a:stretch/>
        </p:blipFill>
        <p:spPr>
          <a:xfrm>
            <a:off x="8560800" y="191844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"/>
          <p:cNvPicPr/>
          <p:nvPr/>
        </p:nvPicPr>
        <p:blipFill>
          <a:blip r:embed="rId5"/>
          <a:stretch/>
        </p:blipFill>
        <p:spPr>
          <a:xfrm>
            <a:off x="9159120" y="1949760"/>
            <a:ext cx="442080" cy="44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itle 16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(bonus) “Explainability”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"/>
          <p:cNvPicPr/>
          <p:nvPr/>
        </p:nvPicPr>
        <p:blipFill>
          <a:blip r:embed="rId1"/>
          <a:srcRect l="0" t="6713" r="0" b="0"/>
          <a:stretch/>
        </p:blipFill>
        <p:spPr>
          <a:xfrm>
            <a:off x="2700360" y="1305000"/>
            <a:ext cx="4195080" cy="542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"/>
          <p:cNvSpPr/>
          <p:nvPr/>
        </p:nvSpPr>
        <p:spPr>
          <a:xfrm>
            <a:off x="7086600" y="4068000"/>
            <a:ext cx="411444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Manipulate the prompt to manipulate the generated sample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2743200" y="687600"/>
            <a:ext cx="137124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Small Ventricles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4147200" y="687960"/>
            <a:ext cx="137124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Large Ventricles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5515200" y="976320"/>
            <a:ext cx="13712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Diff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itle 34"/>
          <p:cNvSpPr/>
          <p:nvPr/>
        </p:nvSpPr>
        <p:spPr>
          <a:xfrm>
            <a:off x="2419200" y="-182160"/>
            <a:ext cx="10508400" cy="13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90000"/>
              </a:lnSpc>
            </a:pPr>
            <a:r>
              <a:rPr lang="en-US" sz="4400" b="1" u="none" strike="noStrike">
                <a:solidFill>
                  <a:srgbClr val="009DDD"/>
                </a:solidFill>
                <a:effectLst/>
                <a:uFillTx/>
                <a:latin typeface="Nunito"/>
                <a:ea typeface="DejaVu Sans"/>
              </a:rPr>
              <a:t>Conclusion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1143000" y="1371600"/>
            <a:ext cx="10972440" cy="44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4025"/>
              </a:spcBef>
              <a:spcAft>
                <a:spcPts val="382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Why are we using diffusion models and how they work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4025"/>
              </a:spcBef>
              <a:spcAft>
                <a:spcPts val="382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 can code them yourself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4025"/>
              </a:spcBef>
              <a:spcAft>
                <a:spcPts val="382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But you can also rely on tools like Hugging Face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4025"/>
              </a:spcBef>
              <a:spcAft>
                <a:spcPts val="3827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Workflow to generate your own synthetic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3200400" y="3200400"/>
            <a:ext cx="6400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github.com/NLeSC-Knowledge-Development/xNoise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431000" y="5943600"/>
            <a:ext cx="10972440" cy="9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github.com/NLeSC-Knowledge-Development/fine-data-generation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2021-07-14T12:30:17Z</dcterms:created>
  <dc:creator>Ben van Werkhoven</dc:creator>
  <dc:description/>
  <dc:language>en-US</dc:language>
  <cp:lastModifiedBy/>
  <dcterms:modified xsi:type="dcterms:W3CDTF">2026-04-09T10:38:24Z</dcterms:modified>
  <cp:revision>73</cp:revision>
  <dc:subject/>
  <dc:title>Netherlands eScience Center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0x0101007794B7504ED68345BE9FCDC509D9CFC8</vt:lpwstr>
  </property>
  <property fmtid="{D5CDD505-2E9C-101B-9397-08002B2CF9AE}" pid="4" name="MediaServiceImageTags">
    <vt:lpwstr/>
  </property>
  <property fmtid="{D5CDD505-2E9C-101B-9397-08002B2CF9AE}" pid="5" name="PresentationFormat">
    <vt:lpwstr>Widescreen</vt:lpwstr>
  </property>
  <property fmtid="{D5CDD505-2E9C-101B-9397-08002B2CF9AE}" pid="6" name="Slides">
    <vt:r8>10</vt:r8>
  </property>
  <property fmtid="{D5CDD505-2E9C-101B-9397-08002B2CF9AE}" pid="7" name="TemplateUrl">
    <vt:lpwstr/>
  </property>
  <property fmtid="{D5CDD505-2E9C-101B-9397-08002B2CF9AE}" pid="8" name="TriggerFlowInfo">
    <vt:lpwstr/>
  </property>
  <property fmtid="{D5CDD505-2E9C-101B-9397-08002B2CF9AE}" pid="9" name="_ExtendedDescription">
    <vt:lpwstr/>
  </property>
  <property fmtid="{D5CDD505-2E9C-101B-9397-08002B2CF9AE}" pid="10" name="_SharedFileIndex">
    <vt:lpwstr/>
  </property>
  <property fmtid="{D5CDD505-2E9C-101B-9397-08002B2CF9AE}" pid="11" name="_SourceUrl">
    <vt:lpwstr/>
  </property>
  <property fmtid="{D5CDD505-2E9C-101B-9397-08002B2CF9AE}" pid="12" name="xd_ProgID">
    <vt:lpwstr/>
  </property>
  <property fmtid="{D5CDD505-2E9C-101B-9397-08002B2CF9AE}" pid="13" name="xd_Signature">
    <vt:bool>0</vt:bool>
  </property>
</Properties>
</file>